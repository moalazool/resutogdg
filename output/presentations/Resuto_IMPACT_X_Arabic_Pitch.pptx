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98bd6f3344221" /><Relationship Type="http://schemas.openxmlformats.org/officeDocument/2006/relationships/extended-properties" Target="/docProps/app.xml" Id="Re6b6ca5911d24c15" /><Relationship Type="http://schemas.openxmlformats.org/officeDocument/2006/relationships/officeDocument" Target="/ppt/presentation.xml" Id="Rd00cf8c52a564b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8d6941ffa42b1"/>
  </p:sldMasterIdLst>
  <p:notesMasterIdLst>
    <p:notesMasterId xmlns:r="http://schemas.openxmlformats.org/officeDocument/2006/relationships" r:id="R5c1d4b567be14f6e"/>
  </p:notesMasterIdLst>
  <p:sldIdLst>
    <p:sldId xmlns:r="http://schemas.openxmlformats.org/officeDocument/2006/relationships" id="256" r:id="R2f26c63aca334f4e"/>
    <p:sldId xmlns:r="http://schemas.openxmlformats.org/officeDocument/2006/relationships" id="257" r:id="Ree78e9d442af4158"/>
    <p:sldId xmlns:r="http://schemas.openxmlformats.org/officeDocument/2006/relationships" id="258" r:id="R8e976913f6e6462c"/>
    <p:sldId xmlns:r="http://schemas.openxmlformats.org/officeDocument/2006/relationships" id="259" r:id="R38b6a6e979bf4a29"/>
    <p:sldId xmlns:r="http://schemas.openxmlformats.org/officeDocument/2006/relationships" id="260" r:id="Rc50f81dcb14a4835"/>
    <p:sldId xmlns:r="http://schemas.openxmlformats.org/officeDocument/2006/relationships" id="261" r:id="Rb8b838be3ac9412d"/>
    <p:sldId xmlns:r="http://schemas.openxmlformats.org/officeDocument/2006/relationships" id="262" r:id="R11377de88b304b02"/>
    <p:sldId xmlns:r="http://schemas.openxmlformats.org/officeDocument/2006/relationships" id="263" r:id="Rd2d72a6d7fe849e3"/>
    <p:sldId xmlns:r="http://schemas.openxmlformats.org/officeDocument/2006/relationships" id="264" r:id="R57a6925eaa7b472a"/>
    <p:sldId xmlns:r="http://schemas.openxmlformats.org/officeDocument/2006/relationships" id="265" r:id="R4fb728961f4549e4"/>
    <p:sldId xmlns:r="http://schemas.openxmlformats.org/officeDocument/2006/relationships" id="266" r:id="R3ae2ff360b5b4091"/>
    <p:sldId xmlns:r="http://schemas.openxmlformats.org/officeDocument/2006/relationships" id="267" r:id="Ra8a598286bf54ad0"/>
    <p:sldId xmlns:r="http://schemas.openxmlformats.org/officeDocument/2006/relationships" id="268" r:id="R4052e7ad74d047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040d537e1444f" /><Relationship Type="http://schemas.openxmlformats.org/officeDocument/2006/relationships/slideMaster" Target="/ppt/slideMasters/slideMaster1.xml" Id="Rc5b8d6941ffa42b1" /><Relationship Type="http://schemas.openxmlformats.org/officeDocument/2006/relationships/notesMaster" Target="/ppt/notesMasters/notesMaster1.xml" Id="R5c1d4b567be14f6e" /><Relationship Type="http://schemas.openxmlformats.org/officeDocument/2006/relationships/presProps" Target="/ppt/presProps.xml" Id="R055c1dd84fb54903" /><Relationship Type="http://schemas.openxmlformats.org/officeDocument/2006/relationships/tableStyles" Target="/ppt/tableStyles.xml" Id="Re0fec3742154487d" /><Relationship Type="http://schemas.openxmlformats.org/officeDocument/2006/relationships/slide" Target="/ppt/slides/slide1.xml" Id="R2f26c63aca334f4e" /><Relationship Type="http://schemas.openxmlformats.org/officeDocument/2006/relationships/slide" Target="/ppt/slides/slide2.xml" Id="Ree78e9d442af4158" /><Relationship Type="http://schemas.openxmlformats.org/officeDocument/2006/relationships/slide" Target="/ppt/slides/slide3.xml" Id="R8e976913f6e6462c" /><Relationship Type="http://schemas.openxmlformats.org/officeDocument/2006/relationships/slide" Target="/ppt/slides/slide4.xml" Id="R38b6a6e979bf4a29" /><Relationship Type="http://schemas.openxmlformats.org/officeDocument/2006/relationships/slide" Target="/ppt/slides/slide5.xml" Id="Rc50f81dcb14a4835" /><Relationship Type="http://schemas.openxmlformats.org/officeDocument/2006/relationships/slide" Target="/ppt/slides/slide6.xml" Id="Rb8b838be3ac9412d" /><Relationship Type="http://schemas.openxmlformats.org/officeDocument/2006/relationships/slide" Target="/ppt/slides/slide7.xml" Id="R11377de88b304b02" /><Relationship Type="http://schemas.openxmlformats.org/officeDocument/2006/relationships/slide" Target="/ppt/slides/slide8.xml" Id="Rd2d72a6d7fe849e3" /><Relationship Type="http://schemas.openxmlformats.org/officeDocument/2006/relationships/slide" Target="/ppt/slides/slide9.xml" Id="R57a6925eaa7b472a" /><Relationship Type="http://schemas.openxmlformats.org/officeDocument/2006/relationships/slide" Target="/ppt/slides/slide10.xml" Id="R4fb728961f4549e4" /><Relationship Type="http://schemas.openxmlformats.org/officeDocument/2006/relationships/slide" Target="/ppt/slides/slide11.xml" Id="R3ae2ff360b5b4091" /><Relationship Type="http://schemas.openxmlformats.org/officeDocument/2006/relationships/slide" Target="/ppt/slides/slide12.xml" Id="Ra8a598286bf54ad0" /><Relationship Type="http://schemas.openxmlformats.org/officeDocument/2006/relationships/slide" Target="/ppt/slides/slide13.xml" Id="R4052e7ad74d047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dbd3bb9ff2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a9e2cd0ee04586" /><Relationship Type="http://schemas.openxmlformats.org/officeDocument/2006/relationships/notesMaster" Target="/ppt/notesMasters/notesMaster1.xml" Id="R977990dd5bb348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6f071e2114aa4" /><Relationship Type="http://schemas.openxmlformats.org/officeDocument/2006/relationships/notesMaster" Target="/ppt/notesMasters/notesMaster1.xml" Id="R1e7ed0208308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43369598bb4534" /><Relationship Type="http://schemas.openxmlformats.org/officeDocument/2006/relationships/notesMaster" Target="/ppt/notesMasters/notesMaster1.xml" Id="Rf51be06015cd42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ff43090d78435a" /><Relationship Type="http://schemas.openxmlformats.org/officeDocument/2006/relationships/notesMaster" Target="/ppt/notesMasters/notesMaster1.xml" Id="R7eba6166152f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dd7456d90a4325" /><Relationship Type="http://schemas.openxmlformats.org/officeDocument/2006/relationships/notesMaster" Target="/ppt/notesMasters/notesMaster1.xml" Id="Rd145a91067fc4f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765397e60049c0" /><Relationship Type="http://schemas.openxmlformats.org/officeDocument/2006/relationships/notesMaster" Target="/ppt/notesMasters/notesMaster1.xml" Id="R7f62f46fffa141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5fe40ef0494d04" /><Relationship Type="http://schemas.openxmlformats.org/officeDocument/2006/relationships/notesMaster" Target="/ppt/notesMasters/notesMaster1.xml" Id="R63a304fdfe7d4b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dac921aed74f93" /><Relationship Type="http://schemas.openxmlformats.org/officeDocument/2006/relationships/notesMaster" Target="/ppt/notesMasters/notesMaster1.xml" Id="R142f1c1d73c747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bdc3a33dab4ea5" /><Relationship Type="http://schemas.openxmlformats.org/officeDocument/2006/relationships/notesMaster" Target="/ppt/notesMasters/notesMaster1.xml" Id="Ra0e7aefeec234a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b2d06b60bf44da" /><Relationship Type="http://schemas.openxmlformats.org/officeDocument/2006/relationships/notesMaster" Target="/ppt/notesMasters/notesMaster1.xml" Id="R4f7e6467996945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6bb761c0f24f5e" /><Relationship Type="http://schemas.openxmlformats.org/officeDocument/2006/relationships/notesMaster" Target="/ppt/notesMasters/notesMaster1.xml" Id="R7b650cb886704d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c2c40f0d2d4de2" /><Relationship Type="http://schemas.openxmlformats.org/officeDocument/2006/relationships/notesMaster" Target="/ppt/notesMasters/notesMaster1.xml" Id="R5e5e0135a13a46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cac9cbba59467b" /><Relationship Type="http://schemas.openxmlformats.org/officeDocument/2006/relationships/notesMaster" Target="/ppt/notesMasters/notesMaster1.xml" Id="Rbb1d717fad12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مصادر: ملفات المشروع وملف التحكيم العربي المرفق. افتتح بالقصة وليس بالخصائص.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المعيار: تعريف المشكلة. لا ندعي أرقامًا ميدانية غير موثقة؛ سنجمع 3-5 مقابلات موثقة قبل التحكيم.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المعيار: جودة الحل وتجربة المستخدم. اعرض رابطًا واحدًا حيًا للحجز ثم QR ثم الطلب ثم المطبخ ثم التقسيم.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PROJECT_DOCUMENTATION.md وMVP_VERIFICATION.md. معيار UX والوظائف.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PROJECT_DOCUMENTATION.md وMVP_VERIFICATION.md. لا تدّعِ جاهزية تشغيل متعدد المطاعم حاليًا.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Technology bonus: Gemini API يدعم استخراج القوائم والتوصيات والرؤى. في العرض الحالي نعرض تحققا مقلدًا وموسوما بوضوح؛ لم تُختبر مفاتيح Gemini الحية.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ملف التحكيم العربي، قسم Pilot. الأهداف ليست نتائج فعلية.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MVP_VERIFICATION.md. هذه الشريحة مهمة للجدوى والاستمرارية ولا يجب حذفها.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ملف التحكيم العربي، نموذج العمل. لا نضع LTV أو churn مصطنعين قبل وجود بيانات.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ملف التحكيم العربي، الجدوى والتنفيذ. اذكر أن الامتثال والإنتاج بوابتان قبل الإطلاق التجاري.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ملف التحكيم العربي، الاستدامة والمخاطر. هذه خطة وليست ادعاء تطبيق كامل اليوم.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الخاتمة في 20 ثانية. اطلب تحديدًا: دعم لجنة IMPACT X لثلاثة مطاعم لمدة 30 يومًا.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IMPACT X Judging Criteria.pdf. ملحق، لا يقدّم في الوقت الأساسي.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7061c219845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d53eaf773a40b7" /><Relationship Type="http://schemas.openxmlformats.org/officeDocument/2006/relationships/slideLayout" Target="/ppt/slideLayouts/slideLayout1.xml" Id="R3470c5d7cc55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70c5d7cc55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c3d8729d54cbd" /><Relationship Type="http://schemas.openxmlformats.org/officeDocument/2006/relationships/image" Target="/ppt/media/image.png" Id="R7020facea7e74724" /><Relationship Type="http://schemas.openxmlformats.org/officeDocument/2006/relationships/image" Target="/ppt/media/image2.png" Id="R7adc0f426363418c" /><Relationship Type="http://schemas.openxmlformats.org/officeDocument/2006/relationships/notesSlide" Target="/ppt/notesSlides/notesSlide1.xml" Id="R3366b0e012af40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be94098444f54" /><Relationship Type="http://schemas.openxmlformats.org/officeDocument/2006/relationships/notesSlide" Target="/ppt/notesSlides/notesSlide2.xml" Id="R79e86aed422b42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02ad756884a88" /><Relationship Type="http://schemas.openxmlformats.org/officeDocument/2006/relationships/image" Target="/ppt/media/image3.png" Id="R7cc12fd5e1f34f62" /><Relationship Type="http://schemas.openxmlformats.org/officeDocument/2006/relationships/notesSlide" Target="/ppt/notesSlides/notesSlide3.xml" Id="Rd1be737a8ccb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f83223a164a79" /><Relationship Type="http://schemas.openxmlformats.org/officeDocument/2006/relationships/notesSlide" Target="/ppt/notesSlides/notesSlide4.xml" Id="R721e16bc2531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3ba96f56a4e4e" /><Relationship Type="http://schemas.openxmlformats.org/officeDocument/2006/relationships/notesSlide" Target="/ppt/notesSlides/notesSlide5.xml" Id="R8f2fc58afbbc47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5a8c4b49b4d0c" /><Relationship Type="http://schemas.openxmlformats.org/officeDocument/2006/relationships/image" Target="/ppt/media/image4.png" Id="Rf80062284e084178" /><Relationship Type="http://schemas.openxmlformats.org/officeDocument/2006/relationships/notesSlide" Target="/ppt/notesSlides/notesSlide6.xml" Id="Rbcd332569ca749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bd11c7681466c" /><Relationship Type="http://schemas.openxmlformats.org/officeDocument/2006/relationships/notesSlide" Target="/ppt/notesSlides/notesSlide7.xml" Id="Rf5a0c8279eaf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e29f42d2d41a7" /><Relationship Type="http://schemas.openxmlformats.org/officeDocument/2006/relationships/notesSlide" Target="/ppt/notesSlides/notesSlide8.xml" Id="Rb9bf6a3f3b5a4a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d3571ae3140eb" /><Relationship Type="http://schemas.openxmlformats.org/officeDocument/2006/relationships/notesSlide" Target="/ppt/notesSlides/notesSlide9.xml" Id="R3e3fd3e77e614d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71e1d42a1478a" /><Relationship Type="http://schemas.openxmlformats.org/officeDocument/2006/relationships/notesSlide" Target="/ppt/notesSlides/notesSlide10.xml" Id="Rca2342af51774b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5c18cba6f4b8a" /><Relationship Type="http://schemas.openxmlformats.org/officeDocument/2006/relationships/notesSlide" Target="/ppt/notesSlides/notesSlide11.xml" Id="R284779e6519544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2fdc29e5b4770" /><Relationship Type="http://schemas.openxmlformats.org/officeDocument/2006/relationships/image" Target="/ppt/media/image5.png" Id="R9ba286b1096c4087" /><Relationship Type="http://schemas.openxmlformats.org/officeDocument/2006/relationships/notesSlide" Target="/ppt/notesSlides/notesSlide12.xml" Id="R7009898b818747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90b34a6134411" /><Relationship Type="http://schemas.openxmlformats.org/officeDocument/2006/relationships/notesSlide" Target="/ppt/notesSlides/notesSlide13.xml" Id="Rde3822ef012649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8FD29-7C66-4A5E-9425-E6F20C6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D45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0facea7e74724"/>
          <a:srcRect xmlns:a="http://schemas.openxmlformats.org/drawingml/2006/main" l="33585" t="0" r="335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2C2C3-FB4C-4174-8829-282939CC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F">
              <a:alpha val="38000"/>
            </a:srgbClr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c0f426363418c"/>
          <a:stretch xmlns:a="http://schemas.openxmlformats.org/drawingml/2006/main"/>
        </p:blipFill>
        <p:spPr>
          <a:xfrm xmlns:a="http://schemas.openxmlformats.org/drawingml/2006/main">
            <a:off x="8239125" y="563563"/>
            <a:ext cx="2476500" cy="825500"/>
          </a:xfrm>
          <a:prstGeom xmlns:a="http://schemas.openxmlformats.org/drawingml/2006/main" prst="roundRect">
            <a:avLst>
              <a:gd name="adj" fmla="val 1894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D2BA0-5EA5-41B2-BC80-A9ED4C0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6334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من الحجز إلى التحصيل</a:t>
            </a:r>
          </a:p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رحلة مطعم واحدة قابلة للإدارة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0EC0B-7485-40A0-A861-7E3DC05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D9E5D0"/>
                </a:solidFill>
                <a:latin typeface="Cairo"/>
                <a:ea typeface="Cairo"/>
                <a:cs typeface="Cairo"/>
              </a:defRPr>
            </a:pPr>
            <a:r>
              <a:rPr sz="1575" b="0">
                <a:solidFill>
                  <a:srgbClr val="D9E5D0"/>
                </a:solidFill>
                <a:latin typeface="Cairo"/>
                <a:ea typeface="Cairo"/>
                <a:cs typeface="Cairo"/>
              </a:rPr>
              <a:t>منصة تشغيل عربية للمطاعم الصغيرة والمتوسطة</a:t>
            </a:r>
          </a:p>
          <a:p xmlns:a="http://schemas.openxmlformats.org/drawingml/2006/main">
            <a:pPr algn="r">
              <a:defRPr sz="1575" b="0">
                <a:solidFill>
                  <a:srgbClr val="D9E5D0"/>
                </a:solidFill>
                <a:latin typeface="Cairo"/>
                <a:ea typeface="Cairo"/>
                <a:cs typeface="Cairo"/>
              </a:defRPr>
            </a:pPr>
            <a:r>
              <a:rPr sz="1575" b="0">
                <a:solidFill>
                  <a:srgbClr val="D9E5D0"/>
                </a:solidFill>
                <a:latin typeface="Cairo"/>
                <a:ea typeface="Cairo"/>
                <a:cs typeface="Cairo"/>
              </a:rPr>
              <a:t>IMPACT X | مسار الأعمال والإنتاجية | SDG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A3061-DB42-407E-8F66-D24A5A3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6D8C4"/>
                </a:solidFill>
                <a:latin typeface="Cairo"/>
                <a:ea typeface="Cairo"/>
                <a:cs typeface="Cairo"/>
              </a:defRPr>
            </a:pPr>
            <a:r>
              <a:rPr sz="1275" b="1">
                <a:solidFill>
                  <a:srgbClr val="E6D8C4"/>
                </a:solidFill>
                <a:latin typeface="Cairo"/>
                <a:ea typeface="Cairo"/>
                <a:cs typeface="Cairo"/>
              </a:rPr>
              <a:t>عرض تحكيم | 6 دقائق</a:t>
            </a:r>
          </a:p>
        </p:txBody>
      </p:sp>
    </p:spTree>
    <p:extLst>
      <p:ext uri="{BB962C8B-B14F-4D97-AF65-F5344CB8AC3E}">
        <p14:creationId xmlns:p14="http://schemas.microsoft.com/office/powerpoint/2010/main" val="309135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2537A-E193-4652-98C8-514220A5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E80FE-7F85-4AAE-82A3-F136012C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المشكلة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A1B2F-5C2D-4E3C-9A6E-CEBE21B8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9D2E1-9539-4ED9-BBD0-6032311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تشغيل المطعم يتوزع بين أدوات لا تتحدث معًا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55994-DADC-4D84-9322-80DBB5EC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النتيجة: إدخال مكرر، بطء في الخدمة، وأخطاء يصعب قياسها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16BBC-CA20-4149-9717-4CAAAEAE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2095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949D6-BB38-4C38-9221-84555CE0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حجز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2D77F-029E-4B05-AA31-E176D766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04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759C8-0328-42D0-B23D-6AB96483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تأكيد يدوي</a:t>
            </a:r>
          </a:p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وتضارب المواعيد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9EA5F-D4A6-42AC-90FA-4B77E32C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21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EAA6D-9CA1-48AD-8C7F-FE0A5279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2095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2E3EB-00FC-4518-9A10-59E6EAFC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طاولة وQR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85B19-F61E-4D14-9B1D-9852FC86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004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F8C8B-47E1-4282-8E24-C1F61FA1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81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حالة الضيف</a:t>
            </a:r>
          </a:p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والطاولة منفصلة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95782-7097-4BDE-9116-C1E1F1F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432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21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57EBB-26EA-4CCC-A403-3A7EB09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095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01B1B-C3DE-4873-804C-5FCE3985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طلب ومطبخ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7E614-BDA5-4015-A0DE-55BC7C0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004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53313-7628-4AFD-8FB4-89A23BA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الطلب يتغير</a:t>
            </a:r>
          </a:p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بين الفريق والمطبخ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A6C73-5E24-41B3-915F-7B4BC435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21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CD185-30A2-42A8-BEE1-B8F7BD37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095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A0F0E-84C8-4985-B9B2-0C0B6759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فاتورة ودفع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9D148-F85E-4056-B52A-3606515C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004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19CFB-0A9B-4ADB-9031-33208BA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تسويات كثيرة</a:t>
            </a:r>
          </a:p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وغياب الرؤية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A5A7C-79B3-40BA-9B6F-816FDB2D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7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العميل المستهدف: مطعم صغير أو متوسط يحتاج تشغيلًا موحدًا دون تعقيد مؤسسي</a:t>
            </a:r>
          </a:p>
        </p:txBody>
      </p:sp>
    </p:spTree>
    <p:extLst>
      <p:ext uri="{BB962C8B-B14F-4D97-AF65-F5344CB8AC3E}">
        <p14:creationId xmlns:p14="http://schemas.microsoft.com/office/powerpoint/2010/main" val="1876004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64F1C-A416-4474-ACDB-EF20B211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BACF9-10ED-41C9-9BA5-A19320D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الحل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CD25-2CD3-4A7C-BBCA-5639D0A0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99355-6DF5-4EB2-9F73-976F61DE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Resuto يربط رحلة الضيف وعمليات الفريق في نظام واحد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61C33-572A-4219-AFC0-599CCBC9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واجهة عربية/إنجليزية، مع قرار المدير محفوظًا في كل خطوة حساسة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12fd5e1f34f62"/>
          <a:srcRect xmlns:a="http://schemas.openxmlformats.org/drawingml/2006/main" l="0" t="42659" r="0" b="42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762125"/>
            <a:ext cx="4572000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5D0FA-B854-4774-9E3B-1A5078AF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445D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A54FE-8C07-464B-AB18-6B7DC7EF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47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الحجز وتوصية الطاولة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2B713-ADCF-4188-89EC-A94027B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4762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2121D-ED28-48C4-B57C-A97F2783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146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0">
                <a:solidFill>
                  <a:srgbClr val="17231F"/>
                </a:solidFill>
                <a:latin typeface="Cairo"/>
                <a:ea typeface="Cairo"/>
                <a:cs typeface="Cairo"/>
              </a:rPr>
              <a:t>QR للطلب داخل المطعم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39CC6-D1A5-4023-AA6B-30A3D3AC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4762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8D71B-1263-410D-8327-7A4BDEC7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81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0">
                <a:solidFill>
                  <a:srgbClr val="17231F"/>
                </a:solidFill>
                <a:latin typeface="Cairo"/>
                <a:ea typeface="Cairo"/>
                <a:cs typeface="Cairo"/>
              </a:rPr>
              <a:t>KDS وحالات الطلب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0DC37-DBE7-439F-A57F-C855A48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4762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41C44-0D79-4389-A22E-B2868D15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481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0">
                <a:solidFill>
                  <a:srgbClr val="17231F"/>
                </a:solidFill>
                <a:latin typeface="Cairo"/>
                <a:ea typeface="Cairo"/>
                <a:cs typeface="Cairo"/>
              </a:rPr>
              <a:t>تقسيم الفاتورة والتحصيل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2C223-E7E5-4B9A-BD0D-2BD8C10B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4762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289D5-8F3D-45ED-B8AB-9EF87EE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14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0">
                <a:solidFill>
                  <a:srgbClr val="17231F"/>
                </a:solidFill>
                <a:latin typeface="Cairo"/>
                <a:ea typeface="Cairo"/>
                <a:cs typeface="Cairo"/>
              </a:rPr>
              <a:t>إدارة القائمة والمخطط والبيانات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C4331-CE1E-465D-A04A-19764506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863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قيمة المنتج: رحلة متصلة يمكن تشغيلها الآن وقياسها في Pilot</a:t>
            </a:r>
          </a:p>
        </p:txBody>
      </p:sp>
    </p:spTree>
    <p:extLst>
      <p:ext uri="{BB962C8B-B14F-4D97-AF65-F5344CB8AC3E}">
        <p14:creationId xmlns:p14="http://schemas.microsoft.com/office/powerpoint/2010/main" val="617027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C0C7C-46E3-4F9C-9B53-53B2D447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5326-E14E-435B-ADBC-C89B85DE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التجربة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64309-BDD0-426E-BC74-ED26654D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1FEEC-CA94-4D7F-AC9D-48249624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رحلة واحدة من الحجز حتى إغلاق الزيارة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39003-B1A9-480F-8C4B-F08A05F5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الـMVP يطبق انتقالات محمية ويمنع الإغلاق قبل تسوية الفاتورة وتنفيذ الطلب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06945-9E7C-4DE8-9938-7F4E9BDC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03D43-6BB2-4D29-8F31-A3E7DC1E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670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13140-D577-4F8D-A779-6E2BA39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يحجز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FD6AA-9EF7-4331-BC21-3D1CE4F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موعد وطاولة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D970C-F721-42CC-8182-2E61EBD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81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42C5A-3C09-4DB3-A865-6895C3D3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88B7C-9363-434D-9300-62122022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670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1964C-39C0-4ACB-9FAF-37655475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يجلس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EA93C-7B06-4B00-A73D-AEFA15F7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862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تفعيل الزيارة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4834B-3992-4E1B-9D94-0B2926E3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81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365FF-487C-4D5E-832B-3B51A34F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14625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BD2B9-A699-42C0-A35D-7A9BEFB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670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8FB55-6C7A-4589-AD26-5CA9EB3C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يمسح QR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69417-9B65-4C74-A332-571D786A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862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قائمة وسلة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5E6FD-D82A-4FED-9DBD-B3F65B0C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49722-8DDF-4E9A-B70D-FEEFFAD3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C6595-213C-4481-A0CD-882D996C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14A69-939B-4B12-9FE8-4026F48F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يُرسل الطلب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BD639-64D5-46E1-9F3E-5F6FA9C0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المطبخ ينجز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83903-47C3-4ED2-BACA-814747B9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03EC3-9BF2-4BDA-BA83-95E52045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14625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CBE77-9B2A-43EE-84FF-D23943D8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670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E73B22-1C83-43E0-84D1-BEA56DBB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يسدد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390DD-1814-44E9-86F0-F4BFED66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862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كامل أو مقسم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E884A-F44E-4D7D-B4D2-C6E6E974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81375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1A6F84-44B2-4A26-AF86-A074A657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14625"/>
            <a:ext cx="133350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5D4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3FAEB-5833-4E97-9691-7C0CD6D9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670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57DE42-9D87-496F-B01B-3C2C59E5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تُغلق الزيارة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0A5185-F001-4B5E-80AD-0561A21C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862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12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تنظيف الطاولة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6B16E-4A79-447A-9ADC-A4003D8D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42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تدفقات مثبتة في الاختبارات: حجوزات، طلبات، حالات مطبخ، دفعات مقسمة، تنظيف، واستمرارية بعد إعادة التشغيل</a:t>
            </a:r>
          </a:p>
        </p:txBody>
      </p:sp>
    </p:spTree>
    <p:extLst>
      <p:ext uri="{BB962C8B-B14F-4D97-AF65-F5344CB8AC3E}">
        <p14:creationId xmlns:p14="http://schemas.microsoft.com/office/powerpoint/2010/main" val="690983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2FA88-4C22-49D8-A88F-AC22A2B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956E5-7622-4126-836C-EA9C3BA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التقنية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CB0EF-FE7A-41F8-B6D5-696DE9B2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945C0-C476-4FF0-880F-50F69D83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تنفيذ تقني مناسب لمطعم واحد اليوم وقابل للتوسّع لاحقًا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0C147-4616-4423-A1F5-19B3A94A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بنية واضحة، معاملات كتابة، وحماية للتدفقات الحساسة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EF9E1-A6CE-4BDE-A281-B33F1DF1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2333625" cy="26670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D60BC-2025-4B3A-AA93-664BF9B8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33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الواجهة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E1C94-0573-4B1E-9A3B-998C1462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8387F-3032-4F63-BD95-ACD3B933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Static web app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عربية/إنجليزية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Guest + Manager + Kitchen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590B5-660B-4728-9DAE-D175FE21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333625" cy="26670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3B658-4837-4E5C-831A-D7BCD879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33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الخادم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1B6C9-25E7-493C-A90E-00B160AC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556A5-693B-4B4F-9135-70BF9C18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90875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Node.js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JSON API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جلسات HTTP-only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6D686-C9BF-4B17-BA19-E63B5B9E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47875"/>
            <a:ext cx="2333625" cy="26670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BB0FD-976D-42EB-B827-20842A0B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33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البيانات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2BAE6-BB19-4EEB-BA77-4DFAB4A4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FBFAF-039E-4A74-A378-C503C7BE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SQLite محليًا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Firestore للاستضافة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إصدار لكل تعديل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6260B-D814-4E6F-B16C-095619C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333625" cy="26670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9BD4D-4863-4607-9230-6B3FFAA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33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التكاملات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74D2F-2909-42B6-A1AF-3A47D813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A9D44-5799-42DB-8F2B-2ED5BC42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Stripe / Paymob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Foodics / Odoo</a:t>
            </a:r>
          </a:p>
          <a:p xmlns:a="http://schemas.openxmlformats.org/drawingml/2006/main">
            <a:pPr algn="ctr">
              <a:defRPr sz="135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35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Firebase Hosting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75005-D901-40AF-9EDA-BED1627C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ضوابط مثبتة: idempotency للمدفوعات، أسعـار بنود غير قابلة للتغيير، تحقق مخزون، وحماية من التعارض في المخططات والقوائم</a:t>
            </a:r>
          </a:p>
        </p:txBody>
      </p:sp>
    </p:spTree>
    <p:extLst>
      <p:ext uri="{BB962C8B-B14F-4D97-AF65-F5344CB8AC3E}">
        <p14:creationId xmlns:p14="http://schemas.microsoft.com/office/powerpoint/2010/main" val="777990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EA465-418A-4F66-8CCD-6ED2F7F2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B4B6A-FB59-45AD-903E-97A181A2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Google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10564-E091-4F69-821E-17B64176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D09E3-EF60-497A-89DD-FEF208E6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Gemini مساعد داخل سير العمل، وليس chatbot منفصلًا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93C0E-D73E-44FB-A82C-D941EB80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الذكاء الاصطناعي يسرّع التحضير ويعرض مسودة قابلة للمراجعة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062284e084178"/>
          <a:srcRect xmlns:a="http://schemas.openxmlformats.org/drawingml/2006/main" l="0" t="6656" r="0" b="6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857375"/>
            <a:ext cx="4619625" cy="3048000"/>
          </a:xfrm>
          <a:prstGeom xmlns:a="http://schemas.openxmlformats.org/drawingml/2006/main" prst="roundRect">
            <a:avLst>
              <a:gd name="adj" fmla="val 562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BF2AD-5940-4B57-B419-20353DAF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4667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E741C-88EB-4E3E-919D-94A4DBB4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استخراج قائمة من PDF أو صورة مع مراجعة قبل النشر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8E6B3-1CA0-404F-AF2A-78287E85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4667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A9703-42D3-4ECB-AC4F-02F06C75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43225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اقتراحات للضيف ضمن المخزون والميزانية والقيود المصرّح بها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A85D0-E665-4094-B547-AB8F991C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43325"/>
            <a:ext cx="4667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DDA9F-7CAB-45CF-B885-D29F4FB9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4191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ملخصات تشغيلية للمدير مبنية على حقائق النظام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71F5A-E440-40B1-B2B9-85E2A458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577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42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الحوكمة: لا نشر تلقائي، نتائج منظمة ومتحققة، fallback واضح عند تعذر المزود</a:t>
            </a:r>
          </a:p>
        </p:txBody>
      </p:sp>
    </p:spTree>
    <p:extLst>
      <p:ext uri="{BB962C8B-B14F-4D97-AF65-F5344CB8AC3E}">
        <p14:creationId xmlns:p14="http://schemas.microsoft.com/office/powerpoint/2010/main" val="8229246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BFB87-157D-41BB-A917-A33169CF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74B9A-8A33-459B-AEC0-0D021FB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الأثر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19BD4-C4E7-40BA-B29F-DEA4D0C5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C7761-5ADA-46A3-B25C-FB38C962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الأثر المقترح يرتبط بـ SDG 8 ويُقاس قبل وبعد التجربة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A0DAB-9B8B-474B-B3F2-46FA25C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نقيس الكفاءة التشغيلية بدل تقديم نتائج لم تُثبت بعد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0AF1B-9CA8-42A4-BD84-4DEA489E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70002-6047-4FD5-9F8C-A2A792B9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وقت الوصول لأول طلب مكتمل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BEF8C-DA69-45E8-835A-96E8F73E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03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من إنشاء الحساب حتى أول عملية مكتملة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1EB95-55DA-4716-8C62-8132409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143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97082-D609-4CEF-A0B7-C4667724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621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دقة الطلب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3AF47-5A01-4AF1-BBAB-24B84136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003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عدد الطلبات المصححة أو الملغاة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BCD46-99D3-411B-9F9F-72C018F2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143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1ABE7-8954-4602-92D9-19B0E8B0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621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زمن دورة الطلب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155FD-5740-4A8B-B750-E18E700D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03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من الإرسال إلى جاهزية المطبخ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5BF80-837D-41CF-B759-6D857180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3143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7EF9D-A010-430F-BB1A-995126E9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اكتمال التحصيل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1E8FB-F1F1-4554-80DD-1C0953A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148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الزيارات المغلقة بعد تسوية صحيحة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F6E93-25C8-4CA2-8EB2-8A4150B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67125"/>
            <a:ext cx="3143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A366D-4A5E-44FC-8C63-E556FCBD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766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رضا الفريق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6AAA9-F7E7-4A5F-8FF5-EE3C03A6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148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CSAT أسبوعي ووقت التدريب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6146C-6506-4B4C-8763-26AA2CD8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7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هدف Pilot: تحسن 10% على الأقل في مؤشرين لكل مطعم، مع مرور 80% من الطلبات عبر النظام</a:t>
            </a:r>
          </a:p>
        </p:txBody>
      </p:sp>
    </p:spTree>
    <p:extLst>
      <p:ext uri="{BB962C8B-B14F-4D97-AF65-F5344CB8AC3E}">
        <p14:creationId xmlns:p14="http://schemas.microsoft.com/office/powerpoint/2010/main" val="56776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477E9-77B2-4DE7-BC1D-21DFFB85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154A5-621C-4DA3-B88F-5CDBE703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الدليل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3EC83-1B2F-4820-B9F5-CA1073A7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3385E-0B9B-4E68-A931-A081EC2F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ما الذي أثبتناه حتى الآن؟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CCE82-1431-4E15-B3E1-F6B1FFB3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وظائف MVP اختبرناها آليًا وفي متصفح Chromium، مع حدود واضحة قبل التشغيل الحي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2B302-86E7-4D5A-A0D6-223F701A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66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2F7667"/>
                </a:solidFill>
                <a:latin typeface="Cairo"/>
                <a:ea typeface="Cairo"/>
                <a:cs typeface="Cairo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50274-1F7D-478D-B28F-900DFEF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48 اختبارًا آليًا ناجحًا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CB006-6D24-44EB-A281-B99F340B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66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2F7667"/>
                </a:solidFill>
                <a:latin typeface="Cairo"/>
                <a:ea typeface="Cairo"/>
                <a:cs typeface="Cairo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E5D0A-51BB-4D33-AB6D-7A57E7FE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رحلة QR مشتركة بلا PIN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AB499-207F-442C-8A54-4BB42B6F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66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2F7667"/>
                </a:solidFill>
                <a:latin typeface="Cairo"/>
                <a:ea typeface="Cairo"/>
                <a:cs typeface="Cairo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CDA70-7F64-4787-A8BD-4C415F10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الطلب والمطبخ والتقسيم والتنظيف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BFC74-278C-4854-AA28-A6119B5D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66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2F7667"/>
                </a:solidFill>
                <a:latin typeface="Cairo"/>
                <a:ea typeface="Cairo"/>
                <a:cs typeface="Cairo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326E3-4458-48FC-BC58-7FC924D8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استيراد/تصدير مع مراجعة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D6238-6DEF-4BD7-9076-0691877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667"/>
                </a:solidFill>
                <a:latin typeface="Cairo"/>
                <a:ea typeface="Cairo"/>
                <a:cs typeface="Cairo"/>
              </a:defRPr>
            </a:pPr>
            <a:r>
              <a:rPr sz="1875" b="1">
                <a:solidFill>
                  <a:srgbClr val="2F7667"/>
                </a:solidFill>
                <a:latin typeface="Cairo"/>
                <a:ea typeface="Cairo"/>
                <a:cs typeface="Cairo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D94FF-C2FE-4894-99E9-08E1A181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تحرير مخطط وصلاحيات تعارض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FAB58-3961-43BB-A030-46ED2585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286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BE8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151DF-663E-4DAB-8DD5-BC9AB56C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4E4E"/>
                </a:solidFill>
                <a:latin typeface="Cairo"/>
                <a:ea typeface="Cairo"/>
                <a:cs typeface="Cairo"/>
              </a:defRPr>
            </a:pPr>
            <a:r>
              <a:rPr sz="1950" b="1">
                <a:solidFill>
                  <a:srgbClr val="B94E4E"/>
                </a:solidFill>
                <a:latin typeface="Cairo"/>
                <a:ea typeface="Cairo"/>
                <a:cs typeface="Cairo"/>
              </a:rPr>
              <a:t>حدود صريحة قبل الإنتاج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CB57D-8363-49F8-9501-D257B356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352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لا توجد تجربة ميدانية أو معاملات حية أو اختبار Gemini بمفتاح حقيقي.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لا نعرض المنصة كحل لإطلاق أموال حقيقية أو امتثال ضريبي مكتمل.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5C2BD-C4CA-4B9B-A342-63A3EEA5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هذه الشفافية تحمي مصداقية العرض وتحدد خطوة الـPilot التالية</a:t>
            </a:r>
          </a:p>
        </p:txBody>
      </p:sp>
    </p:spTree>
    <p:extLst>
      <p:ext uri="{BB962C8B-B14F-4D97-AF65-F5344CB8AC3E}">
        <p14:creationId xmlns:p14="http://schemas.microsoft.com/office/powerpoint/2010/main" val="1956184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F1DC0-0A3A-43C5-8C97-DBD342F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873D3-6804-489D-84E2-69AD8C0A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نموذج العمل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3F9F8-ADF3-44A7-9231-227AAF97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ACEEC-314B-4864-A16A-A779147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اشتراك شهري للفرع مع إضافات اختيارية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FB8B5-2DAD-464C-B58E-56E4D23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تسعير مبدئي يُختبر في Pilot، وليس ادعاء إيراد أو قبول سوق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AA532-6FFE-4C5F-B652-4B183B02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90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D9C99-31AC-40C4-8C11-623ED8EA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43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الأساس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39AF6-D2BF-4C07-B460-B2D6C1D9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حجز، طاولات، QR، طلب، KDS، فاتورة وتقسيم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97D03-C914-482E-9E28-17C69321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990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F45DB-A734-4CEE-9559-EA6CB412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0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إضافات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98375-6A69-4E61-B34D-74B1D28C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AI، رسائل، تكاملات، دعم متميز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3F971-4F76-4EF3-85EE-2ADC19F2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990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D6C95-DE25-4CC5-B35D-DAD61129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57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البيع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2097F-8AC4-42BA-BC75-42C0467F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زيارات ميدانية، محاسبون ومستشارو مطاعم، مورّدو POS، إحالات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7C727-237D-435B-985D-F768E911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906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5EC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0B0CF-63CF-4D7A-95A7-30643F5E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14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575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المعادلة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957F5-FC7E-4375-8166-576C6FBE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هامش إجمالي × ARPA ÷ churn ثم مقارنة LTV/CAC عند توفر بيانات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113A3-1354-4151-A70A-DF6B5001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768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نقطة القرار: مطعم واحد مدفوع أو قابل للتحويل بعد التجربة، مع قياس activation والاحتفاظ</a:t>
            </a:r>
          </a:p>
        </p:txBody>
      </p:sp>
    </p:spTree>
    <p:extLst>
      <p:ext uri="{BB962C8B-B14F-4D97-AF65-F5344CB8AC3E}">
        <p14:creationId xmlns:p14="http://schemas.microsoft.com/office/powerpoint/2010/main" val="2051988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0CDDB-167A-4A44-8DCE-DF21E622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60FA6-B3E3-4E4A-B3C8-DA4E52F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الجدوى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F7E74-3DD3-419D-85F1-3F349B9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0E989-361B-4B0D-8DF0-12EA1B98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خارطة 90 يومًا من Demo إلى Pilot ثم جاهزية السوق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71CAC-7C55-47D8-938B-49988077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كل مرحلة تنتهي بدليل أو قرار واضح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12359-0557-456F-86E2-BB3C95E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333625" cy="2714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07FEE-4DED-40A5-A3BB-4E59A1B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0-7 أيام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8E400-27B6-4E47-B903-A3CF1DBA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52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تثبيت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CAE54-B8C3-40FB-83DC-8E24027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1571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E10BE-F305-4644-87CC-35B368E1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6736A"/>
                </a:solidFill>
                <a:latin typeface="Cairo"/>
                <a:ea typeface="Cairo"/>
                <a:cs typeface="Cairo"/>
              </a:rPr>
              <a:t>3 مقابلات، فيديو احتياطي، اختبار كامل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DAB01-F9CA-4CB0-B536-8DD1688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33625" cy="2714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445D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D4C17-EB58-44A1-A247-D6F592BC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6D8C4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6D8C4"/>
                </a:solidFill>
                <a:latin typeface="Cairo"/>
                <a:ea typeface="Cairo"/>
                <a:cs typeface="Cairo"/>
              </a:rPr>
              <a:t>8-30 يومًا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65F23-27A8-4906-8127-C44795F2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Pilot مصر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78083-FA8E-4A01-A426-9E79A48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1571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6D8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6F098-3730-4AAF-A431-63C2192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3 مطاعم، baseline، تدريب، لوحة أثر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0EABF-641E-428C-9E1C-8581F8E8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333625" cy="2714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5525A-3921-4F70-B067-B8464842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31-60 يومًا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78875-DF4F-4753-9F44-00D4A9B1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52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جاهزية تشغيل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B2B6D-907E-4044-9D9E-1C7C948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24250"/>
            <a:ext cx="1571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DC265-F166-484D-80AC-F188CF01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6736A"/>
                </a:solidFill>
                <a:latin typeface="Cairo"/>
                <a:ea typeface="Cairo"/>
                <a:cs typeface="Cairo"/>
              </a:rPr>
              <a:t>RBAC، tenant isolation، مراقبة ونسخ احتياطي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AD7EF-2677-432D-8CEB-88605F29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333625" cy="2714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2B63C-9B4D-4C86-A2B9-256416E4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763C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E8763C"/>
                </a:solidFill>
                <a:latin typeface="Cairo"/>
                <a:ea typeface="Cairo"/>
                <a:cs typeface="Cairo"/>
              </a:rPr>
              <a:t>61-90 يومًا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E1053-52CA-40C7-9F94-27EDC5C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8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بوابة السعودية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6BE92-719E-4563-AF27-7411395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571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8763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9092D-DA24-4CA7-9940-4AEE6546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62375"/>
            <a:ext cx="185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00" b="1">
                <a:solidFill>
                  <a:srgbClr val="66736A"/>
                </a:solidFill>
                <a:latin typeface="Cairo"/>
                <a:ea typeface="Cairo"/>
                <a:cs typeface="Cairo"/>
              </a:rPr>
              <a:t>VAT، شريك امتثال، ZATCA، الدفع المحلي</a:t>
            </a:r>
          </a:p>
        </p:txBody>
      </p:sp>
    </p:spTree>
    <p:extLst>
      <p:ext uri="{BB962C8B-B14F-4D97-AF65-F5344CB8AC3E}">
        <p14:creationId xmlns:p14="http://schemas.microsoft.com/office/powerpoint/2010/main" val="27603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D1515-CE3E-4552-917B-D27A7E8E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C7E5F-F5F8-457F-9DCE-90B71D66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الاستمرارية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D3A7A-CCD3-4580-8188-5EBB047E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05348-C4C0-4A12-BD7D-4DE4EA10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الاستمرارية تبدأ من حدود تشغيل واضحة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2E249-6FFE-41B8-90F9-A201779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نحوّل مخاطر الـMVP إلى ضوابط قابلة للتنفيذ والمراجعة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05E5E-C998-44E6-B0A0-7659AECA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98583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B29DF-A0B0-4943-8614-10E4210D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19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تعطل الشبكة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36A28-BE1C-470C-911E-EC8DF2E9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Offline queue وخطة تشغيل يدوية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7EC17-9C5A-479B-82AE-A6B91760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98583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0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BC6F2-9E28-463C-B495-EE1ECAC1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336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اختلاط بيانات المطاعم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B6F78-3B88-49A4-85E0-91FD8C7B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tenant isolation واختبارات authorization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41796-0C07-48C3-8B74-02C8EB6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98583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03445-D6E0-4A23-A1B0-DE2BF98B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480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مخرجات AI غير دقيقة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F468C-EF8F-4A11-934E-1D23310D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80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مسودة ومراجعة بشرية ولا حفظ تلقائي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8F27D-5FF7-45A3-8D86-9B46DB4C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98583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DF0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C24F3-6A67-4FFD-8A44-77F0EEF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624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تكامل ضريبي متأخر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E2D73-E56E-487D-836D-DD4CDF02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لا Go-live قبل شريك محلي واختبارات قبول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C536D-7580-47D6-B8F1-9186D05E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72000"/>
            <a:ext cx="98583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57AAB-054C-46D8-9BE2-8C39A7CA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767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تبني الفريق بطيء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4016B-6DEC-469B-ADB4-55403772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767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35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تدريب 45 دقيقة وchampion وقياس activation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7C9D6-E478-4CB0-98B4-AC30F6D2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1500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تكلفة تشغيل قابلة للتحكم: مراقبة، نسخ احتياطي، cache للـAI، حد استخدام، وfallback يدوي</a:t>
            </a:r>
          </a:p>
        </p:txBody>
      </p:sp>
    </p:spTree>
    <p:extLst>
      <p:ext uri="{BB962C8B-B14F-4D97-AF65-F5344CB8AC3E}">
        <p14:creationId xmlns:p14="http://schemas.microsoft.com/office/powerpoint/2010/main" val="1247162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286b1096c4087"/>
          <a:srcRect xmlns:a="http://schemas.openxmlformats.org/drawingml/2006/main" l="22076" t="0" r="220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EFA91-DC39-4034-A49B-BCAACB39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FC780-B6DB-4E8B-A75C-011B9EC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7637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نحتاج 3 مطاعم</a:t>
            </a:r>
          </a:p>
          <a:p xmlns:a="http://schemas.openxmlformats.org/drawingml/2006/main">
            <a:pPr algn="r">
              <a:defRPr sz="3225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3225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لتجربة 30 يومًا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F8038-D142-4621-9789-E69CF7B1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D9E5D0"/>
                </a:solidFill>
                <a:latin typeface="Cairo"/>
                <a:ea typeface="Cairo"/>
                <a:cs typeface="Cairo"/>
              </a:defRPr>
            </a:pPr>
            <a:r>
              <a:rPr sz="1725" b="0">
                <a:solidFill>
                  <a:srgbClr val="D9E5D0"/>
                </a:solidFill>
                <a:latin typeface="Cairo"/>
                <a:ea typeface="Cairo"/>
                <a:cs typeface="Cairo"/>
              </a:rPr>
              <a:t>نقيس baseline ثم نشغّل الرحلة كاملة ونقارن الوقت، الدقة، التحصيل، ورضا الفريق.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738F9-9A82-43B9-9AFB-BE82BF31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4476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32FDC-8571-46EF-90E9-58EC4220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339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Cairo"/>
                <a:ea typeface="Cairo"/>
                <a:cs typeface="Cairo"/>
              </a:defRPr>
            </a:pPr>
            <a:r>
              <a:rPr sz="1575" b="1">
                <a:solidFill>
                  <a:srgbClr val="FFFFFF"/>
                </a:solidFill>
                <a:latin typeface="Cairo"/>
                <a:ea typeface="Cairo"/>
                <a:cs typeface="Cairo"/>
              </a:rPr>
              <a:t>النتيجة المطلوبة: دليل أثر وقرار شراء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9D83A-DC7B-454A-8082-51EB06C3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1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6D8C4"/>
                </a:solidFill>
                <a:latin typeface="Cairo"/>
                <a:ea typeface="Cairo"/>
                <a:cs typeface="Cairo"/>
              </a:defRPr>
            </a:pPr>
            <a:r>
              <a:rPr sz="1275" b="1">
                <a:solidFill>
                  <a:srgbClr val="E6D8C4"/>
                </a:solidFill>
                <a:latin typeface="Cairo"/>
                <a:ea typeface="Cairo"/>
                <a:cs typeface="Cairo"/>
              </a:rPr>
              <a:t>Resuto | نظام تشغيل عربي للمطاعم</a:t>
            </a:r>
          </a:p>
        </p:txBody>
      </p:sp>
    </p:spTree>
    <p:extLst>
      <p:ext uri="{BB962C8B-B14F-4D97-AF65-F5344CB8AC3E}">
        <p14:creationId xmlns:p14="http://schemas.microsoft.com/office/powerpoint/2010/main" val="1653067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0B85D-5AE0-4B0A-AD3E-12D7529B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63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DB90F-A859-4129-B853-CBA839A4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05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ملحق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765DE-0C39-4A17-8050-D04A12A1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45D45"/>
                </a:solidFill>
                <a:latin typeface="Cairo"/>
                <a:ea typeface="Cairo"/>
                <a:cs typeface="Cairo"/>
              </a:defRPr>
            </a:pPr>
            <a:r>
              <a:rPr sz="900" b="1">
                <a:solidFill>
                  <a:srgbClr val="445D45"/>
                </a:solidFill>
                <a:latin typeface="Cairo"/>
                <a:ea typeface="Cairo"/>
                <a:cs typeface="Cair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1DE0C-9B5B-49C0-99B3-F5BB418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7231F"/>
                </a:solidFill>
                <a:latin typeface="Cairo"/>
                <a:ea typeface="Cairo"/>
                <a:cs typeface="Cairo"/>
              </a:defRPr>
            </a:pPr>
            <a:r>
              <a:rPr sz="2625" b="1">
                <a:solidFill>
                  <a:srgbClr val="17231F"/>
                </a:solidFill>
                <a:latin typeface="Cairo"/>
                <a:ea typeface="Cairo"/>
                <a:cs typeface="Cairo"/>
              </a:rPr>
              <a:t>خريطة التغطية أمام لجنة التحكيم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C42F-8C53-400B-8379-968EADE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04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محتوى العرض مرتبط مباشرة بمعايير IMPACT X ذات الوزن الأعلى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285875" y="1666875"/>
          <a:ext xmlns:a="http://schemas.openxmlformats.org/drawingml/2006/main" cx="96202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10125"/>
                <a:gridCol w="4810125"/>
              </a:tblGrid>
              <a:tr h="503464"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المعيار</a:t>
                      </a:r>
                    </a:p>
                  </a:txBody>
                  <a:tcPr marL="91440" marR="91440" marT="45720" marB="45720" anchor="ctr">
                    <a:solidFill>
                      <a:srgbClr val="445D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الأدلة في العرض</a:t>
                      </a:r>
                    </a:p>
                  </a:txBody>
                  <a:tcPr marL="91440" marR="91440" marT="45720" marB="45720" anchor="ctr">
                    <a:solidFill>
                      <a:srgbClr val="445D45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المشكلة والأثر | 25 نقطة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2، 7، Pilot ومقاييس baseline/after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التنفيذ التقني | 15 نقطة</a:t>
                      </a:r>
                    </a:p>
                  </a:txBody>
                  <a:tcPr marL="91440" marR="91440" marT="45720" marB="45720" anchor="ctr">
                    <a:solidFill>
                      <a:srgbClr val="ED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4، 5، 6، تحقق واختبارات</a:t>
                      </a:r>
                    </a:p>
                  </a:txBody>
                  <a:tcPr marL="91440" marR="91440" marT="45720" marB="45720" anchor="ctr">
                    <a:solidFill>
                      <a:srgbClr val="EDF0E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ROI ونموذج العمل | 15 نقطة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9، تجربة تقيس قرار الدفع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الابتكار وUX | 20 نقطة</a:t>
                      </a:r>
                    </a:p>
                  </a:txBody>
                  <a:tcPr marL="91440" marR="91440" marT="45720" marB="45720" anchor="ctr">
                    <a:solidFill>
                      <a:srgbClr val="ED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3، 4، 6</a:t>
                      </a:r>
                    </a:p>
                  </a:txBody>
                  <a:tcPr marL="91440" marR="91440" marT="45720" marB="45720" anchor="ctr">
                    <a:solidFill>
                      <a:srgbClr val="EDF0E8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الجدوى والاستمرارية | 20 نقطة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8، 10، 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pPr algn="r"/>
                      <a:r>
                        <a:rPr sz="1275" b="1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Google + كفاءة العرض | +10</a:t>
                      </a:r>
                    </a:p>
                  </a:txBody>
                  <a:tcPr marL="91440" marR="91440" marT="45720" marB="45720" anchor="ctr">
                    <a:solidFill>
                      <a:srgbClr val="ED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75" b="0">
                          <a:solidFill>
                            <a:srgbClr val="17231F"/>
                          </a:solidFill>
                          <a:latin typeface="Cairo"/>
                          <a:ea typeface="Cairo"/>
                          <a:cs typeface="Cairo"/>
                        </a:rPr>
                        <a:t>6، عرض مُخطط تحت 6 دقائق</a:t>
                      </a:r>
                    </a:p>
                  </a:txBody>
                  <a:tcPr marL="91440" marR="91440" marT="45720" marB="45720" anchor="ctr">
                    <a:solidFill>
                      <a:srgbClr val="EDF0E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B0270-1341-40DF-AA9E-671E16A6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36A"/>
                </a:solidFill>
                <a:latin typeface="Cairo"/>
                <a:ea typeface="Cairo"/>
                <a:cs typeface="Cairo"/>
              </a:defRPr>
            </a:pPr>
            <a:r>
              <a:rPr sz="1275" b="0">
                <a:solidFill>
                  <a:srgbClr val="66736A"/>
                </a:solidFill>
                <a:latin typeface="Cairo"/>
                <a:ea typeface="Cairo"/>
                <a:cs typeface="Cairo"/>
              </a:rPr>
              <a:t>ملاحظة للمتحدث: استخدم هذه الشريحة فقط عند الحاجة، ولا تدخلها في مسار 6 دقائق.</a:t>
            </a:r>
          </a:p>
        </p:txBody>
      </p:sp>
    </p:spTree>
    <p:extLst>
      <p:ext uri="{BB962C8B-B14F-4D97-AF65-F5344CB8AC3E}">
        <p14:creationId xmlns:p14="http://schemas.microsoft.com/office/powerpoint/2010/main" val="1851181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2026-09-09T21:36:24.8160000Z</dcterms:created>
  <dcterms:modified xsi:type="dcterms:W3CDTF">2026-09-09T21:36:24.8160000Z</dcterms:modified>
</coreProperties>
</file>