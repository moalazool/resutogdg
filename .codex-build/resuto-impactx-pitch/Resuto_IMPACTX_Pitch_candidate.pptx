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المدة: 15 ثانية
النص المقترح:
ريزوتو يربط رحلة المطعم من أول حجز حتى إغلاق الزيارة. أمامكم منتج يعمل اليوم، لكننا سنفصل بوضوح بين ما أثبتناه في الـMVP وما يحتاج إلى Pilot قبل البيع التجاري.
الانتقال:
نبدأ بالمشكلة التي تجعل هذا الاتصال مهمًا.
إجراء العرض:
افتح العرض فقط. لا تبدأ Demo في هذه الشريحة.
الخطة الاحتياطية:
اعرض الشريحة ثابتة دون أي اعتماد على الشبكة.
[Sources]
Repository: public/landing.js and public/landing.css
Screenshot: / at 1440×900, verified 2026-09-10
IMPACT X Judging Criteria.pdf, pp. 1-3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المدة: 25 ثانية
النص المقترح:
المشكلة ليست شاشة ناقصة، بل انتقال المسؤولية بين خمس نقاط. كل انتقال يضيف إعادة إدخال أو تأخيرًا أو خطأً يصعب قياسه. العميل الأول هو مطعم مستقل أو مجموعة صغيرة في مصر يحتاج واجهة عربية ونظامًا أخف من حلول المؤسسات. لا ندّعي مقابلات لم تحدث، لذلك يبدأ الـPilot بقياس الواقع.
الانتقال:
الحل هو جعل كل نقطة تكتب في نفس الحالة التشغيلية.
إجراء العرض:
أشر بسرعة إلى نقاط التسليم الخمس ثم إلى العميل الأول.
الخطة الاحتياطية:
إذا ضاق الوقت، قل الجملة الأخيرة فقط وانتقل.
[Sources]
resuto-impact-x-judging-pack-ar.pdf, pp. 4 and 9
Repository: README.md, Boundaries
IMPACT X Judging Criteria.pdf, pp. 2-3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المدة: 20 ثانية
النص المقترح:
نفس الحالة التشغيلية تتبع الضيف من الحجز حتى تنظيف الطاولة. كل المراحل الخضراء تعمل في الـMVP. الدفع هنا Test mode، ومسار Firebase متعدد المطاعم موجود في الكود لكنه ما زال يحتاج اختبار المحاكي وتشغيل الإنتاج. هذه الحدود جزء من الخطة وليست مخفية.
الانتقال:
لنرَ أقوى أجزاء رحلة الضيف على الهاتف.
إجراء العرض:
مرّر المؤشر على المسار فقط؛ لا تفتح المتصفح بعد.
الخطة الاحتياطية:
الشريحة تعرض المسار كاملًا دون حاجة إلى Demo حي.
[Sources]
Repository: server.js; platform-domain.js; floor-domain.js
npm test on 2026-09-10: 76 passed, 0 failed, 1 skipped
Screenshot verification: /reserve, /menu, /kitchen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المدة: 45 ثانية
النص المقترح:
الضيف يختار طاولة حقيقية من نفس المخطط الذي يراه المدير. بعد ذلك يفتح القائمة من QR ويطلب بدون إعادة إدخال. مساعد Gemini استقبل طلب عشاء لشخصين تحت 700 جنيه، احترم الميزانية، وعرض 685 جنيه مع تنبيه واضح للحساسية. الإضافة إلى السلة ما زالت تحتاج موافقة الضيف.
الانتقال:
بعد التأكيد ينتقل نفس الطلب إلى المطبخ.
إجراء العرض:
اعرض لقطة Gemini. إذا كان الوقت يسمح، افتح /menu وكرر الطلب التجريبي فقط.
الخطة الاحتياطية:
إذا تعذر Gemini، استخدم لقطة LIVE GEMINI واذكر أن النظام يعرض fallback موسومًا.
[Sources]
Screenshots: /reserve and /menu, 390×844, 2026-09-10
Repository: public/booking.css; public/guest.js; ai-service.js
Live Gemini response verified in local runtime, 2026-09-10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المدة: 45 ثانية
النص المقترح:
أنشأنا طلبًا تجريبيًا باسم IMPACT X Demo. ظهر رقم 001 للضيف، ثم ظهر فورًا في المطبخ، ونقلناه من Received إلى Preparing ثم Ready. هذه انتقالات النظام الحقيقية. الدفع ما زال Test mode. تكاملات Stripe وPaymob موجودة وتتحقق من التوقيع، لكننا لم نستخدم حساب تاجر حي.
الانتقال:
الذكاء الاصطناعي يعمل داخل هذه الرحلة، لا كصفحة منفصلة.
إجراء العرض:
اعرض انتقالًا واحدًا فقط إذا كان المتصفح جاهزًا؛ لا تضف طلبًا جديدًا أثناء العرض.
الخطة الاحتياطية:
استخدم اللقطات الثلاث. هي توثق الحالة الفعلية بتاريخ اليوم.
[Sources]
Screenshots: /burger and /kitchen, 2026-09-10
Repository: server.js, /api/transition; payments.js
Tests: stale transitions, payment isolation and retry safety passed in npm test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المدة: 35 ثانية
النص المقترح:
Gemini يضيف قيمة في نقطتين واضحتين. للضيف، يختار من القائمة الحالية فقط ويخضع للميزانية والمخزون. وللمدير، يحول نصًا أو صورة إلى Draft منظم. اختبرنا الحالتين Live اليوم. لا يوجد نشر تلقائي؛ كل نتيجة تمر بتحقق ثم مراجعة بشرية، وعند تعطل المزود يظهر fallback واضح.
الانتقال:
هذا التصميم مدعوم ببنية تقنية بسيطة ويمكن الدفاع عنها.
إجراء العرض:
استخدم لقطة Draft لإظهار عبارة Nothing has been published.
الخطة الاحتياطية:
إذا تعطلت الشبكة، اعرض اللقطتين واشرح مسار fallback في سطر واحد.
[Sources]
Repository: gemini-provider.js; ai-service.js; ai-imports.js
Screenshots: /menu and /manager import review, verified 2026-09-10
Tests: AI schema validation and unsafe-suggestion fallback passed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المدة: 25 ثانية
النص المقترح:
محليًا نستخدم SQLite داخل عملية Node واحدة. عند تفعيل Firebase Tenant Mode، يتحقق Firebase Auth من الهوية، ثم يختار العضوية مطعمًا واحدًا، وتُحفظ الحالة في مستند Firestore خاص بكل مطعم. الكود موجود، لكن اختبار العزل على Emulator كان Skipped اليوم، لذلك يبقى Gate قبل الإنتاج. الضوابط المثبتة تشمل السعر والمخزون على الخادم وIdempotency للمدفوعات.
الانتقال:
الآن نربط هذه التقنية بأثر قابل للقياس.
إجراء العرض:
لا تشرح كل ملف؛ ركز على الفرق بين Local وHosted.
الخطة الاحتياطية:
الشريحة مستقلة عن أي اتصال حي.
[Sources]
Repository: server.js:32-44 and 235-239
Repository: firebase-platform.js:103-126
docs/FIREBASE-SAAS.md
npm test result, 2026-09-10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المدة: 25 ثانية
النص المقترح:
الأثر الذي نعد به الآن هو قابلية القياس. نأخذ سبعة أيام Baseline، ثم 23 يوم تشغيل، ونتابع خمسة مؤشرات من أحداث النظام. هدف التجربة أن تمر 80% من الطلبات عبر Resuto، وأن يتحسن مؤشّران على الأقل بنسبة 10%، مع رضا فريق 4 من 5. هذه أهداف وليست نتائج محققة.
الانتقال:
إذا تحقق الأثر، من يدفع وما الذي يشتريه؟
إجراء العرض:
أشر إلى KPIs ثم عتبات النجاح.
الخطة الاحتياطية:
لا حاجة إلى Demo حي.
[Sources]
resuto-impact-x-judging-pack-ar.pdf, p. 18
IMPACT X Judging Criteria.pdf, p. 2
Repository event names: server.js and platform-domain.js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المدة: 30 ثانية
النص المقترح:
في مصر نبدأ بباقـة Growth بسعر مقترح 1499 جنيه للفرع شهريًا قبل الضريبة. المشتري هو المالك أو المشغل، والقيمة هي الرحلة المتصلة وليس عدد الشاشات. نستخدم Pilot بدون رسوم إعداد لاختبار الاستعداد للدفع. السعودية مرحلة تالية مشروطة بالامتثال والدفع المحلي، ولا نبيع Pro قبل اكتمال الفروع والتحليلات المطلوبة.
الانتقال:
الآن نختبر هل القيمة الشهرية يمكن أن تتجاوز الاشتراك.
إجراء العرض:
اعرض السعر والنطاق فقط؛ اترك جدول الأسعار الكامل للملحق.
الخطة الاحتياطية:
استخدم هذه الشريحة دون مصادر خارجية مباشرة.
[Sources]
resuto-impact-x-judging-pack-ar.pdf, pp. 10-11 and 14
Repository: public/pricing.js
Current UI: /pricing, verified 2026-09-10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المدة: 25 ثانية
النص المقترح:
هذا مثال حسابي، وليس توفيرًا محققًا. الاشتراك 1499 جنيه، والمنفعة الشهرية المفترضة 5100، فينتج صافي 3601 وعائد 240%. المنفعة تتكون من وقت إداري وأخطاء أو هدر ومساهمة إضافية. سنقيس كل بند في الـPilot ونستبعد أي منفعة لا ترتبط بتغيير تشغيلي واضح.
الانتقال:
المعادلة مفيدة فقط إذا تحولت إلى خطة تنفيذ وقياس.
إجراء العرض:
أشر إلى عبارة Illustrative scenario ثم المعادلة.
الخطة الاحتياطية:
إذا سُئلت عن التفاصيل، انتقل إلى شريحة الملحق الخاصة بالافتراضات.
[Sources]
resuto-impact-x-judging-pack-ar.pdf, pp. 12-13
Arithmetic recalculated: (5100-1499)/1499 = 240.23%
No external market claim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المدة: 35 ثانية
النص المقترح:
منذ كتابة الملف تقدّم المشروع: البناء ينجح، 76 اختبارًا نجح، وتجربتا Gemini الحيتان عملتا. الخطوة التالية ليست إضافة خصائص عشوائية؛ هي Pilot في مصر ثم اختبار عزل Firebase والفوترة والمراقبة. السعودية تأتي بعد مراجعة ضريبية وتكامل ZATCA وقبول دفع محلي. الاشتراك يمول الصيانة، وحدود استخدام AI وFallback يدوي تضبط التكلفة.
الانتقال:
لذلك طلبنا النهائي محدد وقابل للتنفيذ.
إجراء العرض:
لا تفتح الملحق إلا إذا سأل الحكم عن بوابة بعينها.
الخطة الاحتياطية:
الشريحة تحمل الأدلة والحدود دون اعتماد على الشبكة.
[Sources]
Current build and test commands, 2026-09-10
resuto-impact-x-judging-pack-ar.pdf, pp. 15-17 and 21
Repository: firebase-platform.js; payments.js; docs/FIREBASE-SAAS.md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المدة: 15 ثانية
النص المقترح:
طلبنا من لجنة IMPACT X هو دعم تجربة لمدة 30 يومًا مع ثلاثة مطاعم في مصر. نبدأ بخط أساس، نقيس التبني والأثر والعائد، وننتهي بقرار شراء واضح. ريزوتو يعمل اليوم؛ والـPilot سيحدد إن كان يستحق أن يصبح خدمة مستدامة. شكرًا.
الانتقال:
توقف هنا وانتظر الأسئلة.
إجراء العرض:
لا تفتح أي رابط بعد الخاتمة إلا بطلب الحكم.
الخطة الاحتياطية:
ابقَ على هذه الشريحة؛ كل الأدلة موجودة في الملحق.
[Sources]
resuto-impact-x-judging-pack-ar.pdf, pp. 18-19 and 22
Main-pitch timing total: 340 seconds (5:40)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Repository: PROJECT_DOCUMENTATION.md and README.md
Runtime verification screenshots, 2026-09-10
npm test: 76 passed, 1 skipped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Screenshots: /restaurant, /burger and Arabic /menu
Repository: public/restaurant-experience.js; public/burger.js; public/i18n.js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firebase-platform.js
firestore.rules
docs/FIREBASE-SAAS.md
tests/firebase-tenancy.test.js (skipped in full suite 2026-09-10)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gemini-provider.js
ai-service.js
ai-imports.js
Screenshots 09 and 13, verified 2026-09-10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resuto-impact-x-judging-pack-ar.pdf, pp. 10-11
Pack source date: 2026-09-09
Tax treatment requires professional review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resuto-impact-x-judging-pack-ar.pdf, pp. 12-13
Arithmetic independently recalculated in presentation build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resuto-impact-x-judging-pack-ar.pdf, pp. 14-15 and 18
No invented customer or unit-economics data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resuto-impact-x-judging-pack-ar.pdf, pp. 16-17 and 21
Repository boundaries: README.md
Current Firebase test status: one skipped emulator test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resuto-impact-x-judging-pack-ar.pdf, p. 20
Current repository and runtime verification, 2026-09-10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IMPACT X Judging Criteria.pdf, pp. 1-7
output/presentation/Evidence_Coverage.md
All slide notes contain [Sources] blocks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814"/>
        </a:solidFill>
      </p:bgPr>
    </p:bg>
    <p:spTree>
      <p:nvGrpSpPr>
        <p:cNvPr id="1" name=""/>
        <p:cNvGrpSpPr/>
        <p:nvPr/>
      </p:nvGrpSpPr>
      <p:grpSpPr>
        <a:xfrm>
          <a:off x="0" y="0"/>
          <a:ext cx="0" cy="0"/>
          <a:chOff x="0" y="0"/>
          <a:chExt cx="0" cy="0"/>
        </a:xfrm>
      </p:grpSpPr>
      <p:pic>
        <p:nvPicPr>
          <p:cNvPr id="2" name="Image 0" descr="/Users/tank/Downloads/Resuto-main/.codex-build/resuto-impactx-pitch/landing.png">    </p:cNvPr>
          <p:cNvPicPr>
            <a:picLocks noChangeAspect="1"/>
          </p:cNvPicPr>
          <p:nvPr/>
        </p:nvPicPr>
        <p:blipFill>
          <a:blip r:embed="rId1"/>
          <a:stretch>
            <a:fillRect/>
          </a:stretch>
        </p:blipFill>
        <p:spPr>
          <a:xfrm>
            <a:off x="6510528" y="0"/>
            <a:ext cx="5687568" cy="6858000"/>
          </a:xfrm>
          <a:prstGeom prst="rect">
            <a:avLst/>
          </a:prstGeom>
        </p:spPr>
      </p:pic>
      <p:sp>
        <p:nvSpPr>
          <p:cNvPr id="3" name="Shape 0"/>
          <p:cNvSpPr/>
          <p:nvPr/>
        </p:nvSpPr>
        <p:spPr>
          <a:xfrm>
            <a:off x="6126480" y="0"/>
            <a:ext cx="1280160" cy="6858000"/>
          </a:xfrm>
          <a:prstGeom prst="rect">
            <a:avLst/>
          </a:prstGeom>
          <a:solidFill>
            <a:srgbClr val="0D1814"/>
          </a:solidFill>
          <a:ln w="12700">
            <a:solidFill>
              <a:srgbClr val="FFFFFF">
                <a:alpha val="0"/>
              </a:srgbClr>
            </a:solidFill>
            <a:prstDash val="solid"/>
          </a:ln>
        </p:spPr>
      </p:sp>
      <p:sp>
        <p:nvSpPr>
          <p:cNvPr id="4" name="Shape 1"/>
          <p:cNvSpPr/>
          <p:nvPr/>
        </p:nvSpPr>
        <p:spPr>
          <a:xfrm>
            <a:off x="6400800" y="0"/>
            <a:ext cx="868680" cy="6858000"/>
          </a:xfrm>
          <a:prstGeom prst="rect">
            <a:avLst/>
          </a:prstGeom>
          <a:solidFill>
            <a:srgbClr val="0D1814"/>
          </a:solidFill>
          <a:ln w="12700">
            <a:solidFill>
              <a:srgbClr val="FFFFFF">
                <a:alpha val="0"/>
              </a:srgbClr>
            </a:solidFill>
            <a:prstDash val="solid"/>
          </a:ln>
        </p:spPr>
      </p:sp>
      <p:pic>
        <p:nvPicPr>
          <p:cNvPr id="5" name="Image 1" descr="/Users/tank/Downloads/Resuto-main/.codex-build/resuto-impactx-pitch/resuto-original-mark.png">    </p:cNvPr>
          <p:cNvPicPr>
            <a:picLocks noChangeAspect="1"/>
          </p:cNvPicPr>
          <p:nvPr/>
        </p:nvPicPr>
        <p:blipFill>
          <a:blip r:embed="rId2"/>
          <a:stretch>
            <a:fillRect/>
          </a:stretch>
        </p:blipFill>
        <p:spPr>
          <a:xfrm>
            <a:off x="566928" y="438912"/>
            <a:ext cx="713232" cy="658368"/>
          </a:xfrm>
          <a:prstGeom prst="rect">
            <a:avLst/>
          </a:prstGeom>
        </p:spPr>
      </p:pic>
      <p:sp>
        <p:nvSpPr>
          <p:cNvPr id="6" name="Text 2"/>
          <p:cNvSpPr txBox="1"/>
          <p:nvPr/>
        </p:nvSpPr>
        <p:spPr>
          <a:xfrm>
            <a:off x="1307592" y="566928"/>
            <a:ext cx="2011680" cy="411480"/>
          </a:xfrm>
          <a:prstGeom prst="rect">
            <a:avLst/>
          </a:prstGeom>
          <a:noFill/>
          <a:ln/>
        </p:spPr>
        <p:txBody>
          <a:bodyPr wrap="square" lIns="0" tIns="0" rIns="0" bIns="0" rtlCol="0" anchor="ctr">
            <a:normAutofit/>
          </a:bodyPr>
          <a:lstStyle/>
          <a:p>
            <a:pPr algn="l" indent="0" marL="0">
              <a:buNone/>
            </a:pPr>
            <a:r>
              <a:rPr lang="en-US" sz="2700" b="1" dirty="0">
                <a:solidFill>
                  <a:srgbClr val="FFFFFF"/>
                </a:solidFill>
                <a:latin typeface="Manrope" pitchFamily="34" charset="0"/>
                <a:ea typeface="Manrope" pitchFamily="34" charset="-122"/>
                <a:cs typeface="Manrope" pitchFamily="34" charset="-120"/>
              </a:rPr>
              <a:t>resuto.</a:t>
            </a:r>
            <a:endParaRPr lang="en-US" sz="2700" dirty="0"/>
          </a:p>
        </p:txBody>
      </p:sp>
      <p:sp>
        <p:nvSpPr>
          <p:cNvPr id="7" name="Text 3"/>
          <p:cNvSpPr txBox="1"/>
          <p:nvPr/>
        </p:nvSpPr>
        <p:spPr>
          <a:xfrm>
            <a:off x="658368" y="1508760"/>
            <a:ext cx="5897880" cy="2240280"/>
          </a:xfrm>
          <a:prstGeom prst="rect">
            <a:avLst/>
          </a:prstGeom>
          <a:noFill/>
          <a:ln/>
        </p:spPr>
        <p:txBody>
          <a:bodyPr wrap="square" lIns="0" tIns="0" rIns="0" bIns="0" rtlCol="0" anchor="t">
            <a:normAutofit/>
          </a:bodyPr>
          <a:lstStyle/>
          <a:p>
            <a:pPr algn="l" indent="0" marL="0">
              <a:buNone/>
            </a:pPr>
            <a:r>
              <a:rPr lang="en-US" sz="3800" b="1" dirty="0">
                <a:solidFill>
                  <a:srgbClr val="FFFFFF"/>
                </a:solidFill>
                <a:latin typeface="Manrope" pitchFamily="34" charset="0"/>
                <a:ea typeface="Manrope" pitchFamily="34" charset="-122"/>
                <a:cs typeface="Manrope" pitchFamily="34" charset="-120"/>
              </a:rPr>
              <a:t>Run the room.</a:t>
            </a:r>
            <a:endParaRPr lang="en-US" sz="3800" dirty="0"/>
          </a:p>
          <a:p>
            <a:pPr algn="l" indent="0" marL="0">
              <a:buNone/>
            </a:pPr>
            <a:r>
              <a:rPr lang="en-US" sz="3800" b="1" dirty="0">
                <a:solidFill>
                  <a:srgbClr val="FFFFFF"/>
                </a:solidFill>
                <a:latin typeface="Manrope" pitchFamily="34" charset="0"/>
                <a:ea typeface="Manrope" pitchFamily="34" charset="-122"/>
                <a:cs typeface="Manrope" pitchFamily="34" charset="-120"/>
              </a:rPr>
              <a:t>Resuto connects</a:t>
            </a:r>
            <a:endParaRPr lang="en-US" sz="3800" dirty="0"/>
          </a:p>
          <a:p>
            <a:pPr algn="l" indent="0" marL="0">
              <a:buNone/>
            </a:pPr>
            <a:r>
              <a:rPr lang="en-US" sz="3800" b="1" dirty="0">
                <a:solidFill>
                  <a:srgbClr val="FFFFFF"/>
                </a:solidFill>
                <a:latin typeface="Manrope" pitchFamily="34" charset="0"/>
                <a:ea typeface="Manrope" pitchFamily="34" charset="-122"/>
                <a:cs typeface="Manrope" pitchFamily="34" charset="-120"/>
              </a:rPr>
              <a:t>everything else.</a:t>
            </a:r>
            <a:endParaRPr lang="en-US" sz="3800" dirty="0"/>
          </a:p>
        </p:txBody>
      </p:sp>
      <p:sp>
        <p:nvSpPr>
          <p:cNvPr id="8" name="Text 4"/>
          <p:cNvSpPr txBox="1"/>
          <p:nvPr/>
        </p:nvSpPr>
        <p:spPr>
          <a:xfrm>
            <a:off x="676656" y="4023360"/>
            <a:ext cx="5166360" cy="804672"/>
          </a:xfrm>
          <a:prstGeom prst="rect">
            <a:avLst/>
          </a:prstGeom>
          <a:noFill/>
          <a:ln/>
        </p:spPr>
        <p:txBody>
          <a:bodyPr wrap="square" lIns="0" tIns="0" rIns="0" bIns="0" rtlCol="0" anchor="t">
            <a:normAutofit/>
          </a:bodyPr>
          <a:lstStyle/>
          <a:p>
            <a:pPr algn="l" indent="0" marL="0">
              <a:buNone/>
            </a:pPr>
            <a:r>
              <a:rPr lang="en-US" sz="1800" dirty="0">
                <a:solidFill>
                  <a:srgbClr val="D8E4D9"/>
                </a:solidFill>
                <a:latin typeface="Manrope" pitchFamily="34" charset="0"/>
                <a:ea typeface="Manrope" pitchFamily="34" charset="-122"/>
                <a:cs typeface="Manrope" pitchFamily="34" charset="-120"/>
              </a:rPr>
              <a:t>Reservations, table identity, ordering, kitchen, payment and management in one operating flow.</a:t>
            </a:r>
            <a:endParaRPr lang="en-US" sz="1800" dirty="0"/>
          </a:p>
        </p:txBody>
      </p:sp>
      <p:sp>
        <p:nvSpPr>
          <p:cNvPr id="9" name="Shape 5"/>
          <p:cNvSpPr/>
          <p:nvPr/>
        </p:nvSpPr>
        <p:spPr>
          <a:xfrm>
            <a:off x="676656" y="5166360"/>
            <a:ext cx="1325880" cy="292608"/>
          </a:xfrm>
          <a:prstGeom prst="roundRect">
            <a:avLst>
              <a:gd name="adj" fmla="val 50000"/>
            </a:avLst>
          </a:prstGeom>
          <a:solidFill>
            <a:srgbClr val="E8763C"/>
          </a:solidFill>
          <a:ln w="12700">
            <a:solidFill>
              <a:srgbClr val="FFFFFF">
                <a:alpha val="0"/>
              </a:srgbClr>
            </a:solidFill>
            <a:prstDash val="solid"/>
          </a:ln>
        </p:spPr>
      </p:sp>
      <p:sp>
        <p:nvSpPr>
          <p:cNvPr id="10" name="Text 6"/>
          <p:cNvSpPr txBox="1"/>
          <p:nvPr/>
        </p:nvSpPr>
        <p:spPr>
          <a:xfrm>
            <a:off x="749808" y="5175504"/>
            <a:ext cx="1179576" cy="25603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Manrope" pitchFamily="34" charset="0"/>
                <a:ea typeface="Manrope" pitchFamily="34" charset="-122"/>
                <a:cs typeface="Manrope" pitchFamily="34" charset="-120"/>
              </a:rPr>
              <a:t>WORKING MVP</a:t>
            </a:r>
            <a:endParaRPr lang="en-US" sz="1000" dirty="0"/>
          </a:p>
        </p:txBody>
      </p:sp>
      <p:sp>
        <p:nvSpPr>
          <p:cNvPr id="11" name="Shape 7"/>
          <p:cNvSpPr/>
          <p:nvPr/>
        </p:nvSpPr>
        <p:spPr>
          <a:xfrm>
            <a:off x="2112264" y="5166360"/>
            <a:ext cx="2130552" cy="292608"/>
          </a:xfrm>
          <a:prstGeom prst="roundRect">
            <a:avLst>
              <a:gd name="adj" fmla="val 50000"/>
            </a:avLst>
          </a:prstGeom>
          <a:solidFill>
            <a:srgbClr val="173F35"/>
          </a:solidFill>
          <a:ln w="12700">
            <a:solidFill>
              <a:srgbClr val="FFFFFF">
                <a:alpha val="0"/>
              </a:srgbClr>
            </a:solidFill>
            <a:prstDash val="solid"/>
          </a:ln>
        </p:spPr>
      </p:sp>
      <p:sp>
        <p:nvSpPr>
          <p:cNvPr id="12" name="Text 8"/>
          <p:cNvSpPr txBox="1"/>
          <p:nvPr/>
        </p:nvSpPr>
        <p:spPr>
          <a:xfrm>
            <a:off x="2185416" y="5175504"/>
            <a:ext cx="1984248" cy="25603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Manrope" pitchFamily="34" charset="0"/>
                <a:ea typeface="Manrope" pitchFamily="34" charset="-122"/>
                <a:cs typeface="Manrope" pitchFamily="34" charset="-120"/>
              </a:rPr>
              <a:t>BUSINESS &amp; PRODUCTIVITY</a:t>
            </a:r>
            <a:endParaRPr lang="en-US" sz="1000" dirty="0"/>
          </a:p>
        </p:txBody>
      </p:sp>
      <p:sp>
        <p:nvSpPr>
          <p:cNvPr id="13" name="Shape 9"/>
          <p:cNvSpPr/>
          <p:nvPr/>
        </p:nvSpPr>
        <p:spPr>
          <a:xfrm>
            <a:off x="4352544" y="5166360"/>
            <a:ext cx="822960" cy="292608"/>
          </a:xfrm>
          <a:prstGeom prst="roundRect">
            <a:avLst>
              <a:gd name="adj" fmla="val 50000"/>
            </a:avLst>
          </a:prstGeom>
          <a:solidFill>
            <a:srgbClr val="E6EFE8"/>
          </a:solidFill>
          <a:ln w="12700">
            <a:solidFill>
              <a:srgbClr val="FFFFFF">
                <a:alpha val="0"/>
              </a:srgbClr>
            </a:solidFill>
            <a:prstDash val="solid"/>
          </a:ln>
        </p:spPr>
      </p:sp>
      <p:sp>
        <p:nvSpPr>
          <p:cNvPr id="14" name="Text 10"/>
          <p:cNvSpPr txBox="1"/>
          <p:nvPr/>
        </p:nvSpPr>
        <p:spPr>
          <a:xfrm>
            <a:off x="4425696" y="5175504"/>
            <a:ext cx="676656" cy="256032"/>
          </a:xfrm>
          <a:prstGeom prst="rect">
            <a:avLst/>
          </a:prstGeom>
          <a:noFill/>
          <a:ln/>
        </p:spPr>
        <p:txBody>
          <a:bodyPr wrap="square" lIns="0" tIns="0" rIns="0" bIns="0" rtlCol="0" anchor="ctr">
            <a:normAutofit/>
          </a:bodyPr>
          <a:lstStyle/>
          <a:p>
            <a:pPr algn="ctr" indent="0" marL="0">
              <a:buNone/>
            </a:pPr>
            <a:r>
              <a:rPr lang="en-US" sz="1000" b="1" dirty="0">
                <a:solidFill>
                  <a:srgbClr val="173F35"/>
                </a:solidFill>
                <a:latin typeface="Manrope" pitchFamily="34" charset="0"/>
                <a:ea typeface="Manrope" pitchFamily="34" charset="-122"/>
                <a:cs typeface="Manrope" pitchFamily="34" charset="-120"/>
              </a:rPr>
              <a:t>SDG 8</a:t>
            </a:r>
            <a:endParaRPr lang="en-US" sz="1000" dirty="0"/>
          </a:p>
        </p:txBody>
      </p:sp>
      <p:sp>
        <p:nvSpPr>
          <p:cNvPr id="15" name="Text 11"/>
          <p:cNvSpPr txBox="1"/>
          <p:nvPr/>
        </p:nvSpPr>
        <p:spPr>
          <a:xfrm>
            <a:off x="685800" y="6016752"/>
            <a:ext cx="3108960" cy="228600"/>
          </a:xfrm>
          <a:prstGeom prst="rect">
            <a:avLst/>
          </a:prstGeom>
          <a:noFill/>
          <a:ln/>
        </p:spPr>
        <p:txBody>
          <a:bodyPr wrap="square" lIns="0" tIns="0" rIns="0" bIns="0" rtlCol="0" anchor="ctr">
            <a:normAutofit/>
          </a:bodyPr>
          <a:lstStyle/>
          <a:p>
            <a:pPr algn="l" indent="0" marL="0">
              <a:buNone/>
            </a:pPr>
            <a:r>
              <a:rPr lang="en-US" sz="1150" b="1" dirty="0">
                <a:solidFill>
                  <a:srgbClr val="E8DDCC"/>
                </a:solidFill>
                <a:latin typeface="Manrope" pitchFamily="34" charset="0"/>
                <a:ea typeface="Manrope" pitchFamily="34" charset="-122"/>
                <a:cs typeface="Manrope" pitchFamily="34" charset="-120"/>
              </a:rPr>
              <a:t>IMPACT X · 5:40 main pitch</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384048" y="6510528"/>
            <a:ext cx="11402568" cy="0"/>
          </a:xfrm>
          <a:prstGeom prst="line">
            <a:avLst/>
          </a:prstGeom>
          <a:noFill/>
          <a:ln w="8890">
            <a:solidFill>
              <a:srgbClr val="D4DCD5"/>
            </a:solidFill>
            <a:prstDash val="solid"/>
          </a:ln>
        </p:spPr>
      </p:sp>
      <p:pic>
        <p:nvPicPr>
          <p:cNvPr id="3" name="Image 0" descr="/Users/tank/Downloads/Resuto-main/.codex-build/resuto-impactx-pitch/resuto-original-mark.png">    </p:cNvPr>
          <p:cNvPicPr>
            <a:picLocks noChangeAspect="1"/>
          </p:cNvPicPr>
          <p:nvPr/>
        </p:nvPicPr>
        <p:blipFill>
          <a:blip r:embed="rId1"/>
          <a:stretch>
            <a:fillRect/>
          </a:stretch>
        </p:blipFill>
        <p:spPr>
          <a:xfrm>
            <a:off x="384048" y="210312"/>
            <a:ext cx="356616" cy="338328"/>
          </a:xfrm>
          <a:prstGeom prst="rect">
            <a:avLst/>
          </a:prstGeom>
        </p:spPr>
      </p:pic>
      <p:sp>
        <p:nvSpPr>
          <p:cNvPr id="4" name="Text 1"/>
          <p:cNvSpPr txBox="1"/>
          <p:nvPr/>
        </p:nvSpPr>
        <p:spPr>
          <a:xfrm>
            <a:off x="786384" y="283464"/>
            <a:ext cx="914400" cy="164592"/>
          </a:xfrm>
          <a:prstGeom prst="rect">
            <a:avLst/>
          </a:prstGeom>
          <a:noFill/>
          <a:ln/>
        </p:spPr>
        <p:txBody>
          <a:bodyPr wrap="square" lIns="0" tIns="0" rIns="0" bIns="0" rtlCol="0" anchor="t">
            <a:normAutofit/>
          </a:bodyPr>
          <a:lstStyle/>
          <a:p>
            <a:pPr algn="l" indent="0" marL="0">
              <a:buNone/>
            </a:pPr>
            <a:r>
              <a:rPr lang="en-US" sz="900" b="1" dirty="0">
                <a:solidFill>
                  <a:srgbClr val="173F35"/>
                </a:solidFill>
                <a:latin typeface="Manrope" pitchFamily="34" charset="0"/>
                <a:ea typeface="Manrope" pitchFamily="34" charset="-122"/>
                <a:cs typeface="Manrope" pitchFamily="34" charset="-120"/>
              </a:rPr>
              <a:t>RESUTO</a:t>
            </a:r>
            <a:endParaRPr lang="en-US" sz="900" dirty="0"/>
          </a:p>
        </p:txBody>
      </p:sp>
      <p:sp>
        <p:nvSpPr>
          <p:cNvPr id="5" name="Text 2"/>
          <p:cNvSpPr txBox="1"/>
          <p:nvPr/>
        </p:nvSpPr>
        <p:spPr>
          <a:xfrm>
            <a:off x="9829800" y="274320"/>
            <a:ext cx="1691640" cy="146304"/>
          </a:xfrm>
          <a:prstGeom prst="rect">
            <a:avLst/>
          </a:prstGeom>
          <a:noFill/>
          <a:ln/>
        </p:spPr>
        <p:txBody>
          <a:bodyPr wrap="square" lIns="0" tIns="0" rIns="0" bIns="0" rtlCol="0" anchor="ctr">
            <a:normAutofit/>
          </a:bodyPr>
          <a:lstStyle/>
          <a:p>
            <a:pPr algn="r" indent="0" marL="0">
              <a:buNone/>
            </a:pPr>
            <a:r>
              <a:rPr lang="en-US" sz="850" b="1" spc="140" kern="0" dirty="0">
                <a:solidFill>
                  <a:srgbClr val="D89A32"/>
                </a:solidFill>
                <a:latin typeface="Manrope" pitchFamily="34" charset="0"/>
                <a:ea typeface="Manrope" pitchFamily="34" charset="-122"/>
                <a:cs typeface="Manrope" pitchFamily="34" charset="-120"/>
              </a:rPr>
              <a:t>PROBLEM</a:t>
            </a:r>
            <a:endParaRPr lang="en-US" sz="850" dirty="0"/>
          </a:p>
        </p:txBody>
      </p:sp>
      <p:sp>
        <p:nvSpPr>
          <p:cNvPr id="6" name="Text 3"/>
          <p:cNvSpPr txBox="1"/>
          <p:nvPr/>
        </p:nvSpPr>
        <p:spPr>
          <a:xfrm>
            <a:off x="658368" y="557784"/>
            <a:ext cx="10835640" cy="530352"/>
          </a:xfrm>
          <a:prstGeom prst="rect">
            <a:avLst/>
          </a:prstGeom>
          <a:noFill/>
          <a:ln/>
        </p:spPr>
        <p:txBody>
          <a:bodyPr wrap="square" lIns="0" tIns="0" rIns="0" bIns="0" rtlCol="0" anchor="t">
            <a:normAutofit/>
          </a:bodyPr>
          <a:lstStyle/>
          <a:p>
            <a:pPr algn="l" indent="0" marL="0">
              <a:buNone/>
            </a:pPr>
            <a:r>
              <a:rPr lang="en-US" sz="3000" b="1" dirty="0">
                <a:solidFill>
                  <a:srgbClr val="17231F"/>
                </a:solidFill>
                <a:latin typeface="Manrope" pitchFamily="34" charset="0"/>
                <a:ea typeface="Manrope" pitchFamily="34" charset="-122"/>
                <a:cs typeface="Manrope" pitchFamily="34" charset="-120"/>
              </a:rPr>
              <a:t>Restaurant service breaks at the handoffs</a:t>
            </a:r>
            <a:endParaRPr lang="en-US" sz="3000" dirty="0"/>
          </a:p>
        </p:txBody>
      </p:sp>
      <p:sp>
        <p:nvSpPr>
          <p:cNvPr id="7" name="Text 4"/>
          <p:cNvSpPr txBox="1"/>
          <p:nvPr/>
        </p:nvSpPr>
        <p:spPr>
          <a:xfrm>
            <a:off x="676656" y="1097280"/>
            <a:ext cx="10469880" cy="347472"/>
          </a:xfrm>
          <a:prstGeom prst="rect">
            <a:avLst/>
          </a:prstGeom>
          <a:noFill/>
          <a:ln/>
        </p:spPr>
        <p:txBody>
          <a:bodyPr wrap="square" lIns="0" tIns="0" rIns="0" bIns="0" rtlCol="0" anchor="t">
            <a:normAutofit/>
          </a:bodyPr>
          <a:lstStyle/>
          <a:p>
            <a:pPr algn="l" indent="0" marL="0">
              <a:buNone/>
            </a:pPr>
            <a:r>
              <a:rPr lang="en-US" sz="1450" dirty="0">
                <a:solidFill>
                  <a:srgbClr val="66736A"/>
                </a:solidFill>
                <a:latin typeface="Manrope" pitchFamily="34" charset="0"/>
                <a:ea typeface="Manrope" pitchFamily="34" charset="-122"/>
                <a:cs typeface="Manrope" pitchFamily="34" charset="-120"/>
              </a:rPr>
              <a:t>A reservation, table, order, kitchen ticket and payment often live in separate workflows</a:t>
            </a:r>
            <a:endParaRPr lang="en-US" sz="1450" dirty="0"/>
          </a:p>
        </p:txBody>
      </p:sp>
      <p:sp>
        <p:nvSpPr>
          <p:cNvPr id="8" name="Text 5"/>
          <p:cNvSpPr txBox="1"/>
          <p:nvPr/>
        </p:nvSpPr>
        <p:spPr>
          <a:xfrm>
            <a:off x="685800" y="1901952"/>
            <a:ext cx="384048" cy="310896"/>
          </a:xfrm>
          <a:prstGeom prst="rect">
            <a:avLst/>
          </a:prstGeom>
          <a:noFill/>
          <a:ln/>
        </p:spPr>
        <p:txBody>
          <a:bodyPr wrap="square" lIns="0" tIns="0" rIns="0" bIns="0" rtlCol="0" anchor="ctr">
            <a:normAutofit/>
          </a:bodyPr>
          <a:lstStyle/>
          <a:p>
            <a:pPr algn="l" indent="0" marL="0">
              <a:buNone/>
            </a:pPr>
            <a:r>
              <a:rPr lang="en-US" sz="1500" b="1" dirty="0">
                <a:solidFill>
                  <a:srgbClr val="E8763C"/>
                </a:solidFill>
                <a:latin typeface="Manrope" pitchFamily="34" charset="0"/>
                <a:ea typeface="Manrope" pitchFamily="34" charset="-122"/>
                <a:cs typeface="Manrope" pitchFamily="34" charset="-120"/>
              </a:rPr>
              <a:t>01</a:t>
            </a:r>
            <a:endParaRPr lang="en-US" sz="1500" dirty="0"/>
          </a:p>
        </p:txBody>
      </p:sp>
      <p:sp>
        <p:nvSpPr>
          <p:cNvPr id="9" name="Text 6"/>
          <p:cNvSpPr txBox="1"/>
          <p:nvPr/>
        </p:nvSpPr>
        <p:spPr>
          <a:xfrm>
            <a:off x="685800" y="2313432"/>
            <a:ext cx="1847088" cy="384048"/>
          </a:xfrm>
          <a:prstGeom prst="rect">
            <a:avLst/>
          </a:prstGeom>
          <a:noFill/>
          <a:ln/>
        </p:spPr>
        <p:txBody>
          <a:bodyPr wrap="square" lIns="0" tIns="0" rIns="0" bIns="0" rtlCol="0" anchor="ctr">
            <a:normAutofit/>
          </a:bodyPr>
          <a:lstStyle/>
          <a:p>
            <a:pPr algn="l" indent="0" marL="0">
              <a:buNone/>
            </a:pPr>
            <a:r>
              <a:rPr lang="en-US" sz="2000" b="1" dirty="0">
                <a:solidFill>
                  <a:srgbClr val="173F35"/>
                </a:solidFill>
                <a:latin typeface="Manrope" pitchFamily="34" charset="0"/>
                <a:ea typeface="Manrope" pitchFamily="34" charset="-122"/>
                <a:cs typeface="Manrope" pitchFamily="34" charset="-120"/>
              </a:rPr>
              <a:t>Reservation</a:t>
            </a:r>
            <a:endParaRPr lang="en-US" sz="2000" dirty="0"/>
          </a:p>
        </p:txBody>
      </p:sp>
      <p:sp>
        <p:nvSpPr>
          <p:cNvPr id="10" name="Text 7"/>
          <p:cNvSpPr txBox="1"/>
          <p:nvPr/>
        </p:nvSpPr>
        <p:spPr>
          <a:xfrm>
            <a:off x="685800" y="2816352"/>
            <a:ext cx="1783080" cy="758952"/>
          </a:xfrm>
          <a:prstGeom prst="rect">
            <a:avLst/>
          </a:prstGeom>
          <a:noFill/>
          <a:ln/>
        </p:spPr>
        <p:txBody>
          <a:bodyPr wrap="square" lIns="0" tIns="0" rIns="0" bIns="0" rtlCol="0" anchor="t">
            <a:normAutofit/>
          </a:bodyPr>
          <a:lstStyle/>
          <a:p>
            <a:pPr algn="l" indent="0" marL="0">
              <a:buNone/>
            </a:pPr>
            <a:r>
              <a:rPr lang="en-US" sz="1330" dirty="0">
                <a:solidFill>
                  <a:srgbClr val="66736A"/>
                </a:solidFill>
                <a:latin typeface="Manrope" pitchFamily="34" charset="0"/>
                <a:ea typeface="Manrope" pitchFamily="34" charset="-122"/>
                <a:cs typeface="Manrope" pitchFamily="34" charset="-120"/>
              </a:rPr>
              <a:t>Manual confirmation and availability</a:t>
            </a:r>
            <a:endParaRPr lang="en-US" sz="1330" dirty="0"/>
          </a:p>
        </p:txBody>
      </p:sp>
      <p:sp>
        <p:nvSpPr>
          <p:cNvPr id="11" name="Shape 8"/>
          <p:cNvSpPr/>
          <p:nvPr/>
        </p:nvSpPr>
        <p:spPr>
          <a:xfrm>
            <a:off x="2450592" y="2487168"/>
            <a:ext cx="384048" cy="0"/>
          </a:xfrm>
          <a:prstGeom prst="line">
            <a:avLst/>
          </a:prstGeom>
          <a:noFill/>
          <a:ln w="27940">
            <a:solidFill>
              <a:srgbClr val="E8763C"/>
            </a:solidFill>
            <a:prstDash val="solid"/>
            <a:tailEnd type="triangle"/>
          </a:ln>
        </p:spPr>
      </p:sp>
      <p:sp>
        <p:nvSpPr>
          <p:cNvPr id="12" name="Text 9"/>
          <p:cNvSpPr txBox="1"/>
          <p:nvPr/>
        </p:nvSpPr>
        <p:spPr>
          <a:xfrm>
            <a:off x="2907792" y="1901952"/>
            <a:ext cx="384048" cy="310896"/>
          </a:xfrm>
          <a:prstGeom prst="rect">
            <a:avLst/>
          </a:prstGeom>
          <a:noFill/>
          <a:ln/>
        </p:spPr>
        <p:txBody>
          <a:bodyPr wrap="square" lIns="0" tIns="0" rIns="0" bIns="0" rtlCol="0" anchor="ctr">
            <a:normAutofit/>
          </a:bodyPr>
          <a:lstStyle/>
          <a:p>
            <a:pPr algn="l" indent="0" marL="0">
              <a:buNone/>
            </a:pPr>
            <a:r>
              <a:rPr lang="en-US" sz="1500" b="1" dirty="0">
                <a:solidFill>
                  <a:srgbClr val="E8763C"/>
                </a:solidFill>
                <a:latin typeface="Manrope" pitchFamily="34" charset="0"/>
                <a:ea typeface="Manrope" pitchFamily="34" charset="-122"/>
                <a:cs typeface="Manrope" pitchFamily="34" charset="-120"/>
              </a:rPr>
              <a:t>02</a:t>
            </a:r>
            <a:endParaRPr lang="en-US" sz="1500" dirty="0"/>
          </a:p>
        </p:txBody>
      </p:sp>
      <p:sp>
        <p:nvSpPr>
          <p:cNvPr id="13" name="Text 10"/>
          <p:cNvSpPr txBox="1"/>
          <p:nvPr/>
        </p:nvSpPr>
        <p:spPr>
          <a:xfrm>
            <a:off x="2907792" y="2313432"/>
            <a:ext cx="1847088" cy="384048"/>
          </a:xfrm>
          <a:prstGeom prst="rect">
            <a:avLst/>
          </a:prstGeom>
          <a:noFill/>
          <a:ln/>
        </p:spPr>
        <p:txBody>
          <a:bodyPr wrap="square" lIns="0" tIns="0" rIns="0" bIns="0" rtlCol="0" anchor="ctr">
            <a:normAutofit/>
          </a:bodyPr>
          <a:lstStyle/>
          <a:p>
            <a:pPr algn="l" indent="0" marL="0">
              <a:buNone/>
            </a:pPr>
            <a:r>
              <a:rPr lang="en-US" sz="2000" b="1" dirty="0">
                <a:solidFill>
                  <a:srgbClr val="173F35"/>
                </a:solidFill>
                <a:latin typeface="Manrope" pitchFamily="34" charset="0"/>
                <a:ea typeface="Manrope" pitchFamily="34" charset="-122"/>
                <a:cs typeface="Manrope" pitchFamily="34" charset="-120"/>
              </a:rPr>
              <a:t>Table</a:t>
            </a:r>
            <a:endParaRPr lang="en-US" sz="2000" dirty="0"/>
          </a:p>
        </p:txBody>
      </p:sp>
      <p:sp>
        <p:nvSpPr>
          <p:cNvPr id="14" name="Text 11"/>
          <p:cNvSpPr txBox="1"/>
          <p:nvPr/>
        </p:nvSpPr>
        <p:spPr>
          <a:xfrm>
            <a:off x="2907792" y="2816352"/>
            <a:ext cx="1783080" cy="758952"/>
          </a:xfrm>
          <a:prstGeom prst="rect">
            <a:avLst/>
          </a:prstGeom>
          <a:noFill/>
          <a:ln/>
        </p:spPr>
        <p:txBody>
          <a:bodyPr wrap="square" lIns="0" tIns="0" rIns="0" bIns="0" rtlCol="0" anchor="t">
            <a:normAutofit/>
          </a:bodyPr>
          <a:lstStyle/>
          <a:p>
            <a:pPr algn="l" indent="0" marL="0">
              <a:buNone/>
            </a:pPr>
            <a:r>
              <a:rPr lang="en-US" sz="1330" dirty="0">
                <a:solidFill>
                  <a:srgbClr val="66736A"/>
                </a:solidFill>
                <a:latin typeface="Manrope" pitchFamily="34" charset="0"/>
                <a:ea typeface="Manrope" pitchFamily="34" charset="-122"/>
                <a:cs typeface="Manrope" pitchFamily="34" charset="-120"/>
              </a:rPr>
              <a:t>Guest identity and floor status</a:t>
            </a:r>
            <a:endParaRPr lang="en-US" sz="1330" dirty="0"/>
          </a:p>
        </p:txBody>
      </p:sp>
      <p:sp>
        <p:nvSpPr>
          <p:cNvPr id="15" name="Shape 12"/>
          <p:cNvSpPr/>
          <p:nvPr/>
        </p:nvSpPr>
        <p:spPr>
          <a:xfrm>
            <a:off x="4672584" y="2487168"/>
            <a:ext cx="384048" cy="0"/>
          </a:xfrm>
          <a:prstGeom prst="line">
            <a:avLst/>
          </a:prstGeom>
          <a:noFill/>
          <a:ln w="27940">
            <a:solidFill>
              <a:srgbClr val="E8763C"/>
            </a:solidFill>
            <a:prstDash val="solid"/>
            <a:tailEnd type="triangle"/>
          </a:ln>
        </p:spPr>
      </p:sp>
      <p:sp>
        <p:nvSpPr>
          <p:cNvPr id="16" name="Text 13"/>
          <p:cNvSpPr txBox="1"/>
          <p:nvPr/>
        </p:nvSpPr>
        <p:spPr>
          <a:xfrm>
            <a:off x="5129784" y="1901952"/>
            <a:ext cx="384048" cy="310896"/>
          </a:xfrm>
          <a:prstGeom prst="rect">
            <a:avLst/>
          </a:prstGeom>
          <a:noFill/>
          <a:ln/>
        </p:spPr>
        <p:txBody>
          <a:bodyPr wrap="square" lIns="0" tIns="0" rIns="0" bIns="0" rtlCol="0" anchor="ctr">
            <a:normAutofit/>
          </a:bodyPr>
          <a:lstStyle/>
          <a:p>
            <a:pPr algn="l" indent="0" marL="0">
              <a:buNone/>
            </a:pPr>
            <a:r>
              <a:rPr lang="en-US" sz="1500" b="1" dirty="0">
                <a:solidFill>
                  <a:srgbClr val="E8763C"/>
                </a:solidFill>
                <a:latin typeface="Manrope" pitchFamily="34" charset="0"/>
                <a:ea typeface="Manrope" pitchFamily="34" charset="-122"/>
                <a:cs typeface="Manrope" pitchFamily="34" charset="-120"/>
              </a:rPr>
              <a:t>03</a:t>
            </a:r>
            <a:endParaRPr lang="en-US" sz="1500" dirty="0"/>
          </a:p>
        </p:txBody>
      </p:sp>
      <p:sp>
        <p:nvSpPr>
          <p:cNvPr id="17" name="Text 14"/>
          <p:cNvSpPr txBox="1"/>
          <p:nvPr/>
        </p:nvSpPr>
        <p:spPr>
          <a:xfrm>
            <a:off x="5129784" y="2313432"/>
            <a:ext cx="1847088" cy="384048"/>
          </a:xfrm>
          <a:prstGeom prst="rect">
            <a:avLst/>
          </a:prstGeom>
          <a:noFill/>
          <a:ln/>
        </p:spPr>
        <p:txBody>
          <a:bodyPr wrap="square" lIns="0" tIns="0" rIns="0" bIns="0" rtlCol="0" anchor="ctr">
            <a:normAutofit/>
          </a:bodyPr>
          <a:lstStyle/>
          <a:p>
            <a:pPr algn="l" indent="0" marL="0">
              <a:buNone/>
            </a:pPr>
            <a:r>
              <a:rPr lang="en-US" sz="2000" b="1" dirty="0">
                <a:solidFill>
                  <a:srgbClr val="173F35"/>
                </a:solidFill>
                <a:latin typeface="Manrope" pitchFamily="34" charset="0"/>
                <a:ea typeface="Manrope" pitchFamily="34" charset="-122"/>
                <a:cs typeface="Manrope" pitchFamily="34" charset="-120"/>
              </a:rPr>
              <a:t>Order</a:t>
            </a:r>
            <a:endParaRPr lang="en-US" sz="2000" dirty="0"/>
          </a:p>
        </p:txBody>
      </p:sp>
      <p:sp>
        <p:nvSpPr>
          <p:cNvPr id="18" name="Text 15"/>
          <p:cNvSpPr txBox="1"/>
          <p:nvPr/>
        </p:nvSpPr>
        <p:spPr>
          <a:xfrm>
            <a:off x="5129784" y="2816352"/>
            <a:ext cx="1783080" cy="758952"/>
          </a:xfrm>
          <a:prstGeom prst="rect">
            <a:avLst/>
          </a:prstGeom>
          <a:noFill/>
          <a:ln/>
        </p:spPr>
        <p:txBody>
          <a:bodyPr wrap="square" lIns="0" tIns="0" rIns="0" bIns="0" rtlCol="0" anchor="t">
            <a:normAutofit/>
          </a:bodyPr>
          <a:lstStyle/>
          <a:p>
            <a:pPr algn="l" indent="0" marL="0">
              <a:buNone/>
            </a:pPr>
            <a:r>
              <a:rPr lang="en-US" sz="1330" dirty="0">
                <a:solidFill>
                  <a:srgbClr val="66736A"/>
                </a:solidFill>
                <a:latin typeface="Manrope" pitchFamily="34" charset="0"/>
                <a:ea typeface="Manrope" pitchFamily="34" charset="-122"/>
                <a:cs typeface="Manrope" pitchFamily="34" charset="-120"/>
              </a:rPr>
              <a:t>Repeated entry and unclear changes</a:t>
            </a:r>
            <a:endParaRPr lang="en-US" sz="1330" dirty="0"/>
          </a:p>
        </p:txBody>
      </p:sp>
      <p:sp>
        <p:nvSpPr>
          <p:cNvPr id="19" name="Shape 16"/>
          <p:cNvSpPr/>
          <p:nvPr/>
        </p:nvSpPr>
        <p:spPr>
          <a:xfrm>
            <a:off x="6894576" y="2487168"/>
            <a:ext cx="384048" cy="0"/>
          </a:xfrm>
          <a:prstGeom prst="line">
            <a:avLst/>
          </a:prstGeom>
          <a:noFill/>
          <a:ln w="27940">
            <a:solidFill>
              <a:srgbClr val="E8763C"/>
            </a:solidFill>
            <a:prstDash val="solid"/>
            <a:tailEnd type="triangle"/>
          </a:ln>
        </p:spPr>
      </p:sp>
      <p:sp>
        <p:nvSpPr>
          <p:cNvPr id="20" name="Text 17"/>
          <p:cNvSpPr txBox="1"/>
          <p:nvPr/>
        </p:nvSpPr>
        <p:spPr>
          <a:xfrm>
            <a:off x="7351776" y="1901952"/>
            <a:ext cx="384048" cy="310896"/>
          </a:xfrm>
          <a:prstGeom prst="rect">
            <a:avLst/>
          </a:prstGeom>
          <a:noFill/>
          <a:ln/>
        </p:spPr>
        <p:txBody>
          <a:bodyPr wrap="square" lIns="0" tIns="0" rIns="0" bIns="0" rtlCol="0" anchor="ctr">
            <a:normAutofit/>
          </a:bodyPr>
          <a:lstStyle/>
          <a:p>
            <a:pPr algn="l" indent="0" marL="0">
              <a:buNone/>
            </a:pPr>
            <a:r>
              <a:rPr lang="en-US" sz="1500" b="1" dirty="0">
                <a:solidFill>
                  <a:srgbClr val="E8763C"/>
                </a:solidFill>
                <a:latin typeface="Manrope" pitchFamily="34" charset="0"/>
                <a:ea typeface="Manrope" pitchFamily="34" charset="-122"/>
                <a:cs typeface="Manrope" pitchFamily="34" charset="-120"/>
              </a:rPr>
              <a:t>04</a:t>
            </a:r>
            <a:endParaRPr lang="en-US" sz="1500" dirty="0"/>
          </a:p>
        </p:txBody>
      </p:sp>
      <p:sp>
        <p:nvSpPr>
          <p:cNvPr id="21" name="Text 18"/>
          <p:cNvSpPr txBox="1"/>
          <p:nvPr/>
        </p:nvSpPr>
        <p:spPr>
          <a:xfrm>
            <a:off x="7351776" y="2313432"/>
            <a:ext cx="1847088" cy="384048"/>
          </a:xfrm>
          <a:prstGeom prst="rect">
            <a:avLst/>
          </a:prstGeom>
          <a:noFill/>
          <a:ln/>
        </p:spPr>
        <p:txBody>
          <a:bodyPr wrap="square" lIns="0" tIns="0" rIns="0" bIns="0" rtlCol="0" anchor="ctr">
            <a:normAutofit/>
          </a:bodyPr>
          <a:lstStyle/>
          <a:p>
            <a:pPr algn="l" indent="0" marL="0">
              <a:buNone/>
            </a:pPr>
            <a:r>
              <a:rPr lang="en-US" sz="2000" b="1" dirty="0">
                <a:solidFill>
                  <a:srgbClr val="173F35"/>
                </a:solidFill>
                <a:latin typeface="Manrope" pitchFamily="34" charset="0"/>
                <a:ea typeface="Manrope" pitchFamily="34" charset="-122"/>
                <a:cs typeface="Manrope" pitchFamily="34" charset="-120"/>
              </a:rPr>
              <a:t>Kitchen</a:t>
            </a:r>
            <a:endParaRPr lang="en-US" sz="2000" dirty="0"/>
          </a:p>
        </p:txBody>
      </p:sp>
      <p:sp>
        <p:nvSpPr>
          <p:cNvPr id="22" name="Text 19"/>
          <p:cNvSpPr txBox="1"/>
          <p:nvPr/>
        </p:nvSpPr>
        <p:spPr>
          <a:xfrm>
            <a:off x="7351776" y="2816352"/>
            <a:ext cx="1783080" cy="758952"/>
          </a:xfrm>
          <a:prstGeom prst="rect">
            <a:avLst/>
          </a:prstGeom>
          <a:noFill/>
          <a:ln/>
        </p:spPr>
        <p:txBody>
          <a:bodyPr wrap="square" lIns="0" tIns="0" rIns="0" bIns="0" rtlCol="0" anchor="t">
            <a:normAutofit/>
          </a:bodyPr>
          <a:lstStyle/>
          <a:p>
            <a:pPr algn="l" indent="0" marL="0">
              <a:buNone/>
            </a:pPr>
            <a:r>
              <a:rPr lang="en-US" sz="1330" dirty="0">
                <a:solidFill>
                  <a:srgbClr val="66736A"/>
                </a:solidFill>
                <a:latin typeface="Manrope" pitchFamily="34" charset="0"/>
                <a:ea typeface="Manrope" pitchFamily="34" charset="-122"/>
                <a:cs typeface="Manrope" pitchFamily="34" charset="-120"/>
              </a:rPr>
              <a:t>Status updates separated from guests</a:t>
            </a:r>
            <a:endParaRPr lang="en-US" sz="1330" dirty="0"/>
          </a:p>
        </p:txBody>
      </p:sp>
      <p:sp>
        <p:nvSpPr>
          <p:cNvPr id="23" name="Shape 20"/>
          <p:cNvSpPr/>
          <p:nvPr/>
        </p:nvSpPr>
        <p:spPr>
          <a:xfrm>
            <a:off x="9116568" y="2487168"/>
            <a:ext cx="384048" cy="0"/>
          </a:xfrm>
          <a:prstGeom prst="line">
            <a:avLst/>
          </a:prstGeom>
          <a:noFill/>
          <a:ln w="27940">
            <a:solidFill>
              <a:srgbClr val="E8763C"/>
            </a:solidFill>
            <a:prstDash val="solid"/>
            <a:tailEnd type="triangle"/>
          </a:ln>
        </p:spPr>
      </p:sp>
      <p:sp>
        <p:nvSpPr>
          <p:cNvPr id="24" name="Text 21"/>
          <p:cNvSpPr txBox="1"/>
          <p:nvPr/>
        </p:nvSpPr>
        <p:spPr>
          <a:xfrm>
            <a:off x="9573768" y="1901952"/>
            <a:ext cx="384048" cy="310896"/>
          </a:xfrm>
          <a:prstGeom prst="rect">
            <a:avLst/>
          </a:prstGeom>
          <a:noFill/>
          <a:ln/>
        </p:spPr>
        <p:txBody>
          <a:bodyPr wrap="square" lIns="0" tIns="0" rIns="0" bIns="0" rtlCol="0" anchor="ctr">
            <a:normAutofit/>
          </a:bodyPr>
          <a:lstStyle/>
          <a:p>
            <a:pPr algn="l" indent="0" marL="0">
              <a:buNone/>
            </a:pPr>
            <a:r>
              <a:rPr lang="en-US" sz="1500" b="1" dirty="0">
                <a:solidFill>
                  <a:srgbClr val="E8763C"/>
                </a:solidFill>
                <a:latin typeface="Manrope" pitchFamily="34" charset="0"/>
                <a:ea typeface="Manrope" pitchFamily="34" charset="-122"/>
                <a:cs typeface="Manrope" pitchFamily="34" charset="-120"/>
              </a:rPr>
              <a:t>05</a:t>
            </a:r>
            <a:endParaRPr lang="en-US" sz="1500" dirty="0"/>
          </a:p>
        </p:txBody>
      </p:sp>
      <p:sp>
        <p:nvSpPr>
          <p:cNvPr id="25" name="Text 22"/>
          <p:cNvSpPr txBox="1"/>
          <p:nvPr/>
        </p:nvSpPr>
        <p:spPr>
          <a:xfrm>
            <a:off x="9573768" y="2313432"/>
            <a:ext cx="1847088" cy="384048"/>
          </a:xfrm>
          <a:prstGeom prst="rect">
            <a:avLst/>
          </a:prstGeom>
          <a:noFill/>
          <a:ln/>
        </p:spPr>
        <p:txBody>
          <a:bodyPr wrap="square" lIns="0" tIns="0" rIns="0" bIns="0" rtlCol="0" anchor="ctr">
            <a:normAutofit/>
          </a:bodyPr>
          <a:lstStyle/>
          <a:p>
            <a:pPr algn="l" indent="0" marL="0">
              <a:buNone/>
            </a:pPr>
            <a:r>
              <a:rPr lang="en-US" sz="2000" b="1" dirty="0">
                <a:solidFill>
                  <a:srgbClr val="173F35"/>
                </a:solidFill>
                <a:latin typeface="Manrope" pitchFamily="34" charset="0"/>
                <a:ea typeface="Manrope" pitchFamily="34" charset="-122"/>
                <a:cs typeface="Manrope" pitchFamily="34" charset="-120"/>
              </a:rPr>
              <a:t>Payment</a:t>
            </a:r>
            <a:endParaRPr lang="en-US" sz="2000" dirty="0"/>
          </a:p>
        </p:txBody>
      </p:sp>
      <p:sp>
        <p:nvSpPr>
          <p:cNvPr id="26" name="Text 23"/>
          <p:cNvSpPr txBox="1"/>
          <p:nvPr/>
        </p:nvSpPr>
        <p:spPr>
          <a:xfrm>
            <a:off x="9573768" y="2816352"/>
            <a:ext cx="1783080" cy="758952"/>
          </a:xfrm>
          <a:prstGeom prst="rect">
            <a:avLst/>
          </a:prstGeom>
          <a:noFill/>
          <a:ln/>
        </p:spPr>
        <p:txBody>
          <a:bodyPr wrap="square" lIns="0" tIns="0" rIns="0" bIns="0" rtlCol="0" anchor="t">
            <a:normAutofit/>
          </a:bodyPr>
          <a:lstStyle/>
          <a:p>
            <a:pPr algn="l" indent="0" marL="0">
              <a:buNone/>
            </a:pPr>
            <a:r>
              <a:rPr lang="en-US" sz="1330" dirty="0">
                <a:solidFill>
                  <a:srgbClr val="66736A"/>
                </a:solidFill>
                <a:latin typeface="Manrope" pitchFamily="34" charset="0"/>
                <a:ea typeface="Manrope" pitchFamily="34" charset="-122"/>
                <a:cs typeface="Manrope" pitchFamily="34" charset="-120"/>
              </a:rPr>
              <a:t>Split settlement and closeout</a:t>
            </a:r>
            <a:endParaRPr lang="en-US" sz="1330" dirty="0"/>
          </a:p>
        </p:txBody>
      </p:sp>
      <p:sp>
        <p:nvSpPr>
          <p:cNvPr id="27" name="Shape 24"/>
          <p:cNvSpPr/>
          <p:nvPr/>
        </p:nvSpPr>
        <p:spPr>
          <a:xfrm>
            <a:off x="685800" y="4160520"/>
            <a:ext cx="10826496" cy="1170432"/>
          </a:xfrm>
          <a:prstGeom prst="roundRect">
            <a:avLst>
              <a:gd name="adj" fmla="val 15625"/>
            </a:avLst>
          </a:prstGeom>
          <a:solidFill>
            <a:srgbClr val="173F35"/>
          </a:solidFill>
          <a:ln w="12700">
            <a:solidFill>
              <a:srgbClr val="FFFFFF">
                <a:alpha val="0"/>
              </a:srgbClr>
            </a:solidFill>
            <a:prstDash val="solid"/>
          </a:ln>
        </p:spPr>
      </p:sp>
      <p:sp>
        <p:nvSpPr>
          <p:cNvPr id="28" name="Text 25"/>
          <p:cNvSpPr txBox="1"/>
          <p:nvPr/>
        </p:nvSpPr>
        <p:spPr>
          <a:xfrm>
            <a:off x="932688" y="4407408"/>
            <a:ext cx="1444752" cy="292608"/>
          </a:xfrm>
          <a:prstGeom prst="rect">
            <a:avLst/>
          </a:prstGeom>
          <a:noFill/>
          <a:ln/>
        </p:spPr>
        <p:txBody>
          <a:bodyPr wrap="square" lIns="0" tIns="0" rIns="0" bIns="0" rtlCol="0" anchor="ctr">
            <a:normAutofit/>
          </a:bodyPr>
          <a:lstStyle/>
          <a:p>
            <a:pPr algn="l" indent="0" marL="0">
              <a:buNone/>
            </a:pPr>
            <a:r>
              <a:rPr lang="en-US" sz="1300" b="1" dirty="0">
                <a:solidFill>
                  <a:srgbClr val="BAC879"/>
                </a:solidFill>
                <a:latin typeface="Manrope" pitchFamily="34" charset="0"/>
                <a:ea typeface="Manrope" pitchFamily="34" charset="-122"/>
                <a:cs typeface="Manrope" pitchFamily="34" charset="-120"/>
              </a:rPr>
              <a:t>First customer</a:t>
            </a:r>
            <a:endParaRPr lang="en-US" sz="1300" dirty="0"/>
          </a:p>
        </p:txBody>
      </p:sp>
      <p:sp>
        <p:nvSpPr>
          <p:cNvPr id="29" name="Text 26"/>
          <p:cNvSpPr txBox="1"/>
          <p:nvPr/>
        </p:nvSpPr>
        <p:spPr>
          <a:xfrm>
            <a:off x="2240280" y="4325112"/>
            <a:ext cx="8732520" cy="548640"/>
          </a:xfrm>
          <a:prstGeom prst="rect">
            <a:avLst/>
          </a:prstGeom>
          <a:noFill/>
          <a:ln/>
        </p:spPr>
        <p:txBody>
          <a:bodyPr wrap="square" lIns="0" tIns="0" rIns="0" bIns="0" rtlCol="0" anchor="ctr">
            <a:normAutofit/>
          </a:bodyPr>
          <a:lstStyle/>
          <a:p>
            <a:pPr algn="l" indent="0" marL="0">
              <a:buNone/>
            </a:pPr>
            <a:r>
              <a:rPr lang="en-US" sz="2100" b="1" dirty="0">
                <a:solidFill>
                  <a:srgbClr val="FFFFFF"/>
                </a:solidFill>
                <a:latin typeface="Manrope" pitchFamily="34" charset="0"/>
                <a:ea typeface="Manrope" pitchFamily="34" charset="-122"/>
                <a:cs typeface="Manrope" pitchFamily="34" charset="-120"/>
              </a:rPr>
              <a:t>Independent restaurants and small groups in Egypt that need an Arabic-first operating system without enterprise overhead</a:t>
            </a:r>
            <a:endParaRPr lang="en-US" sz="2100" dirty="0"/>
          </a:p>
        </p:txBody>
      </p:sp>
      <p:sp>
        <p:nvSpPr>
          <p:cNvPr id="30" name="Text 27"/>
          <p:cNvSpPr txBox="1"/>
          <p:nvPr/>
        </p:nvSpPr>
        <p:spPr>
          <a:xfrm>
            <a:off x="713232" y="5806440"/>
            <a:ext cx="7772400" cy="292608"/>
          </a:xfrm>
          <a:prstGeom prst="rect">
            <a:avLst/>
          </a:prstGeom>
          <a:noFill/>
          <a:ln/>
        </p:spPr>
        <p:txBody>
          <a:bodyPr wrap="square" lIns="0" tIns="0" rIns="0" bIns="0" rtlCol="0" anchor="ctr">
            <a:normAutofit/>
          </a:bodyPr>
          <a:lstStyle/>
          <a:p>
            <a:pPr algn="l" indent="0" marL="0">
              <a:buNone/>
            </a:pPr>
            <a:r>
              <a:rPr lang="en-US" sz="1200" dirty="0">
                <a:solidFill>
                  <a:srgbClr val="B94E4E"/>
                </a:solidFill>
                <a:latin typeface="Manrope" pitchFamily="34" charset="0"/>
                <a:ea typeface="Manrope" pitchFamily="34" charset="-122"/>
                <a:cs typeface="Manrope" pitchFamily="34" charset="-120"/>
              </a:rPr>
              <a:t>The problem remains a credible operating hypothesis until interviews and pilot baselines quantify it.</a:t>
            </a:r>
            <a:endParaRPr lang="en-US" sz="1200" dirty="0"/>
          </a:p>
        </p:txBody>
      </p:sp>
      <p:sp>
        <p:nvSpPr>
          <p:cNvPr id="31" name="Text 28"/>
          <p:cNvSpPr txBox="1"/>
          <p:nvPr/>
        </p:nvSpPr>
        <p:spPr>
          <a:xfrm>
            <a:off x="658368" y="6565392"/>
            <a:ext cx="5303520" cy="118872"/>
          </a:xfrm>
          <a:prstGeom prst="rect">
            <a:avLst/>
          </a:prstGeom>
          <a:noFill/>
          <a:ln/>
        </p:spPr>
        <p:txBody>
          <a:bodyPr wrap="square" lIns="0" tIns="0" rIns="0" bIns="0" rtlCol="0" anchor="t">
            <a:normAutofit/>
          </a:bodyPr>
          <a:lstStyle/>
          <a:p>
            <a:pPr algn="l" indent="0" marL="0">
              <a:buNone/>
            </a:pPr>
            <a:r>
              <a:rPr lang="en-US" sz="850" dirty="0">
                <a:solidFill>
                  <a:srgbClr val="66736A"/>
                </a:solidFill>
                <a:latin typeface="Manrope" pitchFamily="34" charset="0"/>
                <a:ea typeface="Manrope" pitchFamily="34" charset="-122"/>
                <a:cs typeface="Manrope" pitchFamily="34" charset="-120"/>
              </a:rPr>
              <a:t>No invented interviews or market statistics</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384048" y="6510528"/>
            <a:ext cx="11402568" cy="0"/>
          </a:xfrm>
          <a:prstGeom prst="line">
            <a:avLst/>
          </a:prstGeom>
          <a:noFill/>
          <a:ln w="8890">
            <a:solidFill>
              <a:srgbClr val="D4DCD5"/>
            </a:solidFill>
            <a:prstDash val="solid"/>
          </a:ln>
        </p:spPr>
      </p:sp>
      <p:pic>
        <p:nvPicPr>
          <p:cNvPr id="3" name="Image 0" descr="/Users/tank/Downloads/Resuto-main/.codex-build/resuto-impactx-pitch/resuto-original-mark.png">    </p:cNvPr>
          <p:cNvPicPr>
            <a:picLocks noChangeAspect="1"/>
          </p:cNvPicPr>
          <p:nvPr/>
        </p:nvPicPr>
        <p:blipFill>
          <a:blip r:embed="rId1"/>
          <a:stretch>
            <a:fillRect/>
          </a:stretch>
        </p:blipFill>
        <p:spPr>
          <a:xfrm>
            <a:off x="384048" y="210312"/>
            <a:ext cx="356616" cy="338328"/>
          </a:xfrm>
          <a:prstGeom prst="rect">
            <a:avLst/>
          </a:prstGeom>
        </p:spPr>
      </p:pic>
      <p:sp>
        <p:nvSpPr>
          <p:cNvPr id="4" name="Text 1"/>
          <p:cNvSpPr txBox="1"/>
          <p:nvPr/>
        </p:nvSpPr>
        <p:spPr>
          <a:xfrm>
            <a:off x="786384" y="283464"/>
            <a:ext cx="914400" cy="164592"/>
          </a:xfrm>
          <a:prstGeom prst="rect">
            <a:avLst/>
          </a:prstGeom>
          <a:noFill/>
          <a:ln/>
        </p:spPr>
        <p:txBody>
          <a:bodyPr wrap="square" lIns="0" tIns="0" rIns="0" bIns="0" rtlCol="0" anchor="t">
            <a:normAutofit/>
          </a:bodyPr>
          <a:lstStyle/>
          <a:p>
            <a:pPr algn="l" indent="0" marL="0">
              <a:buNone/>
            </a:pPr>
            <a:r>
              <a:rPr lang="en-US" sz="900" b="1" dirty="0">
                <a:solidFill>
                  <a:srgbClr val="173F35"/>
                </a:solidFill>
                <a:latin typeface="Manrope" pitchFamily="34" charset="0"/>
                <a:ea typeface="Manrope" pitchFamily="34" charset="-122"/>
                <a:cs typeface="Manrope" pitchFamily="34" charset="-120"/>
              </a:rPr>
              <a:t>RESUTO</a:t>
            </a:r>
            <a:endParaRPr lang="en-US" sz="900" dirty="0"/>
          </a:p>
        </p:txBody>
      </p:sp>
      <p:sp>
        <p:nvSpPr>
          <p:cNvPr id="5" name="Text 2"/>
          <p:cNvSpPr txBox="1"/>
          <p:nvPr/>
        </p:nvSpPr>
        <p:spPr>
          <a:xfrm>
            <a:off x="9829800" y="274320"/>
            <a:ext cx="1691640" cy="146304"/>
          </a:xfrm>
          <a:prstGeom prst="rect">
            <a:avLst/>
          </a:prstGeom>
          <a:noFill/>
          <a:ln/>
        </p:spPr>
        <p:txBody>
          <a:bodyPr wrap="square" lIns="0" tIns="0" rIns="0" bIns="0" rtlCol="0" anchor="ctr">
            <a:normAutofit/>
          </a:bodyPr>
          <a:lstStyle/>
          <a:p>
            <a:pPr algn="r" indent="0" marL="0">
              <a:buNone/>
            </a:pPr>
            <a:r>
              <a:rPr lang="en-US" sz="850" b="1" spc="140" kern="0" dirty="0">
                <a:solidFill>
                  <a:srgbClr val="D89A32"/>
                </a:solidFill>
                <a:latin typeface="Manrope" pitchFamily="34" charset="0"/>
                <a:ea typeface="Manrope" pitchFamily="34" charset="-122"/>
                <a:cs typeface="Manrope" pitchFamily="34" charset="-120"/>
              </a:rPr>
              <a:t>CONNECTED FLOW</a:t>
            </a:r>
            <a:endParaRPr lang="en-US" sz="850" dirty="0"/>
          </a:p>
        </p:txBody>
      </p:sp>
      <p:sp>
        <p:nvSpPr>
          <p:cNvPr id="6" name="Text 3"/>
          <p:cNvSpPr txBox="1"/>
          <p:nvPr/>
        </p:nvSpPr>
        <p:spPr>
          <a:xfrm>
            <a:off x="658368" y="557784"/>
            <a:ext cx="10835640" cy="530352"/>
          </a:xfrm>
          <a:prstGeom prst="rect">
            <a:avLst/>
          </a:prstGeom>
          <a:noFill/>
          <a:ln/>
        </p:spPr>
        <p:txBody>
          <a:bodyPr wrap="square" lIns="0" tIns="0" rIns="0" bIns="0" rtlCol="0" anchor="t">
            <a:normAutofit/>
          </a:bodyPr>
          <a:lstStyle/>
          <a:p>
            <a:pPr algn="l" indent="0" marL="0">
              <a:buNone/>
            </a:pPr>
            <a:r>
              <a:rPr lang="en-US" sz="3000" b="1" dirty="0">
                <a:solidFill>
                  <a:srgbClr val="17231F"/>
                </a:solidFill>
                <a:latin typeface="Manrope" pitchFamily="34" charset="0"/>
                <a:ea typeface="Manrope" pitchFamily="34" charset="-122"/>
                <a:cs typeface="Manrope" pitchFamily="34" charset="-120"/>
              </a:rPr>
              <a:t>One state follows the guest through service</a:t>
            </a:r>
            <a:endParaRPr lang="en-US" sz="3000" dirty="0"/>
          </a:p>
        </p:txBody>
      </p:sp>
      <p:sp>
        <p:nvSpPr>
          <p:cNvPr id="7" name="Text 4"/>
          <p:cNvSpPr txBox="1"/>
          <p:nvPr/>
        </p:nvSpPr>
        <p:spPr>
          <a:xfrm>
            <a:off x="676656" y="1097280"/>
            <a:ext cx="10469880" cy="347472"/>
          </a:xfrm>
          <a:prstGeom prst="rect">
            <a:avLst/>
          </a:prstGeom>
          <a:noFill/>
          <a:ln/>
        </p:spPr>
        <p:txBody>
          <a:bodyPr wrap="square" lIns="0" tIns="0" rIns="0" bIns="0" rtlCol="0" anchor="t">
            <a:normAutofit/>
          </a:bodyPr>
          <a:lstStyle/>
          <a:p>
            <a:pPr algn="l" indent="0" marL="0">
              <a:buNone/>
            </a:pPr>
            <a:r>
              <a:rPr lang="en-US" sz="1450" dirty="0">
                <a:solidFill>
                  <a:srgbClr val="66736A"/>
                </a:solidFill>
                <a:latin typeface="Manrope" pitchFamily="34" charset="0"/>
                <a:ea typeface="Manrope" pitchFamily="34" charset="-122"/>
                <a:cs typeface="Manrope" pitchFamily="34" charset="-120"/>
              </a:rPr>
              <a:t>Green steps run in the current MVP; outlined gates require production validation</a:t>
            </a:r>
            <a:endParaRPr lang="en-US" sz="1450" dirty="0"/>
          </a:p>
        </p:txBody>
      </p:sp>
      <p:sp>
        <p:nvSpPr>
          <p:cNvPr id="8" name="Shape 5"/>
          <p:cNvSpPr/>
          <p:nvPr/>
        </p:nvSpPr>
        <p:spPr>
          <a:xfrm>
            <a:off x="594360" y="1874520"/>
            <a:ext cx="1133856" cy="1088136"/>
          </a:xfrm>
          <a:prstGeom prst="roundRect">
            <a:avLst>
              <a:gd name="adj" fmla="val 16807"/>
            </a:avLst>
          </a:prstGeom>
          <a:solidFill>
            <a:srgbClr val="173F35"/>
          </a:solidFill>
          <a:ln w="12700">
            <a:solidFill>
              <a:srgbClr val="FFFFFF">
                <a:alpha val="0"/>
              </a:srgbClr>
            </a:solidFill>
            <a:prstDash val="solid"/>
          </a:ln>
        </p:spPr>
      </p:sp>
      <p:sp>
        <p:nvSpPr>
          <p:cNvPr id="9" name="Text 6"/>
          <p:cNvSpPr txBox="1"/>
          <p:nvPr/>
        </p:nvSpPr>
        <p:spPr>
          <a:xfrm>
            <a:off x="667512" y="1993392"/>
            <a:ext cx="228600" cy="210312"/>
          </a:xfrm>
          <a:prstGeom prst="rect">
            <a:avLst/>
          </a:prstGeom>
          <a:noFill/>
          <a:ln/>
        </p:spPr>
        <p:txBody>
          <a:bodyPr wrap="square" lIns="0" tIns="0" rIns="0" bIns="0" rtlCol="0" anchor="ctr">
            <a:normAutofit/>
          </a:bodyPr>
          <a:lstStyle/>
          <a:p>
            <a:pPr algn="l" indent="0" marL="0">
              <a:buNone/>
            </a:pPr>
            <a:r>
              <a:rPr lang="en-US" sz="1000" b="1" dirty="0">
                <a:solidFill>
                  <a:srgbClr val="BAC879"/>
                </a:solidFill>
                <a:latin typeface="Manrope" pitchFamily="34" charset="0"/>
                <a:ea typeface="Manrope" pitchFamily="34" charset="-122"/>
                <a:cs typeface="Manrope" pitchFamily="34" charset="-120"/>
              </a:rPr>
              <a:t>1</a:t>
            </a:r>
            <a:endParaRPr lang="en-US" sz="1000" dirty="0"/>
          </a:p>
        </p:txBody>
      </p:sp>
      <p:sp>
        <p:nvSpPr>
          <p:cNvPr id="10" name="Text 7"/>
          <p:cNvSpPr txBox="1"/>
          <p:nvPr/>
        </p:nvSpPr>
        <p:spPr>
          <a:xfrm>
            <a:off x="667512" y="2258568"/>
            <a:ext cx="987552" cy="265176"/>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Manrope" pitchFamily="34" charset="0"/>
                <a:ea typeface="Manrope" pitchFamily="34" charset="-122"/>
                <a:cs typeface="Manrope" pitchFamily="34" charset="-120"/>
              </a:rPr>
              <a:t>Reserve</a:t>
            </a:r>
            <a:endParaRPr lang="en-US" sz="1600" dirty="0"/>
          </a:p>
        </p:txBody>
      </p:sp>
      <p:sp>
        <p:nvSpPr>
          <p:cNvPr id="11" name="Text 8"/>
          <p:cNvSpPr txBox="1"/>
          <p:nvPr/>
        </p:nvSpPr>
        <p:spPr>
          <a:xfrm>
            <a:off x="667512" y="2587752"/>
            <a:ext cx="987552" cy="201168"/>
          </a:xfrm>
          <a:prstGeom prst="rect">
            <a:avLst/>
          </a:prstGeom>
          <a:noFill/>
          <a:ln/>
        </p:spPr>
        <p:txBody>
          <a:bodyPr wrap="square" lIns="0" tIns="0" rIns="0" bIns="0" rtlCol="0" anchor="ctr">
            <a:normAutofit/>
          </a:bodyPr>
          <a:lstStyle/>
          <a:p>
            <a:pPr algn="ctr" indent="0" marL="0">
              <a:buNone/>
            </a:pPr>
            <a:r>
              <a:rPr lang="en-US" sz="950" dirty="0">
                <a:solidFill>
                  <a:srgbClr val="DCE7DE"/>
                </a:solidFill>
                <a:latin typeface="Manrope" pitchFamily="34" charset="0"/>
                <a:ea typeface="Manrope" pitchFamily="34" charset="-122"/>
                <a:cs typeface="Manrope" pitchFamily="34" charset="-120"/>
              </a:rPr>
              <a:t>table + hold</a:t>
            </a:r>
            <a:endParaRPr lang="en-US" sz="950" dirty="0"/>
          </a:p>
        </p:txBody>
      </p:sp>
      <p:sp>
        <p:nvSpPr>
          <p:cNvPr id="12" name="Shape 9"/>
          <p:cNvSpPr/>
          <p:nvPr/>
        </p:nvSpPr>
        <p:spPr>
          <a:xfrm>
            <a:off x="1737360" y="2414016"/>
            <a:ext cx="256032" cy="0"/>
          </a:xfrm>
          <a:prstGeom prst="line">
            <a:avLst/>
          </a:prstGeom>
          <a:noFill/>
          <a:ln w="22860">
            <a:solidFill>
              <a:srgbClr val="E8763C"/>
            </a:solidFill>
            <a:prstDash val="solid"/>
            <a:tailEnd type="triangle"/>
          </a:ln>
        </p:spPr>
      </p:sp>
      <p:sp>
        <p:nvSpPr>
          <p:cNvPr id="13" name="Shape 10"/>
          <p:cNvSpPr/>
          <p:nvPr/>
        </p:nvSpPr>
        <p:spPr>
          <a:xfrm>
            <a:off x="2011680" y="1874520"/>
            <a:ext cx="1133856" cy="1088136"/>
          </a:xfrm>
          <a:prstGeom prst="roundRect">
            <a:avLst>
              <a:gd name="adj" fmla="val 16807"/>
            </a:avLst>
          </a:prstGeom>
          <a:solidFill>
            <a:srgbClr val="173F35"/>
          </a:solidFill>
          <a:ln w="12700">
            <a:solidFill>
              <a:srgbClr val="FFFFFF">
                <a:alpha val="0"/>
              </a:srgbClr>
            </a:solidFill>
            <a:prstDash val="solid"/>
          </a:ln>
        </p:spPr>
      </p:sp>
      <p:sp>
        <p:nvSpPr>
          <p:cNvPr id="14" name="Text 11"/>
          <p:cNvSpPr txBox="1"/>
          <p:nvPr/>
        </p:nvSpPr>
        <p:spPr>
          <a:xfrm>
            <a:off x="2084832" y="1993392"/>
            <a:ext cx="228600" cy="210312"/>
          </a:xfrm>
          <a:prstGeom prst="rect">
            <a:avLst/>
          </a:prstGeom>
          <a:noFill/>
          <a:ln/>
        </p:spPr>
        <p:txBody>
          <a:bodyPr wrap="square" lIns="0" tIns="0" rIns="0" bIns="0" rtlCol="0" anchor="ctr">
            <a:normAutofit/>
          </a:bodyPr>
          <a:lstStyle/>
          <a:p>
            <a:pPr algn="l" indent="0" marL="0">
              <a:buNone/>
            </a:pPr>
            <a:r>
              <a:rPr lang="en-US" sz="1000" b="1" dirty="0">
                <a:solidFill>
                  <a:srgbClr val="BAC879"/>
                </a:solidFill>
                <a:latin typeface="Manrope" pitchFamily="34" charset="0"/>
                <a:ea typeface="Manrope" pitchFamily="34" charset="-122"/>
                <a:cs typeface="Manrope" pitchFamily="34" charset="-120"/>
              </a:rPr>
              <a:t>2</a:t>
            </a:r>
            <a:endParaRPr lang="en-US" sz="1000" dirty="0"/>
          </a:p>
        </p:txBody>
      </p:sp>
      <p:sp>
        <p:nvSpPr>
          <p:cNvPr id="15" name="Text 12"/>
          <p:cNvSpPr txBox="1"/>
          <p:nvPr/>
        </p:nvSpPr>
        <p:spPr>
          <a:xfrm>
            <a:off x="2084832" y="2258568"/>
            <a:ext cx="987552" cy="265176"/>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Manrope" pitchFamily="34" charset="0"/>
                <a:ea typeface="Manrope" pitchFamily="34" charset="-122"/>
                <a:cs typeface="Manrope" pitchFamily="34" charset="-120"/>
              </a:rPr>
              <a:t>Seat</a:t>
            </a:r>
            <a:endParaRPr lang="en-US" sz="1600" dirty="0"/>
          </a:p>
        </p:txBody>
      </p:sp>
      <p:sp>
        <p:nvSpPr>
          <p:cNvPr id="16" name="Text 13"/>
          <p:cNvSpPr txBox="1"/>
          <p:nvPr/>
        </p:nvSpPr>
        <p:spPr>
          <a:xfrm>
            <a:off x="2084832" y="2587752"/>
            <a:ext cx="987552" cy="201168"/>
          </a:xfrm>
          <a:prstGeom prst="rect">
            <a:avLst/>
          </a:prstGeom>
          <a:noFill/>
          <a:ln/>
        </p:spPr>
        <p:txBody>
          <a:bodyPr wrap="square" lIns="0" tIns="0" rIns="0" bIns="0" rtlCol="0" anchor="ctr">
            <a:normAutofit/>
          </a:bodyPr>
          <a:lstStyle/>
          <a:p>
            <a:pPr algn="ctr" indent="0" marL="0">
              <a:buNone/>
            </a:pPr>
            <a:r>
              <a:rPr lang="en-US" sz="950" dirty="0">
                <a:solidFill>
                  <a:srgbClr val="DCE7DE"/>
                </a:solidFill>
                <a:latin typeface="Manrope" pitchFamily="34" charset="0"/>
                <a:ea typeface="Manrope" pitchFamily="34" charset="-122"/>
                <a:cs typeface="Manrope" pitchFamily="34" charset="-120"/>
              </a:rPr>
              <a:t>live visit</a:t>
            </a:r>
            <a:endParaRPr lang="en-US" sz="950" dirty="0"/>
          </a:p>
        </p:txBody>
      </p:sp>
      <p:sp>
        <p:nvSpPr>
          <p:cNvPr id="17" name="Shape 14"/>
          <p:cNvSpPr/>
          <p:nvPr/>
        </p:nvSpPr>
        <p:spPr>
          <a:xfrm>
            <a:off x="3154680" y="2414016"/>
            <a:ext cx="256032" cy="0"/>
          </a:xfrm>
          <a:prstGeom prst="line">
            <a:avLst/>
          </a:prstGeom>
          <a:noFill/>
          <a:ln w="22860">
            <a:solidFill>
              <a:srgbClr val="E8763C"/>
            </a:solidFill>
            <a:prstDash val="solid"/>
            <a:tailEnd type="triangle"/>
          </a:ln>
        </p:spPr>
      </p:sp>
      <p:sp>
        <p:nvSpPr>
          <p:cNvPr id="18" name="Shape 15"/>
          <p:cNvSpPr/>
          <p:nvPr/>
        </p:nvSpPr>
        <p:spPr>
          <a:xfrm>
            <a:off x="3429000" y="1874520"/>
            <a:ext cx="1133856" cy="1088136"/>
          </a:xfrm>
          <a:prstGeom prst="roundRect">
            <a:avLst>
              <a:gd name="adj" fmla="val 16807"/>
            </a:avLst>
          </a:prstGeom>
          <a:solidFill>
            <a:srgbClr val="173F35"/>
          </a:solidFill>
          <a:ln w="12700">
            <a:solidFill>
              <a:srgbClr val="FFFFFF">
                <a:alpha val="0"/>
              </a:srgbClr>
            </a:solidFill>
            <a:prstDash val="solid"/>
          </a:ln>
        </p:spPr>
      </p:sp>
      <p:sp>
        <p:nvSpPr>
          <p:cNvPr id="19" name="Text 16"/>
          <p:cNvSpPr txBox="1"/>
          <p:nvPr/>
        </p:nvSpPr>
        <p:spPr>
          <a:xfrm>
            <a:off x="3502152" y="1993392"/>
            <a:ext cx="228600" cy="210312"/>
          </a:xfrm>
          <a:prstGeom prst="rect">
            <a:avLst/>
          </a:prstGeom>
          <a:noFill/>
          <a:ln/>
        </p:spPr>
        <p:txBody>
          <a:bodyPr wrap="square" lIns="0" tIns="0" rIns="0" bIns="0" rtlCol="0" anchor="ctr">
            <a:normAutofit/>
          </a:bodyPr>
          <a:lstStyle/>
          <a:p>
            <a:pPr algn="l" indent="0" marL="0">
              <a:buNone/>
            </a:pPr>
            <a:r>
              <a:rPr lang="en-US" sz="1000" b="1" dirty="0">
                <a:solidFill>
                  <a:srgbClr val="BAC879"/>
                </a:solidFill>
                <a:latin typeface="Manrope" pitchFamily="34" charset="0"/>
                <a:ea typeface="Manrope" pitchFamily="34" charset="-122"/>
                <a:cs typeface="Manrope" pitchFamily="34" charset="-120"/>
              </a:rPr>
              <a:t>3</a:t>
            </a:r>
            <a:endParaRPr lang="en-US" sz="1000" dirty="0"/>
          </a:p>
        </p:txBody>
      </p:sp>
      <p:sp>
        <p:nvSpPr>
          <p:cNvPr id="20" name="Text 17"/>
          <p:cNvSpPr txBox="1"/>
          <p:nvPr/>
        </p:nvSpPr>
        <p:spPr>
          <a:xfrm>
            <a:off x="3502152" y="2258568"/>
            <a:ext cx="987552" cy="265176"/>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Manrope" pitchFamily="34" charset="0"/>
                <a:ea typeface="Manrope" pitchFamily="34" charset="-122"/>
                <a:cs typeface="Manrope" pitchFamily="34" charset="-120"/>
              </a:rPr>
              <a:t>Scan</a:t>
            </a:r>
            <a:endParaRPr lang="en-US" sz="1600" dirty="0"/>
          </a:p>
        </p:txBody>
      </p:sp>
      <p:sp>
        <p:nvSpPr>
          <p:cNvPr id="21" name="Text 18"/>
          <p:cNvSpPr txBox="1"/>
          <p:nvPr/>
        </p:nvSpPr>
        <p:spPr>
          <a:xfrm>
            <a:off x="3502152" y="2587752"/>
            <a:ext cx="987552" cy="201168"/>
          </a:xfrm>
          <a:prstGeom prst="rect">
            <a:avLst/>
          </a:prstGeom>
          <a:noFill/>
          <a:ln/>
        </p:spPr>
        <p:txBody>
          <a:bodyPr wrap="square" lIns="0" tIns="0" rIns="0" bIns="0" rtlCol="0" anchor="ctr">
            <a:normAutofit/>
          </a:bodyPr>
          <a:lstStyle/>
          <a:p>
            <a:pPr algn="ctr" indent="0" marL="0">
              <a:buNone/>
            </a:pPr>
            <a:r>
              <a:rPr lang="en-US" sz="950" dirty="0">
                <a:solidFill>
                  <a:srgbClr val="DCE7DE"/>
                </a:solidFill>
                <a:latin typeface="Manrope" pitchFamily="34" charset="0"/>
                <a:ea typeface="Manrope" pitchFamily="34" charset="-122"/>
                <a:cs typeface="Manrope" pitchFamily="34" charset="-120"/>
              </a:rPr>
              <a:t>stable QR</a:t>
            </a:r>
            <a:endParaRPr lang="en-US" sz="950" dirty="0"/>
          </a:p>
        </p:txBody>
      </p:sp>
      <p:sp>
        <p:nvSpPr>
          <p:cNvPr id="22" name="Shape 19"/>
          <p:cNvSpPr/>
          <p:nvPr/>
        </p:nvSpPr>
        <p:spPr>
          <a:xfrm>
            <a:off x="4572000" y="2414016"/>
            <a:ext cx="256032" cy="0"/>
          </a:xfrm>
          <a:prstGeom prst="line">
            <a:avLst/>
          </a:prstGeom>
          <a:noFill/>
          <a:ln w="22860">
            <a:solidFill>
              <a:srgbClr val="E8763C"/>
            </a:solidFill>
            <a:prstDash val="solid"/>
            <a:tailEnd type="triangle"/>
          </a:ln>
        </p:spPr>
      </p:sp>
      <p:sp>
        <p:nvSpPr>
          <p:cNvPr id="23" name="Shape 20"/>
          <p:cNvSpPr/>
          <p:nvPr/>
        </p:nvSpPr>
        <p:spPr>
          <a:xfrm>
            <a:off x="4846320" y="1874520"/>
            <a:ext cx="1133856" cy="1088136"/>
          </a:xfrm>
          <a:prstGeom prst="roundRect">
            <a:avLst>
              <a:gd name="adj" fmla="val 16807"/>
            </a:avLst>
          </a:prstGeom>
          <a:solidFill>
            <a:srgbClr val="173F35"/>
          </a:solidFill>
          <a:ln w="12700">
            <a:solidFill>
              <a:srgbClr val="FFFFFF">
                <a:alpha val="0"/>
              </a:srgbClr>
            </a:solidFill>
            <a:prstDash val="solid"/>
          </a:ln>
        </p:spPr>
      </p:sp>
      <p:sp>
        <p:nvSpPr>
          <p:cNvPr id="24" name="Text 21"/>
          <p:cNvSpPr txBox="1"/>
          <p:nvPr/>
        </p:nvSpPr>
        <p:spPr>
          <a:xfrm>
            <a:off x="4919472" y="1993392"/>
            <a:ext cx="228600" cy="210312"/>
          </a:xfrm>
          <a:prstGeom prst="rect">
            <a:avLst/>
          </a:prstGeom>
          <a:noFill/>
          <a:ln/>
        </p:spPr>
        <p:txBody>
          <a:bodyPr wrap="square" lIns="0" tIns="0" rIns="0" bIns="0" rtlCol="0" anchor="ctr">
            <a:normAutofit/>
          </a:bodyPr>
          <a:lstStyle/>
          <a:p>
            <a:pPr algn="l" indent="0" marL="0">
              <a:buNone/>
            </a:pPr>
            <a:r>
              <a:rPr lang="en-US" sz="1000" b="1" dirty="0">
                <a:solidFill>
                  <a:srgbClr val="BAC879"/>
                </a:solidFill>
                <a:latin typeface="Manrope" pitchFamily="34" charset="0"/>
                <a:ea typeface="Manrope" pitchFamily="34" charset="-122"/>
                <a:cs typeface="Manrope" pitchFamily="34" charset="-120"/>
              </a:rPr>
              <a:t>4</a:t>
            </a:r>
            <a:endParaRPr lang="en-US" sz="1000" dirty="0"/>
          </a:p>
        </p:txBody>
      </p:sp>
      <p:sp>
        <p:nvSpPr>
          <p:cNvPr id="25" name="Text 22"/>
          <p:cNvSpPr txBox="1"/>
          <p:nvPr/>
        </p:nvSpPr>
        <p:spPr>
          <a:xfrm>
            <a:off x="4919472" y="2258568"/>
            <a:ext cx="987552" cy="265176"/>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Manrope" pitchFamily="34" charset="0"/>
                <a:ea typeface="Manrope" pitchFamily="34" charset="-122"/>
                <a:cs typeface="Manrope" pitchFamily="34" charset="-120"/>
              </a:rPr>
              <a:t>Order</a:t>
            </a:r>
            <a:endParaRPr lang="en-US" sz="1600" dirty="0"/>
          </a:p>
        </p:txBody>
      </p:sp>
      <p:sp>
        <p:nvSpPr>
          <p:cNvPr id="26" name="Text 23"/>
          <p:cNvSpPr txBox="1"/>
          <p:nvPr/>
        </p:nvSpPr>
        <p:spPr>
          <a:xfrm>
            <a:off x="4919472" y="2587752"/>
            <a:ext cx="987552" cy="201168"/>
          </a:xfrm>
          <a:prstGeom prst="rect">
            <a:avLst/>
          </a:prstGeom>
          <a:noFill/>
          <a:ln/>
        </p:spPr>
        <p:txBody>
          <a:bodyPr wrap="square" lIns="0" tIns="0" rIns="0" bIns="0" rtlCol="0" anchor="ctr">
            <a:normAutofit/>
          </a:bodyPr>
          <a:lstStyle/>
          <a:p>
            <a:pPr algn="ctr" indent="0" marL="0">
              <a:buNone/>
            </a:pPr>
            <a:r>
              <a:rPr lang="en-US" sz="950" dirty="0">
                <a:solidFill>
                  <a:srgbClr val="DCE7DE"/>
                </a:solidFill>
                <a:latin typeface="Manrope" pitchFamily="34" charset="0"/>
                <a:ea typeface="Manrope" pitchFamily="34" charset="-122"/>
                <a:cs typeface="Manrope" pitchFamily="34" charset="-120"/>
              </a:rPr>
              <a:t>server price</a:t>
            </a:r>
            <a:endParaRPr lang="en-US" sz="950" dirty="0"/>
          </a:p>
        </p:txBody>
      </p:sp>
      <p:sp>
        <p:nvSpPr>
          <p:cNvPr id="27" name="Shape 24"/>
          <p:cNvSpPr/>
          <p:nvPr/>
        </p:nvSpPr>
        <p:spPr>
          <a:xfrm>
            <a:off x="5989320" y="2414016"/>
            <a:ext cx="256032" cy="0"/>
          </a:xfrm>
          <a:prstGeom prst="line">
            <a:avLst/>
          </a:prstGeom>
          <a:noFill/>
          <a:ln w="22860">
            <a:solidFill>
              <a:srgbClr val="E8763C"/>
            </a:solidFill>
            <a:prstDash val="solid"/>
            <a:tailEnd type="triangle"/>
          </a:ln>
        </p:spPr>
      </p:sp>
      <p:sp>
        <p:nvSpPr>
          <p:cNvPr id="28" name="Shape 25"/>
          <p:cNvSpPr/>
          <p:nvPr/>
        </p:nvSpPr>
        <p:spPr>
          <a:xfrm>
            <a:off x="6263640" y="1874520"/>
            <a:ext cx="1133856" cy="1088136"/>
          </a:xfrm>
          <a:prstGeom prst="roundRect">
            <a:avLst>
              <a:gd name="adj" fmla="val 16807"/>
            </a:avLst>
          </a:prstGeom>
          <a:solidFill>
            <a:srgbClr val="173F35"/>
          </a:solidFill>
          <a:ln w="12700">
            <a:solidFill>
              <a:srgbClr val="FFFFFF">
                <a:alpha val="0"/>
              </a:srgbClr>
            </a:solidFill>
            <a:prstDash val="solid"/>
          </a:ln>
        </p:spPr>
      </p:sp>
      <p:sp>
        <p:nvSpPr>
          <p:cNvPr id="29" name="Text 26"/>
          <p:cNvSpPr txBox="1"/>
          <p:nvPr/>
        </p:nvSpPr>
        <p:spPr>
          <a:xfrm>
            <a:off x="6336792" y="1993392"/>
            <a:ext cx="228600" cy="210312"/>
          </a:xfrm>
          <a:prstGeom prst="rect">
            <a:avLst/>
          </a:prstGeom>
          <a:noFill/>
          <a:ln/>
        </p:spPr>
        <p:txBody>
          <a:bodyPr wrap="square" lIns="0" tIns="0" rIns="0" bIns="0" rtlCol="0" anchor="ctr">
            <a:normAutofit/>
          </a:bodyPr>
          <a:lstStyle/>
          <a:p>
            <a:pPr algn="l" indent="0" marL="0">
              <a:buNone/>
            </a:pPr>
            <a:r>
              <a:rPr lang="en-US" sz="1000" b="1" dirty="0">
                <a:solidFill>
                  <a:srgbClr val="BAC879"/>
                </a:solidFill>
                <a:latin typeface="Manrope" pitchFamily="34" charset="0"/>
                <a:ea typeface="Manrope" pitchFamily="34" charset="-122"/>
                <a:cs typeface="Manrope" pitchFamily="34" charset="-120"/>
              </a:rPr>
              <a:t>5</a:t>
            </a:r>
            <a:endParaRPr lang="en-US" sz="1000" dirty="0"/>
          </a:p>
        </p:txBody>
      </p:sp>
      <p:sp>
        <p:nvSpPr>
          <p:cNvPr id="30" name="Text 27"/>
          <p:cNvSpPr txBox="1"/>
          <p:nvPr/>
        </p:nvSpPr>
        <p:spPr>
          <a:xfrm>
            <a:off x="6336792" y="2258568"/>
            <a:ext cx="987552" cy="265176"/>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Manrope" pitchFamily="34" charset="0"/>
                <a:ea typeface="Manrope" pitchFamily="34" charset="-122"/>
                <a:cs typeface="Manrope" pitchFamily="34" charset="-120"/>
              </a:rPr>
              <a:t>Kitchen</a:t>
            </a:r>
            <a:endParaRPr lang="en-US" sz="1600" dirty="0"/>
          </a:p>
        </p:txBody>
      </p:sp>
      <p:sp>
        <p:nvSpPr>
          <p:cNvPr id="31" name="Text 28"/>
          <p:cNvSpPr txBox="1"/>
          <p:nvPr/>
        </p:nvSpPr>
        <p:spPr>
          <a:xfrm>
            <a:off x="6336792" y="2587752"/>
            <a:ext cx="987552" cy="201168"/>
          </a:xfrm>
          <a:prstGeom prst="rect">
            <a:avLst/>
          </a:prstGeom>
          <a:noFill/>
          <a:ln/>
        </p:spPr>
        <p:txBody>
          <a:bodyPr wrap="square" lIns="0" tIns="0" rIns="0" bIns="0" rtlCol="0" anchor="ctr">
            <a:normAutofit/>
          </a:bodyPr>
          <a:lstStyle/>
          <a:p>
            <a:pPr algn="ctr" indent="0" marL="0">
              <a:buNone/>
            </a:pPr>
            <a:r>
              <a:rPr lang="en-US" sz="950" dirty="0">
                <a:solidFill>
                  <a:srgbClr val="DCE7DE"/>
                </a:solidFill>
                <a:latin typeface="Manrope" pitchFamily="34" charset="0"/>
                <a:ea typeface="Manrope" pitchFamily="34" charset="-122"/>
                <a:cs typeface="Manrope" pitchFamily="34" charset="-120"/>
              </a:rPr>
              <a:t>guarded states</a:t>
            </a:r>
            <a:endParaRPr lang="en-US" sz="950" dirty="0"/>
          </a:p>
        </p:txBody>
      </p:sp>
      <p:sp>
        <p:nvSpPr>
          <p:cNvPr id="32" name="Shape 29"/>
          <p:cNvSpPr/>
          <p:nvPr/>
        </p:nvSpPr>
        <p:spPr>
          <a:xfrm>
            <a:off x="7406640" y="2414016"/>
            <a:ext cx="256032" cy="0"/>
          </a:xfrm>
          <a:prstGeom prst="line">
            <a:avLst/>
          </a:prstGeom>
          <a:noFill/>
          <a:ln w="22860">
            <a:solidFill>
              <a:srgbClr val="E8763C"/>
            </a:solidFill>
            <a:prstDash val="solid"/>
            <a:tailEnd type="triangle"/>
          </a:ln>
        </p:spPr>
      </p:sp>
      <p:sp>
        <p:nvSpPr>
          <p:cNvPr id="33" name="Shape 30"/>
          <p:cNvSpPr/>
          <p:nvPr/>
        </p:nvSpPr>
        <p:spPr>
          <a:xfrm>
            <a:off x="7680960" y="1874520"/>
            <a:ext cx="1133856" cy="1088136"/>
          </a:xfrm>
          <a:prstGeom prst="roundRect">
            <a:avLst>
              <a:gd name="adj" fmla="val 16807"/>
            </a:avLst>
          </a:prstGeom>
          <a:solidFill>
            <a:srgbClr val="173F35"/>
          </a:solidFill>
          <a:ln w="12700">
            <a:solidFill>
              <a:srgbClr val="FFFFFF">
                <a:alpha val="0"/>
              </a:srgbClr>
            </a:solidFill>
            <a:prstDash val="solid"/>
          </a:ln>
        </p:spPr>
      </p:sp>
      <p:sp>
        <p:nvSpPr>
          <p:cNvPr id="34" name="Text 31"/>
          <p:cNvSpPr txBox="1"/>
          <p:nvPr/>
        </p:nvSpPr>
        <p:spPr>
          <a:xfrm>
            <a:off x="7754112" y="1993392"/>
            <a:ext cx="228600" cy="210312"/>
          </a:xfrm>
          <a:prstGeom prst="rect">
            <a:avLst/>
          </a:prstGeom>
          <a:noFill/>
          <a:ln/>
        </p:spPr>
        <p:txBody>
          <a:bodyPr wrap="square" lIns="0" tIns="0" rIns="0" bIns="0" rtlCol="0" anchor="ctr">
            <a:normAutofit/>
          </a:bodyPr>
          <a:lstStyle/>
          <a:p>
            <a:pPr algn="l" indent="0" marL="0">
              <a:buNone/>
            </a:pPr>
            <a:r>
              <a:rPr lang="en-US" sz="1000" b="1" dirty="0">
                <a:solidFill>
                  <a:srgbClr val="BAC879"/>
                </a:solidFill>
                <a:latin typeface="Manrope" pitchFamily="34" charset="0"/>
                <a:ea typeface="Manrope" pitchFamily="34" charset="-122"/>
                <a:cs typeface="Manrope" pitchFamily="34" charset="-120"/>
              </a:rPr>
              <a:t>6</a:t>
            </a:r>
            <a:endParaRPr lang="en-US" sz="1000" dirty="0"/>
          </a:p>
        </p:txBody>
      </p:sp>
      <p:sp>
        <p:nvSpPr>
          <p:cNvPr id="35" name="Text 32"/>
          <p:cNvSpPr txBox="1"/>
          <p:nvPr/>
        </p:nvSpPr>
        <p:spPr>
          <a:xfrm>
            <a:off x="7754112" y="2258568"/>
            <a:ext cx="987552" cy="265176"/>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Manrope" pitchFamily="34" charset="0"/>
                <a:ea typeface="Manrope" pitchFamily="34" charset="-122"/>
                <a:cs typeface="Manrope" pitchFamily="34" charset="-120"/>
              </a:rPr>
              <a:t>Split</a:t>
            </a:r>
            <a:endParaRPr lang="en-US" sz="1600" dirty="0"/>
          </a:p>
        </p:txBody>
      </p:sp>
      <p:sp>
        <p:nvSpPr>
          <p:cNvPr id="36" name="Text 33"/>
          <p:cNvSpPr txBox="1"/>
          <p:nvPr/>
        </p:nvSpPr>
        <p:spPr>
          <a:xfrm>
            <a:off x="7754112" y="2587752"/>
            <a:ext cx="987552" cy="201168"/>
          </a:xfrm>
          <a:prstGeom prst="rect">
            <a:avLst/>
          </a:prstGeom>
          <a:noFill/>
          <a:ln/>
        </p:spPr>
        <p:txBody>
          <a:bodyPr wrap="square" lIns="0" tIns="0" rIns="0" bIns="0" rtlCol="0" anchor="ctr">
            <a:normAutofit/>
          </a:bodyPr>
          <a:lstStyle/>
          <a:p>
            <a:pPr algn="ctr" indent="0" marL="0">
              <a:buNone/>
            </a:pPr>
            <a:r>
              <a:rPr lang="en-US" sz="950" dirty="0">
                <a:solidFill>
                  <a:srgbClr val="DCE7DE"/>
                </a:solidFill>
                <a:latin typeface="Manrope" pitchFamily="34" charset="0"/>
                <a:ea typeface="Manrope" pitchFamily="34" charset="-122"/>
                <a:cs typeface="Manrope" pitchFamily="34" charset="-120"/>
              </a:rPr>
              <a:t>exact minor units</a:t>
            </a:r>
            <a:endParaRPr lang="en-US" sz="950" dirty="0"/>
          </a:p>
        </p:txBody>
      </p:sp>
      <p:sp>
        <p:nvSpPr>
          <p:cNvPr id="37" name="Shape 34"/>
          <p:cNvSpPr/>
          <p:nvPr/>
        </p:nvSpPr>
        <p:spPr>
          <a:xfrm>
            <a:off x="8823960" y="2414016"/>
            <a:ext cx="256032" cy="0"/>
          </a:xfrm>
          <a:prstGeom prst="line">
            <a:avLst/>
          </a:prstGeom>
          <a:noFill/>
          <a:ln w="22860">
            <a:solidFill>
              <a:srgbClr val="E8763C"/>
            </a:solidFill>
            <a:prstDash val="solid"/>
            <a:tailEnd type="triangle"/>
          </a:ln>
        </p:spPr>
      </p:sp>
      <p:sp>
        <p:nvSpPr>
          <p:cNvPr id="38" name="Shape 35"/>
          <p:cNvSpPr/>
          <p:nvPr/>
        </p:nvSpPr>
        <p:spPr>
          <a:xfrm>
            <a:off x="9098280" y="1874520"/>
            <a:ext cx="1133856" cy="1088136"/>
          </a:xfrm>
          <a:prstGeom prst="roundRect">
            <a:avLst>
              <a:gd name="adj" fmla="val 16807"/>
            </a:avLst>
          </a:prstGeom>
          <a:solidFill>
            <a:srgbClr val="173F35"/>
          </a:solidFill>
          <a:ln w="12700">
            <a:solidFill>
              <a:srgbClr val="FFFFFF">
                <a:alpha val="0"/>
              </a:srgbClr>
            </a:solidFill>
            <a:prstDash val="solid"/>
          </a:ln>
        </p:spPr>
      </p:sp>
      <p:sp>
        <p:nvSpPr>
          <p:cNvPr id="39" name="Text 36"/>
          <p:cNvSpPr txBox="1"/>
          <p:nvPr/>
        </p:nvSpPr>
        <p:spPr>
          <a:xfrm>
            <a:off x="9171432" y="1993392"/>
            <a:ext cx="228600" cy="210312"/>
          </a:xfrm>
          <a:prstGeom prst="rect">
            <a:avLst/>
          </a:prstGeom>
          <a:noFill/>
          <a:ln/>
        </p:spPr>
        <p:txBody>
          <a:bodyPr wrap="square" lIns="0" tIns="0" rIns="0" bIns="0" rtlCol="0" anchor="ctr">
            <a:normAutofit/>
          </a:bodyPr>
          <a:lstStyle/>
          <a:p>
            <a:pPr algn="l" indent="0" marL="0">
              <a:buNone/>
            </a:pPr>
            <a:r>
              <a:rPr lang="en-US" sz="1000" b="1" dirty="0">
                <a:solidFill>
                  <a:srgbClr val="BAC879"/>
                </a:solidFill>
                <a:latin typeface="Manrope" pitchFamily="34" charset="0"/>
                <a:ea typeface="Manrope" pitchFamily="34" charset="-122"/>
                <a:cs typeface="Manrope" pitchFamily="34" charset="-120"/>
              </a:rPr>
              <a:t>7</a:t>
            </a:r>
            <a:endParaRPr lang="en-US" sz="1000" dirty="0"/>
          </a:p>
        </p:txBody>
      </p:sp>
      <p:sp>
        <p:nvSpPr>
          <p:cNvPr id="40" name="Text 37"/>
          <p:cNvSpPr txBox="1"/>
          <p:nvPr/>
        </p:nvSpPr>
        <p:spPr>
          <a:xfrm>
            <a:off x="9171432" y="2258568"/>
            <a:ext cx="987552" cy="265176"/>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Manrope" pitchFamily="34" charset="0"/>
                <a:ea typeface="Manrope" pitchFamily="34" charset="-122"/>
                <a:cs typeface="Manrope" pitchFamily="34" charset="-120"/>
              </a:rPr>
              <a:t>Pay</a:t>
            </a:r>
            <a:endParaRPr lang="en-US" sz="1600" dirty="0"/>
          </a:p>
        </p:txBody>
      </p:sp>
      <p:sp>
        <p:nvSpPr>
          <p:cNvPr id="41" name="Text 38"/>
          <p:cNvSpPr txBox="1"/>
          <p:nvPr/>
        </p:nvSpPr>
        <p:spPr>
          <a:xfrm>
            <a:off x="9171432" y="2587752"/>
            <a:ext cx="987552" cy="201168"/>
          </a:xfrm>
          <a:prstGeom prst="rect">
            <a:avLst/>
          </a:prstGeom>
          <a:noFill/>
          <a:ln/>
        </p:spPr>
        <p:txBody>
          <a:bodyPr wrap="square" lIns="0" tIns="0" rIns="0" bIns="0" rtlCol="0" anchor="ctr">
            <a:normAutofit/>
          </a:bodyPr>
          <a:lstStyle/>
          <a:p>
            <a:pPr algn="ctr" indent="0" marL="0">
              <a:buNone/>
            </a:pPr>
            <a:r>
              <a:rPr lang="en-US" sz="950" dirty="0">
                <a:solidFill>
                  <a:srgbClr val="DCE7DE"/>
                </a:solidFill>
                <a:latin typeface="Manrope" pitchFamily="34" charset="0"/>
                <a:ea typeface="Manrope" pitchFamily="34" charset="-122"/>
                <a:cs typeface="Manrope" pitchFamily="34" charset="-120"/>
              </a:rPr>
              <a:t>test mode</a:t>
            </a:r>
            <a:endParaRPr lang="en-US" sz="950" dirty="0"/>
          </a:p>
        </p:txBody>
      </p:sp>
      <p:sp>
        <p:nvSpPr>
          <p:cNvPr id="42" name="Shape 39"/>
          <p:cNvSpPr/>
          <p:nvPr/>
        </p:nvSpPr>
        <p:spPr>
          <a:xfrm>
            <a:off x="10241280" y="2414016"/>
            <a:ext cx="256032" cy="0"/>
          </a:xfrm>
          <a:prstGeom prst="line">
            <a:avLst/>
          </a:prstGeom>
          <a:noFill/>
          <a:ln w="22860">
            <a:solidFill>
              <a:srgbClr val="E8763C"/>
            </a:solidFill>
            <a:prstDash val="solid"/>
            <a:tailEnd type="triangle"/>
          </a:ln>
        </p:spPr>
      </p:sp>
      <p:sp>
        <p:nvSpPr>
          <p:cNvPr id="43" name="Shape 40"/>
          <p:cNvSpPr/>
          <p:nvPr/>
        </p:nvSpPr>
        <p:spPr>
          <a:xfrm>
            <a:off x="10515600" y="1874520"/>
            <a:ext cx="1133856" cy="1088136"/>
          </a:xfrm>
          <a:prstGeom prst="roundRect">
            <a:avLst>
              <a:gd name="adj" fmla="val 16807"/>
            </a:avLst>
          </a:prstGeom>
          <a:solidFill>
            <a:srgbClr val="173F35"/>
          </a:solidFill>
          <a:ln w="12700">
            <a:solidFill>
              <a:srgbClr val="FFFFFF">
                <a:alpha val="0"/>
              </a:srgbClr>
            </a:solidFill>
            <a:prstDash val="solid"/>
          </a:ln>
        </p:spPr>
      </p:sp>
      <p:sp>
        <p:nvSpPr>
          <p:cNvPr id="44" name="Text 41"/>
          <p:cNvSpPr txBox="1"/>
          <p:nvPr/>
        </p:nvSpPr>
        <p:spPr>
          <a:xfrm>
            <a:off x="10588752" y="1993392"/>
            <a:ext cx="228600" cy="210312"/>
          </a:xfrm>
          <a:prstGeom prst="rect">
            <a:avLst/>
          </a:prstGeom>
          <a:noFill/>
          <a:ln/>
        </p:spPr>
        <p:txBody>
          <a:bodyPr wrap="square" lIns="0" tIns="0" rIns="0" bIns="0" rtlCol="0" anchor="ctr">
            <a:normAutofit/>
          </a:bodyPr>
          <a:lstStyle/>
          <a:p>
            <a:pPr algn="l" indent="0" marL="0">
              <a:buNone/>
            </a:pPr>
            <a:r>
              <a:rPr lang="en-US" sz="1000" b="1" dirty="0">
                <a:solidFill>
                  <a:srgbClr val="BAC879"/>
                </a:solidFill>
                <a:latin typeface="Manrope" pitchFamily="34" charset="0"/>
                <a:ea typeface="Manrope" pitchFamily="34" charset="-122"/>
                <a:cs typeface="Manrope" pitchFamily="34" charset="-120"/>
              </a:rPr>
              <a:t>8</a:t>
            </a:r>
            <a:endParaRPr lang="en-US" sz="1000" dirty="0"/>
          </a:p>
        </p:txBody>
      </p:sp>
      <p:sp>
        <p:nvSpPr>
          <p:cNvPr id="45" name="Text 42"/>
          <p:cNvSpPr txBox="1"/>
          <p:nvPr/>
        </p:nvSpPr>
        <p:spPr>
          <a:xfrm>
            <a:off x="10588752" y="2258568"/>
            <a:ext cx="987552" cy="265176"/>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Manrope" pitchFamily="34" charset="0"/>
                <a:ea typeface="Manrope" pitchFamily="34" charset="-122"/>
                <a:cs typeface="Manrope" pitchFamily="34" charset="-120"/>
              </a:rPr>
              <a:t>Close</a:t>
            </a:r>
            <a:endParaRPr lang="en-US" sz="1600" dirty="0"/>
          </a:p>
        </p:txBody>
      </p:sp>
      <p:sp>
        <p:nvSpPr>
          <p:cNvPr id="46" name="Text 43"/>
          <p:cNvSpPr txBox="1"/>
          <p:nvPr/>
        </p:nvSpPr>
        <p:spPr>
          <a:xfrm>
            <a:off x="10588752" y="2587752"/>
            <a:ext cx="987552" cy="201168"/>
          </a:xfrm>
          <a:prstGeom prst="rect">
            <a:avLst/>
          </a:prstGeom>
          <a:noFill/>
          <a:ln/>
        </p:spPr>
        <p:txBody>
          <a:bodyPr wrap="square" lIns="0" tIns="0" rIns="0" bIns="0" rtlCol="0" anchor="ctr">
            <a:normAutofit/>
          </a:bodyPr>
          <a:lstStyle/>
          <a:p>
            <a:pPr algn="ctr" indent="0" marL="0">
              <a:buNone/>
            </a:pPr>
            <a:r>
              <a:rPr lang="en-US" sz="950" dirty="0">
                <a:solidFill>
                  <a:srgbClr val="DCE7DE"/>
                </a:solidFill>
                <a:latin typeface="Manrope" pitchFamily="34" charset="0"/>
                <a:ea typeface="Manrope" pitchFamily="34" charset="-122"/>
                <a:cs typeface="Manrope" pitchFamily="34" charset="-120"/>
              </a:rPr>
              <a:t>cleaning state</a:t>
            </a:r>
            <a:endParaRPr lang="en-US" sz="950" dirty="0"/>
          </a:p>
        </p:txBody>
      </p:sp>
      <p:sp>
        <p:nvSpPr>
          <p:cNvPr id="47" name="Text 44"/>
          <p:cNvSpPr txBox="1"/>
          <p:nvPr/>
        </p:nvSpPr>
        <p:spPr>
          <a:xfrm>
            <a:off x="713232" y="3566160"/>
            <a:ext cx="3749040" cy="393192"/>
          </a:xfrm>
          <a:prstGeom prst="rect">
            <a:avLst/>
          </a:prstGeom>
          <a:noFill/>
          <a:ln/>
        </p:spPr>
        <p:txBody>
          <a:bodyPr wrap="square" lIns="0" tIns="0" rIns="0" bIns="0" rtlCol="0" anchor="ctr">
            <a:normAutofit/>
          </a:bodyPr>
          <a:lstStyle/>
          <a:p>
            <a:pPr algn="l" indent="0" marL="0">
              <a:buNone/>
            </a:pPr>
            <a:r>
              <a:rPr lang="en-US" sz="2500" b="1" dirty="0">
                <a:solidFill>
                  <a:srgbClr val="173F35"/>
                </a:solidFill>
                <a:latin typeface="Manrope" pitchFamily="34" charset="0"/>
                <a:ea typeface="Manrope" pitchFamily="34" charset="-122"/>
                <a:cs typeface="Manrope" pitchFamily="34" charset="-120"/>
              </a:rPr>
              <a:t>The connection creates the value</a:t>
            </a:r>
            <a:endParaRPr lang="en-US" sz="2500" dirty="0"/>
          </a:p>
        </p:txBody>
      </p:sp>
      <p:sp>
        <p:nvSpPr>
          <p:cNvPr id="48" name="Text 45"/>
          <p:cNvSpPr txBox="1"/>
          <p:nvPr/>
        </p:nvSpPr>
        <p:spPr>
          <a:xfrm>
            <a:off x="731520" y="4114800"/>
            <a:ext cx="6629400" cy="932688"/>
          </a:xfrm>
          <a:prstGeom prst="rect">
            <a:avLst/>
          </a:prstGeom>
          <a:noFill/>
          <a:ln/>
        </p:spPr>
        <p:txBody>
          <a:bodyPr wrap="square" lIns="0" tIns="0" rIns="0" bIns="0" rtlCol="0" anchor="t">
            <a:normAutofit/>
          </a:bodyPr>
          <a:lstStyle/>
          <a:p>
            <a:pPr algn="l" indent="0" marL="0">
              <a:buNone/>
            </a:pPr>
            <a:r>
              <a:rPr lang="en-US" sz="1800" dirty="0">
                <a:solidFill>
                  <a:srgbClr val="17231F"/>
                </a:solidFill>
                <a:latin typeface="Manrope" pitchFamily="34" charset="0"/>
                <a:ea typeface="Manrope" pitchFamily="34" charset="-122"/>
                <a:cs typeface="Manrope" pitchFamily="34" charset="-120"/>
              </a:rPr>
              <a:t>One floor geometry drives reservation choice and table identity. One order state updates the kitchen. One bill state controls payment and closeout.</a:t>
            </a:r>
            <a:endParaRPr lang="en-US" sz="1800" dirty="0"/>
          </a:p>
        </p:txBody>
      </p:sp>
      <p:sp>
        <p:nvSpPr>
          <p:cNvPr id="49" name="Shape 46"/>
          <p:cNvSpPr/>
          <p:nvPr/>
        </p:nvSpPr>
        <p:spPr>
          <a:xfrm>
            <a:off x="7818120" y="3493008"/>
            <a:ext cx="3310128" cy="1600200"/>
          </a:xfrm>
          <a:prstGeom prst="roundRect">
            <a:avLst>
              <a:gd name="adj" fmla="val 11429"/>
            </a:avLst>
          </a:prstGeom>
          <a:solidFill>
            <a:srgbClr val="E6EFE8"/>
          </a:solidFill>
          <a:ln w="12700">
            <a:solidFill>
              <a:srgbClr val="FFFFFF">
                <a:alpha val="0"/>
              </a:srgbClr>
            </a:solidFill>
            <a:prstDash val="solid"/>
          </a:ln>
        </p:spPr>
      </p:sp>
      <p:sp>
        <p:nvSpPr>
          <p:cNvPr id="50" name="Text 47"/>
          <p:cNvSpPr txBox="1"/>
          <p:nvPr/>
        </p:nvSpPr>
        <p:spPr>
          <a:xfrm>
            <a:off x="8101584" y="3758184"/>
            <a:ext cx="2651760" cy="310896"/>
          </a:xfrm>
          <a:prstGeom prst="rect">
            <a:avLst/>
          </a:prstGeom>
          <a:noFill/>
          <a:ln/>
        </p:spPr>
        <p:txBody>
          <a:bodyPr wrap="square" lIns="0" tIns="0" rIns="0" bIns="0" rtlCol="0" anchor="ctr">
            <a:normAutofit/>
          </a:bodyPr>
          <a:lstStyle/>
          <a:p>
            <a:pPr algn="l" indent="0" marL="0">
              <a:buNone/>
            </a:pPr>
            <a:r>
              <a:rPr lang="en-US" sz="1900" b="1" dirty="0">
                <a:solidFill>
                  <a:srgbClr val="173F35"/>
                </a:solidFill>
                <a:latin typeface="Manrope" pitchFamily="34" charset="0"/>
                <a:ea typeface="Manrope" pitchFamily="34" charset="-122"/>
                <a:cs typeface="Manrope" pitchFamily="34" charset="-120"/>
              </a:rPr>
              <a:t>Production gates</a:t>
            </a:r>
            <a:endParaRPr lang="en-US" sz="1900" dirty="0"/>
          </a:p>
        </p:txBody>
      </p:sp>
      <p:sp>
        <p:nvSpPr>
          <p:cNvPr id="51" name="Text 48"/>
          <p:cNvSpPr txBox="1"/>
          <p:nvPr/>
        </p:nvSpPr>
        <p:spPr>
          <a:xfrm>
            <a:off x="8119872" y="4160520"/>
            <a:ext cx="2651760" cy="640080"/>
          </a:xfrm>
          <a:prstGeom prst="rect">
            <a:avLst/>
          </a:prstGeom>
          <a:noFill/>
          <a:ln/>
        </p:spPr>
        <p:txBody>
          <a:bodyPr wrap="square" lIns="0" tIns="0" rIns="0" bIns="0" rtlCol="0" anchor="t">
            <a:normAutofit/>
          </a:bodyPr>
          <a:lstStyle/>
          <a:p>
            <a:pPr algn="l" indent="0" marL="0">
              <a:buNone/>
            </a:pPr>
            <a:r>
              <a:rPr lang="en-US" sz="1300" dirty="0">
                <a:solidFill>
                  <a:srgbClr val="66736A"/>
                </a:solidFill>
                <a:latin typeface="Manrope" pitchFamily="34" charset="0"/>
                <a:ea typeface="Manrope" pitchFamily="34" charset="-122"/>
                <a:cs typeface="Manrope" pitchFamily="34" charset="-120"/>
              </a:rPr>
              <a:t>Live merchant acceptance</a:t>
            </a:r>
            <a:endParaRPr lang="en-US" sz="1300" dirty="0"/>
          </a:p>
          <a:p>
            <a:pPr algn="l" indent="0" marL="0">
              <a:buNone/>
            </a:pPr>
            <a:r>
              <a:rPr lang="en-US" sz="1300" dirty="0">
                <a:solidFill>
                  <a:srgbClr val="66736A"/>
                </a:solidFill>
                <a:latin typeface="Manrope" pitchFamily="34" charset="0"/>
                <a:ea typeface="Manrope" pitchFamily="34" charset="-122"/>
                <a:cs typeface="Manrope" pitchFamily="34" charset="-120"/>
              </a:rPr>
              <a:t>Firebase emulator isolation run</a:t>
            </a:r>
            <a:endParaRPr lang="en-US" sz="1300" dirty="0"/>
          </a:p>
          <a:p>
            <a:pPr algn="l" indent="0" marL="0">
              <a:buNone/>
            </a:pPr>
            <a:r>
              <a:rPr lang="en-US" sz="1300" dirty="0">
                <a:solidFill>
                  <a:srgbClr val="66736A"/>
                </a:solidFill>
                <a:latin typeface="Manrope" pitchFamily="34" charset="0"/>
                <a:ea typeface="Manrope" pitchFamily="34" charset="-122"/>
                <a:cs typeface="Manrope" pitchFamily="34" charset="-120"/>
              </a:rPr>
              <a:t>Operational monitoring and recovery</a:t>
            </a:r>
            <a:endParaRPr lang="en-US" sz="1300" dirty="0"/>
          </a:p>
        </p:txBody>
      </p:sp>
      <p:sp>
        <p:nvSpPr>
          <p:cNvPr id="52" name="Text 49"/>
          <p:cNvSpPr txBox="1"/>
          <p:nvPr/>
        </p:nvSpPr>
        <p:spPr>
          <a:xfrm>
            <a:off x="658368" y="6565392"/>
            <a:ext cx="5303520" cy="118872"/>
          </a:xfrm>
          <a:prstGeom prst="rect">
            <a:avLst/>
          </a:prstGeom>
          <a:noFill/>
          <a:ln/>
        </p:spPr>
        <p:txBody>
          <a:bodyPr wrap="square" lIns="0" tIns="0" rIns="0" bIns="0" rtlCol="0" anchor="t">
            <a:normAutofit/>
          </a:bodyPr>
          <a:lstStyle/>
          <a:p>
            <a:pPr algn="l" indent="0" marL="0">
              <a:buNone/>
            </a:pPr>
            <a:r>
              <a:rPr lang="en-US" sz="850" dirty="0">
                <a:solidFill>
                  <a:srgbClr val="66736A"/>
                </a:solidFill>
                <a:latin typeface="Manrope" pitchFamily="34" charset="0"/>
                <a:ea typeface="Manrope" pitchFamily="34" charset="-122"/>
                <a:cs typeface="Manrope" pitchFamily="34" charset="-120"/>
              </a:rPr>
              <a:t>Implemented flow with explicit launch gates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384048" y="6510528"/>
            <a:ext cx="11402568" cy="0"/>
          </a:xfrm>
          <a:prstGeom prst="line">
            <a:avLst/>
          </a:prstGeom>
          <a:noFill/>
          <a:ln w="8890">
            <a:solidFill>
              <a:srgbClr val="D4DCD5"/>
            </a:solidFill>
            <a:prstDash val="solid"/>
          </a:ln>
        </p:spPr>
      </p:sp>
      <p:pic>
        <p:nvPicPr>
          <p:cNvPr id="3" name="Image 0" descr="/Users/tank/Downloads/Resuto-main/.codex-build/resuto-impactx-pitch/resuto-original-mark.png">    </p:cNvPr>
          <p:cNvPicPr>
            <a:picLocks noChangeAspect="1"/>
          </p:cNvPicPr>
          <p:nvPr/>
        </p:nvPicPr>
        <p:blipFill>
          <a:blip r:embed="rId1"/>
          <a:stretch>
            <a:fillRect/>
          </a:stretch>
        </p:blipFill>
        <p:spPr>
          <a:xfrm>
            <a:off x="384048" y="210312"/>
            <a:ext cx="356616" cy="338328"/>
          </a:xfrm>
          <a:prstGeom prst="rect">
            <a:avLst/>
          </a:prstGeom>
        </p:spPr>
      </p:pic>
      <p:sp>
        <p:nvSpPr>
          <p:cNvPr id="4" name="Text 1"/>
          <p:cNvSpPr txBox="1"/>
          <p:nvPr/>
        </p:nvSpPr>
        <p:spPr>
          <a:xfrm>
            <a:off x="786384" y="283464"/>
            <a:ext cx="914400" cy="164592"/>
          </a:xfrm>
          <a:prstGeom prst="rect">
            <a:avLst/>
          </a:prstGeom>
          <a:noFill/>
          <a:ln/>
        </p:spPr>
        <p:txBody>
          <a:bodyPr wrap="square" lIns="0" tIns="0" rIns="0" bIns="0" rtlCol="0" anchor="t">
            <a:normAutofit/>
          </a:bodyPr>
          <a:lstStyle/>
          <a:p>
            <a:pPr algn="l" indent="0" marL="0">
              <a:buNone/>
            </a:pPr>
            <a:r>
              <a:rPr lang="en-US" sz="900" b="1" dirty="0">
                <a:solidFill>
                  <a:srgbClr val="173F35"/>
                </a:solidFill>
                <a:latin typeface="Manrope" pitchFamily="34" charset="0"/>
                <a:ea typeface="Manrope" pitchFamily="34" charset="-122"/>
                <a:cs typeface="Manrope" pitchFamily="34" charset="-120"/>
              </a:rPr>
              <a:t>RESUTO</a:t>
            </a:r>
            <a:endParaRPr lang="en-US" sz="900" dirty="0"/>
          </a:p>
        </p:txBody>
      </p:sp>
      <p:sp>
        <p:nvSpPr>
          <p:cNvPr id="5" name="Text 2"/>
          <p:cNvSpPr txBox="1"/>
          <p:nvPr/>
        </p:nvSpPr>
        <p:spPr>
          <a:xfrm>
            <a:off x="9829800" y="274320"/>
            <a:ext cx="1691640" cy="146304"/>
          </a:xfrm>
          <a:prstGeom prst="rect">
            <a:avLst/>
          </a:prstGeom>
          <a:noFill/>
          <a:ln/>
        </p:spPr>
        <p:txBody>
          <a:bodyPr wrap="square" lIns="0" tIns="0" rIns="0" bIns="0" rtlCol="0" anchor="ctr">
            <a:normAutofit/>
          </a:bodyPr>
          <a:lstStyle/>
          <a:p>
            <a:pPr algn="r" indent="0" marL="0">
              <a:buNone/>
            </a:pPr>
            <a:r>
              <a:rPr lang="en-US" sz="850" b="1" spc="140" kern="0" dirty="0">
                <a:solidFill>
                  <a:srgbClr val="D89A32"/>
                </a:solidFill>
                <a:latin typeface="Manrope" pitchFamily="34" charset="0"/>
                <a:ea typeface="Manrope" pitchFamily="34" charset="-122"/>
                <a:cs typeface="Manrope" pitchFamily="34" charset="-120"/>
              </a:rPr>
              <a:t>GUEST EXPERIENCE</a:t>
            </a:r>
            <a:endParaRPr lang="en-US" sz="850" dirty="0"/>
          </a:p>
        </p:txBody>
      </p:sp>
      <p:sp>
        <p:nvSpPr>
          <p:cNvPr id="6" name="Text 3"/>
          <p:cNvSpPr txBox="1"/>
          <p:nvPr/>
        </p:nvSpPr>
        <p:spPr>
          <a:xfrm>
            <a:off x="658368" y="557784"/>
            <a:ext cx="10835640" cy="530352"/>
          </a:xfrm>
          <a:prstGeom prst="rect">
            <a:avLst/>
          </a:prstGeom>
          <a:noFill/>
          <a:ln/>
        </p:spPr>
        <p:txBody>
          <a:bodyPr wrap="square" lIns="0" tIns="0" rIns="0" bIns="0" rtlCol="0" anchor="t">
            <a:normAutofit/>
          </a:bodyPr>
          <a:lstStyle/>
          <a:p>
            <a:pPr algn="l" indent="0" marL="0">
              <a:buNone/>
            </a:pPr>
            <a:r>
              <a:rPr lang="en-US" sz="3000" b="1" dirty="0">
                <a:solidFill>
                  <a:srgbClr val="17231F"/>
                </a:solidFill>
                <a:latin typeface="Manrope" pitchFamily="34" charset="0"/>
                <a:ea typeface="Manrope" pitchFamily="34" charset="-122"/>
                <a:cs typeface="Manrope" pitchFamily="34" charset="-120"/>
              </a:rPr>
              <a:t>Guests choose the table, then order in context</a:t>
            </a:r>
            <a:endParaRPr lang="en-US" sz="3000" dirty="0"/>
          </a:p>
        </p:txBody>
      </p:sp>
      <p:sp>
        <p:nvSpPr>
          <p:cNvPr id="7" name="Text 4"/>
          <p:cNvSpPr txBox="1"/>
          <p:nvPr/>
        </p:nvSpPr>
        <p:spPr>
          <a:xfrm>
            <a:off x="676656" y="1097280"/>
            <a:ext cx="10469880" cy="347472"/>
          </a:xfrm>
          <a:prstGeom prst="rect">
            <a:avLst/>
          </a:prstGeom>
          <a:noFill/>
          <a:ln/>
        </p:spPr>
        <p:txBody>
          <a:bodyPr wrap="square" lIns="0" tIns="0" rIns="0" bIns="0" rtlCol="0" anchor="t">
            <a:normAutofit/>
          </a:bodyPr>
          <a:lstStyle/>
          <a:p>
            <a:pPr algn="l" indent="0" marL="0">
              <a:buNone/>
            </a:pPr>
            <a:r>
              <a:rPr lang="en-US" sz="1450" dirty="0">
                <a:solidFill>
                  <a:srgbClr val="66736A"/>
                </a:solidFill>
                <a:latin typeface="Manrope" pitchFamily="34" charset="0"/>
                <a:ea typeface="Manrope" pitchFamily="34" charset="-122"/>
                <a:cs typeface="Manrope" pitchFamily="34" charset="-120"/>
              </a:rPr>
              <a:t>The same live menu supports English, Arabic and a constrained Gemini assistant</a:t>
            </a:r>
            <a:endParaRPr lang="en-US" sz="1450" dirty="0"/>
          </a:p>
        </p:txBody>
      </p:sp>
      <p:sp>
        <p:nvSpPr>
          <p:cNvPr id="8" name="Shape 5"/>
          <p:cNvSpPr/>
          <p:nvPr/>
        </p:nvSpPr>
        <p:spPr>
          <a:xfrm>
            <a:off x="681228" y="1522476"/>
            <a:ext cx="2834640" cy="4572000"/>
          </a:xfrm>
          <a:prstGeom prst="roundRect">
            <a:avLst>
              <a:gd name="adj" fmla="val 5806"/>
            </a:avLst>
          </a:prstGeom>
          <a:solidFill>
            <a:srgbClr val="FFFFFF"/>
          </a:solidFill>
          <a:ln w="11430">
            <a:solidFill>
              <a:srgbClr val="D4DCD5"/>
            </a:solidFill>
            <a:prstDash val="solid"/>
          </a:ln>
        </p:spPr>
      </p:sp>
      <p:pic>
        <p:nvPicPr>
          <p:cNvPr id="9" name="Image 1" descr="/Users/tank/Downloads/Resuto-main/.codex-build/resuto-impactx-pitch/reserve.png">    </p:cNvPr>
          <p:cNvPicPr>
            <a:picLocks noChangeAspect="1"/>
          </p:cNvPicPr>
          <p:nvPr/>
        </p:nvPicPr>
        <p:blipFill>
          <a:blip r:embed="rId2"/>
          <a:stretch>
            <a:fillRect/>
          </a:stretch>
        </p:blipFill>
        <p:spPr>
          <a:xfrm>
            <a:off x="713232" y="1554480"/>
            <a:ext cx="2770632" cy="4507992"/>
          </a:xfrm>
          <a:prstGeom prst="rect">
            <a:avLst/>
          </a:prstGeom>
        </p:spPr>
      </p:pic>
      <p:sp>
        <p:nvSpPr>
          <p:cNvPr id="10" name="Shape 6"/>
          <p:cNvSpPr/>
          <p:nvPr/>
        </p:nvSpPr>
        <p:spPr>
          <a:xfrm>
            <a:off x="822960" y="5660136"/>
            <a:ext cx="1051560" cy="292608"/>
          </a:xfrm>
          <a:prstGeom prst="roundRect">
            <a:avLst>
              <a:gd name="adj" fmla="val 50000"/>
            </a:avLst>
          </a:prstGeom>
          <a:solidFill>
            <a:srgbClr val="173F35"/>
          </a:solidFill>
          <a:ln w="12700">
            <a:solidFill>
              <a:srgbClr val="FFFFFF">
                <a:alpha val="0"/>
              </a:srgbClr>
            </a:solidFill>
            <a:prstDash val="solid"/>
          </a:ln>
        </p:spPr>
      </p:sp>
      <p:sp>
        <p:nvSpPr>
          <p:cNvPr id="11" name="Text 7"/>
          <p:cNvSpPr txBox="1"/>
          <p:nvPr/>
        </p:nvSpPr>
        <p:spPr>
          <a:xfrm>
            <a:off x="896112" y="5669280"/>
            <a:ext cx="905256" cy="25603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Manrope" pitchFamily="34" charset="0"/>
                <a:ea typeface="Manrope" pitchFamily="34" charset="-122"/>
                <a:cs typeface="Manrope" pitchFamily="34" charset="-120"/>
              </a:rPr>
              <a:t>TABLE SELECTION</a:t>
            </a:r>
            <a:endParaRPr lang="en-US" sz="1000" dirty="0"/>
          </a:p>
        </p:txBody>
      </p:sp>
      <p:sp>
        <p:nvSpPr>
          <p:cNvPr id="12" name="Shape 8"/>
          <p:cNvSpPr/>
          <p:nvPr/>
        </p:nvSpPr>
        <p:spPr>
          <a:xfrm>
            <a:off x="3790188" y="1522476"/>
            <a:ext cx="2834640" cy="4572000"/>
          </a:xfrm>
          <a:prstGeom prst="roundRect">
            <a:avLst>
              <a:gd name="adj" fmla="val 5806"/>
            </a:avLst>
          </a:prstGeom>
          <a:solidFill>
            <a:srgbClr val="FFFFFF"/>
          </a:solidFill>
          <a:ln w="11430">
            <a:solidFill>
              <a:srgbClr val="D4DCD5"/>
            </a:solidFill>
            <a:prstDash val="solid"/>
          </a:ln>
        </p:spPr>
      </p:sp>
      <p:pic>
        <p:nvPicPr>
          <p:cNvPr id="13" name="Image 2" descr="/Users/tank/Downloads/Resuto-main/.codex-build/resuto-impactx-pitch/menu.png">    </p:cNvPr>
          <p:cNvPicPr>
            <a:picLocks noChangeAspect="1"/>
          </p:cNvPicPr>
          <p:nvPr/>
        </p:nvPicPr>
        <p:blipFill>
          <a:blip r:embed="rId3"/>
          <a:stretch>
            <a:fillRect/>
          </a:stretch>
        </p:blipFill>
        <p:spPr>
          <a:xfrm>
            <a:off x="3822192" y="1554480"/>
            <a:ext cx="2770632" cy="4507992"/>
          </a:xfrm>
          <a:prstGeom prst="rect">
            <a:avLst/>
          </a:prstGeom>
        </p:spPr>
      </p:pic>
      <p:sp>
        <p:nvSpPr>
          <p:cNvPr id="14" name="Shape 9"/>
          <p:cNvSpPr/>
          <p:nvPr/>
        </p:nvSpPr>
        <p:spPr>
          <a:xfrm>
            <a:off x="3931920" y="5660136"/>
            <a:ext cx="1051560" cy="292608"/>
          </a:xfrm>
          <a:prstGeom prst="roundRect">
            <a:avLst>
              <a:gd name="adj" fmla="val 50000"/>
            </a:avLst>
          </a:prstGeom>
          <a:solidFill>
            <a:srgbClr val="173F35"/>
          </a:solidFill>
          <a:ln w="12700">
            <a:solidFill>
              <a:srgbClr val="FFFFFF">
                <a:alpha val="0"/>
              </a:srgbClr>
            </a:solidFill>
            <a:prstDash val="solid"/>
          </a:ln>
        </p:spPr>
      </p:sp>
      <p:sp>
        <p:nvSpPr>
          <p:cNvPr id="15" name="Text 10"/>
          <p:cNvSpPr txBox="1"/>
          <p:nvPr/>
        </p:nvSpPr>
        <p:spPr>
          <a:xfrm>
            <a:off x="4005072" y="5669280"/>
            <a:ext cx="905256" cy="25603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Manrope" pitchFamily="34" charset="0"/>
                <a:ea typeface="Manrope" pitchFamily="34" charset="-122"/>
                <a:cs typeface="Manrope" pitchFamily="34" charset="-120"/>
              </a:rPr>
              <a:t>QR MENU</a:t>
            </a:r>
            <a:endParaRPr lang="en-US" sz="1000" dirty="0"/>
          </a:p>
        </p:txBody>
      </p:sp>
      <p:sp>
        <p:nvSpPr>
          <p:cNvPr id="16" name="Shape 11"/>
          <p:cNvSpPr/>
          <p:nvPr/>
        </p:nvSpPr>
        <p:spPr>
          <a:xfrm>
            <a:off x="6899148" y="1522476"/>
            <a:ext cx="2834640" cy="4572000"/>
          </a:xfrm>
          <a:prstGeom prst="roundRect">
            <a:avLst>
              <a:gd name="adj" fmla="val 5806"/>
            </a:avLst>
          </a:prstGeom>
          <a:solidFill>
            <a:srgbClr val="FFFFFF"/>
          </a:solidFill>
          <a:ln w="11430">
            <a:solidFill>
              <a:srgbClr val="D4DCD5"/>
            </a:solidFill>
            <a:prstDash val="solid"/>
          </a:ln>
        </p:spPr>
      </p:sp>
      <p:pic>
        <p:nvPicPr>
          <p:cNvPr id="17" name="Image 3" descr="/Users/tank/Downloads/Resuto-main/.codex-build/resuto-impactx-pitch/aiGuest.png">    </p:cNvPr>
          <p:cNvPicPr>
            <a:picLocks noChangeAspect="1"/>
          </p:cNvPicPr>
          <p:nvPr/>
        </p:nvPicPr>
        <p:blipFill>
          <a:blip r:embed="rId4"/>
          <a:stretch>
            <a:fillRect/>
          </a:stretch>
        </p:blipFill>
        <p:spPr>
          <a:xfrm>
            <a:off x="6931152" y="1554480"/>
            <a:ext cx="2770632" cy="4507992"/>
          </a:xfrm>
          <a:prstGeom prst="rect">
            <a:avLst/>
          </a:prstGeom>
        </p:spPr>
      </p:pic>
      <p:sp>
        <p:nvSpPr>
          <p:cNvPr id="18" name="Shape 12"/>
          <p:cNvSpPr/>
          <p:nvPr/>
        </p:nvSpPr>
        <p:spPr>
          <a:xfrm>
            <a:off x="7040880" y="5660136"/>
            <a:ext cx="1051560" cy="292608"/>
          </a:xfrm>
          <a:prstGeom prst="roundRect">
            <a:avLst>
              <a:gd name="adj" fmla="val 50000"/>
            </a:avLst>
          </a:prstGeom>
          <a:solidFill>
            <a:srgbClr val="173F35"/>
          </a:solidFill>
          <a:ln w="12700">
            <a:solidFill>
              <a:srgbClr val="FFFFFF">
                <a:alpha val="0"/>
              </a:srgbClr>
            </a:solidFill>
            <a:prstDash val="solid"/>
          </a:ln>
        </p:spPr>
      </p:sp>
      <p:sp>
        <p:nvSpPr>
          <p:cNvPr id="19" name="Text 13"/>
          <p:cNvSpPr txBox="1"/>
          <p:nvPr/>
        </p:nvSpPr>
        <p:spPr>
          <a:xfrm>
            <a:off x="7114032" y="5669280"/>
            <a:ext cx="905256" cy="25603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Manrope" pitchFamily="34" charset="0"/>
                <a:ea typeface="Manrope" pitchFamily="34" charset="-122"/>
                <a:cs typeface="Manrope" pitchFamily="34" charset="-120"/>
              </a:rPr>
              <a:t>LIVE GEMINI</a:t>
            </a:r>
            <a:endParaRPr lang="en-US" sz="1000" dirty="0"/>
          </a:p>
        </p:txBody>
      </p:sp>
      <p:sp>
        <p:nvSpPr>
          <p:cNvPr id="20" name="Shape 14"/>
          <p:cNvSpPr/>
          <p:nvPr/>
        </p:nvSpPr>
        <p:spPr>
          <a:xfrm>
            <a:off x="9966960" y="1554480"/>
            <a:ext cx="1527048" cy="4507992"/>
          </a:xfrm>
          <a:prstGeom prst="roundRect">
            <a:avLst>
              <a:gd name="adj" fmla="val 10778"/>
            </a:avLst>
          </a:prstGeom>
          <a:solidFill>
            <a:srgbClr val="173F35"/>
          </a:solidFill>
          <a:ln w="12700">
            <a:solidFill>
              <a:srgbClr val="FFFFFF">
                <a:alpha val="0"/>
              </a:srgbClr>
            </a:solidFill>
            <a:prstDash val="solid"/>
          </a:ln>
        </p:spPr>
      </p:sp>
      <p:sp>
        <p:nvSpPr>
          <p:cNvPr id="21" name="Text 15"/>
          <p:cNvSpPr txBox="1"/>
          <p:nvPr/>
        </p:nvSpPr>
        <p:spPr>
          <a:xfrm>
            <a:off x="10168128" y="1874520"/>
            <a:ext cx="1124712" cy="49377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Manrope" pitchFamily="34" charset="0"/>
                <a:ea typeface="Manrope" pitchFamily="34" charset="-122"/>
                <a:cs typeface="Manrope" pitchFamily="34" charset="-120"/>
              </a:rPr>
              <a:t>Three proofs</a:t>
            </a:r>
            <a:endParaRPr lang="en-US" sz="1800" dirty="0"/>
          </a:p>
        </p:txBody>
      </p:sp>
      <p:sp>
        <p:nvSpPr>
          <p:cNvPr id="22" name="Text 16"/>
          <p:cNvSpPr txBox="1"/>
          <p:nvPr/>
        </p:nvSpPr>
        <p:spPr>
          <a:xfrm>
            <a:off x="10168128" y="2706624"/>
            <a:ext cx="347472" cy="237744"/>
          </a:xfrm>
          <a:prstGeom prst="rect">
            <a:avLst/>
          </a:prstGeom>
          <a:noFill/>
          <a:ln/>
        </p:spPr>
        <p:txBody>
          <a:bodyPr wrap="square" lIns="0" tIns="0" rIns="0" bIns="0" rtlCol="0" anchor="ctr">
            <a:normAutofit/>
          </a:bodyPr>
          <a:lstStyle/>
          <a:p>
            <a:pPr algn="l" indent="0" marL="0">
              <a:buNone/>
            </a:pPr>
            <a:r>
              <a:rPr lang="en-US" sz="1000" b="1" dirty="0">
                <a:solidFill>
                  <a:srgbClr val="BAC879"/>
                </a:solidFill>
                <a:latin typeface="Manrope" pitchFamily="34" charset="0"/>
                <a:ea typeface="Manrope" pitchFamily="34" charset="-122"/>
                <a:cs typeface="Manrope" pitchFamily="34" charset="-120"/>
              </a:rPr>
              <a:t>01</a:t>
            </a:r>
            <a:endParaRPr lang="en-US" sz="1000" dirty="0"/>
          </a:p>
        </p:txBody>
      </p:sp>
      <p:sp>
        <p:nvSpPr>
          <p:cNvPr id="23" name="Text 17"/>
          <p:cNvSpPr txBox="1"/>
          <p:nvPr/>
        </p:nvSpPr>
        <p:spPr>
          <a:xfrm>
            <a:off x="10168128" y="2953512"/>
            <a:ext cx="1133856" cy="393192"/>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Manrope" pitchFamily="34" charset="0"/>
                <a:ea typeface="Manrope" pitchFamily="34" charset="-122"/>
                <a:cs typeface="Manrope" pitchFamily="34" charset="-120"/>
              </a:rPr>
              <a:t>Exact table</a:t>
            </a:r>
            <a:endParaRPr lang="en-US" sz="1400" dirty="0"/>
          </a:p>
        </p:txBody>
      </p:sp>
      <p:sp>
        <p:nvSpPr>
          <p:cNvPr id="24" name="Text 18"/>
          <p:cNvSpPr txBox="1"/>
          <p:nvPr/>
        </p:nvSpPr>
        <p:spPr>
          <a:xfrm>
            <a:off x="10168128" y="3584448"/>
            <a:ext cx="347472" cy="237744"/>
          </a:xfrm>
          <a:prstGeom prst="rect">
            <a:avLst/>
          </a:prstGeom>
          <a:noFill/>
          <a:ln/>
        </p:spPr>
        <p:txBody>
          <a:bodyPr wrap="square" lIns="0" tIns="0" rIns="0" bIns="0" rtlCol="0" anchor="ctr">
            <a:normAutofit/>
          </a:bodyPr>
          <a:lstStyle/>
          <a:p>
            <a:pPr algn="l" indent="0" marL="0">
              <a:buNone/>
            </a:pPr>
            <a:r>
              <a:rPr lang="en-US" sz="1000" b="1" dirty="0">
                <a:solidFill>
                  <a:srgbClr val="BAC879"/>
                </a:solidFill>
                <a:latin typeface="Manrope" pitchFamily="34" charset="0"/>
                <a:ea typeface="Manrope" pitchFamily="34" charset="-122"/>
                <a:cs typeface="Manrope" pitchFamily="34" charset="-120"/>
              </a:rPr>
              <a:t>02</a:t>
            </a:r>
            <a:endParaRPr lang="en-US" sz="1000" dirty="0"/>
          </a:p>
        </p:txBody>
      </p:sp>
      <p:sp>
        <p:nvSpPr>
          <p:cNvPr id="25" name="Text 19"/>
          <p:cNvSpPr txBox="1"/>
          <p:nvPr/>
        </p:nvSpPr>
        <p:spPr>
          <a:xfrm>
            <a:off x="10168128" y="3831336"/>
            <a:ext cx="1133856" cy="393192"/>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Manrope" pitchFamily="34" charset="0"/>
                <a:ea typeface="Manrope" pitchFamily="34" charset="-122"/>
                <a:cs typeface="Manrope" pitchFamily="34" charset="-120"/>
              </a:rPr>
              <a:t>Readable menu</a:t>
            </a:r>
            <a:endParaRPr lang="en-US" sz="1400" dirty="0"/>
          </a:p>
        </p:txBody>
      </p:sp>
      <p:sp>
        <p:nvSpPr>
          <p:cNvPr id="26" name="Text 20"/>
          <p:cNvSpPr txBox="1"/>
          <p:nvPr/>
        </p:nvSpPr>
        <p:spPr>
          <a:xfrm>
            <a:off x="10168128" y="4462272"/>
            <a:ext cx="347472" cy="237744"/>
          </a:xfrm>
          <a:prstGeom prst="rect">
            <a:avLst/>
          </a:prstGeom>
          <a:noFill/>
          <a:ln/>
        </p:spPr>
        <p:txBody>
          <a:bodyPr wrap="square" lIns="0" tIns="0" rIns="0" bIns="0" rtlCol="0" anchor="ctr">
            <a:normAutofit/>
          </a:bodyPr>
          <a:lstStyle/>
          <a:p>
            <a:pPr algn="l" indent="0" marL="0">
              <a:buNone/>
            </a:pPr>
            <a:r>
              <a:rPr lang="en-US" sz="1000" b="1" dirty="0">
                <a:solidFill>
                  <a:srgbClr val="BAC879"/>
                </a:solidFill>
                <a:latin typeface="Manrope" pitchFamily="34" charset="0"/>
                <a:ea typeface="Manrope" pitchFamily="34" charset="-122"/>
                <a:cs typeface="Manrope" pitchFamily="34" charset="-120"/>
              </a:rPr>
              <a:t>03</a:t>
            </a:r>
            <a:endParaRPr lang="en-US" sz="1000" dirty="0"/>
          </a:p>
        </p:txBody>
      </p:sp>
      <p:sp>
        <p:nvSpPr>
          <p:cNvPr id="27" name="Text 21"/>
          <p:cNvSpPr txBox="1"/>
          <p:nvPr/>
        </p:nvSpPr>
        <p:spPr>
          <a:xfrm>
            <a:off x="10168128" y="4709160"/>
            <a:ext cx="1133856" cy="393192"/>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Manrope" pitchFamily="34" charset="0"/>
                <a:ea typeface="Manrope" pitchFamily="34" charset="-122"/>
                <a:cs typeface="Manrope" pitchFamily="34" charset="-120"/>
              </a:rPr>
              <a:t>Budget held</a:t>
            </a:r>
            <a:endParaRPr lang="en-US" sz="1400" dirty="0"/>
          </a:p>
        </p:txBody>
      </p:sp>
      <p:sp>
        <p:nvSpPr>
          <p:cNvPr id="28" name="Text 22"/>
          <p:cNvSpPr txBox="1"/>
          <p:nvPr/>
        </p:nvSpPr>
        <p:spPr>
          <a:xfrm>
            <a:off x="658368" y="6565392"/>
            <a:ext cx="5303520" cy="118872"/>
          </a:xfrm>
          <a:prstGeom prst="rect">
            <a:avLst/>
          </a:prstGeom>
          <a:noFill/>
          <a:ln/>
        </p:spPr>
        <p:txBody>
          <a:bodyPr wrap="square" lIns="0" tIns="0" rIns="0" bIns="0" rtlCol="0" anchor="t">
            <a:normAutofit/>
          </a:bodyPr>
          <a:lstStyle/>
          <a:p>
            <a:pPr algn="l" indent="0" marL="0">
              <a:buNone/>
            </a:pPr>
            <a:r>
              <a:rPr lang="en-US" sz="850" dirty="0">
                <a:solidFill>
                  <a:srgbClr val="66736A"/>
                </a:solidFill>
                <a:latin typeface="Manrope" pitchFamily="34" charset="0"/>
                <a:ea typeface="Manrope" pitchFamily="34" charset="-122"/>
                <a:cs typeface="Manrope" pitchFamily="34" charset="-120"/>
              </a:rPr>
              <a:t>Fresh screenshots from the current local build</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384048" y="6510528"/>
            <a:ext cx="11402568" cy="0"/>
          </a:xfrm>
          <a:prstGeom prst="line">
            <a:avLst/>
          </a:prstGeom>
          <a:noFill/>
          <a:ln w="8890">
            <a:solidFill>
              <a:srgbClr val="D4DCD5"/>
            </a:solidFill>
            <a:prstDash val="solid"/>
          </a:ln>
        </p:spPr>
      </p:sp>
      <p:pic>
        <p:nvPicPr>
          <p:cNvPr id="3" name="Image 0" descr="/Users/tank/Downloads/Resuto-main/.codex-build/resuto-impactx-pitch/resuto-original-mark.png">    </p:cNvPr>
          <p:cNvPicPr>
            <a:picLocks noChangeAspect="1"/>
          </p:cNvPicPr>
          <p:nvPr/>
        </p:nvPicPr>
        <p:blipFill>
          <a:blip r:embed="rId1"/>
          <a:stretch>
            <a:fillRect/>
          </a:stretch>
        </p:blipFill>
        <p:spPr>
          <a:xfrm>
            <a:off x="384048" y="210312"/>
            <a:ext cx="356616" cy="338328"/>
          </a:xfrm>
          <a:prstGeom prst="rect">
            <a:avLst/>
          </a:prstGeom>
        </p:spPr>
      </p:pic>
      <p:sp>
        <p:nvSpPr>
          <p:cNvPr id="4" name="Text 1"/>
          <p:cNvSpPr txBox="1"/>
          <p:nvPr/>
        </p:nvSpPr>
        <p:spPr>
          <a:xfrm>
            <a:off x="786384" y="283464"/>
            <a:ext cx="914400" cy="164592"/>
          </a:xfrm>
          <a:prstGeom prst="rect">
            <a:avLst/>
          </a:prstGeom>
          <a:noFill/>
          <a:ln/>
        </p:spPr>
        <p:txBody>
          <a:bodyPr wrap="square" lIns="0" tIns="0" rIns="0" bIns="0" rtlCol="0" anchor="t">
            <a:normAutofit/>
          </a:bodyPr>
          <a:lstStyle/>
          <a:p>
            <a:pPr algn="l" indent="0" marL="0">
              <a:buNone/>
            </a:pPr>
            <a:r>
              <a:rPr lang="en-US" sz="900" b="1" dirty="0">
                <a:solidFill>
                  <a:srgbClr val="173F35"/>
                </a:solidFill>
                <a:latin typeface="Manrope" pitchFamily="34" charset="0"/>
                <a:ea typeface="Manrope" pitchFamily="34" charset="-122"/>
                <a:cs typeface="Manrope" pitchFamily="34" charset="-120"/>
              </a:rPr>
              <a:t>RESUTO</a:t>
            </a:r>
            <a:endParaRPr lang="en-US" sz="900" dirty="0"/>
          </a:p>
        </p:txBody>
      </p:sp>
      <p:sp>
        <p:nvSpPr>
          <p:cNvPr id="5" name="Text 2"/>
          <p:cNvSpPr txBox="1"/>
          <p:nvPr/>
        </p:nvSpPr>
        <p:spPr>
          <a:xfrm>
            <a:off x="9829800" y="274320"/>
            <a:ext cx="1691640" cy="146304"/>
          </a:xfrm>
          <a:prstGeom prst="rect">
            <a:avLst/>
          </a:prstGeom>
          <a:noFill/>
          <a:ln/>
        </p:spPr>
        <p:txBody>
          <a:bodyPr wrap="square" lIns="0" tIns="0" rIns="0" bIns="0" rtlCol="0" anchor="ctr">
            <a:normAutofit/>
          </a:bodyPr>
          <a:lstStyle/>
          <a:p>
            <a:pPr algn="r" indent="0" marL="0">
              <a:buNone/>
            </a:pPr>
            <a:r>
              <a:rPr lang="en-US" sz="850" b="1" spc="140" kern="0" dirty="0">
                <a:solidFill>
                  <a:srgbClr val="D89A32"/>
                </a:solidFill>
                <a:latin typeface="Manrope" pitchFamily="34" charset="0"/>
                <a:ea typeface="Manrope" pitchFamily="34" charset="-122"/>
                <a:cs typeface="Manrope" pitchFamily="34" charset="-120"/>
              </a:rPr>
              <a:t>OPERATIONS</a:t>
            </a:r>
            <a:endParaRPr lang="en-US" sz="850" dirty="0"/>
          </a:p>
        </p:txBody>
      </p:sp>
      <p:sp>
        <p:nvSpPr>
          <p:cNvPr id="6" name="Text 3"/>
          <p:cNvSpPr txBox="1"/>
          <p:nvPr/>
        </p:nvSpPr>
        <p:spPr>
          <a:xfrm>
            <a:off x="658368" y="557784"/>
            <a:ext cx="10835640" cy="530352"/>
          </a:xfrm>
          <a:prstGeom prst="rect">
            <a:avLst/>
          </a:prstGeom>
          <a:noFill/>
          <a:ln/>
        </p:spPr>
        <p:txBody>
          <a:bodyPr wrap="square" lIns="0" tIns="0" rIns="0" bIns="0" rtlCol="0" anchor="t">
            <a:normAutofit/>
          </a:bodyPr>
          <a:lstStyle/>
          <a:p>
            <a:pPr algn="l" indent="0" marL="0">
              <a:buNone/>
            </a:pPr>
            <a:r>
              <a:rPr lang="en-US" sz="3000" b="1" dirty="0">
                <a:solidFill>
                  <a:srgbClr val="17231F"/>
                </a:solidFill>
                <a:latin typeface="Manrope" pitchFamily="34" charset="0"/>
                <a:ea typeface="Manrope" pitchFamily="34" charset="-122"/>
                <a:cs typeface="Manrope" pitchFamily="34" charset="-120"/>
              </a:rPr>
              <a:t>Order #001 moved from guest confirmation to ready</a:t>
            </a:r>
            <a:endParaRPr lang="en-US" sz="3000" dirty="0"/>
          </a:p>
        </p:txBody>
      </p:sp>
      <p:sp>
        <p:nvSpPr>
          <p:cNvPr id="7" name="Text 4"/>
          <p:cNvSpPr txBox="1"/>
          <p:nvPr/>
        </p:nvSpPr>
        <p:spPr>
          <a:xfrm>
            <a:off x="676656" y="1097280"/>
            <a:ext cx="10469880" cy="347472"/>
          </a:xfrm>
          <a:prstGeom prst="rect">
            <a:avLst/>
          </a:prstGeom>
          <a:noFill/>
          <a:ln/>
        </p:spPr>
        <p:txBody>
          <a:bodyPr wrap="square" lIns="0" tIns="0" rIns="0" bIns="0" rtlCol="0" anchor="t">
            <a:normAutofit/>
          </a:bodyPr>
          <a:lstStyle/>
          <a:p>
            <a:pPr algn="l" indent="0" marL="0">
              <a:buNone/>
            </a:pPr>
            <a:r>
              <a:rPr lang="en-US" sz="1450" dirty="0">
                <a:solidFill>
                  <a:srgbClr val="66736A"/>
                </a:solidFill>
                <a:latin typeface="Manrope" pitchFamily="34" charset="0"/>
                <a:ea typeface="Manrope" pitchFamily="34" charset="-122"/>
                <a:cs typeface="Manrope" pitchFamily="34" charset="-120"/>
              </a:rPr>
              <a:t>A synthetic pickup order exercised the real state transition; checkout stayed visibly in test mode</a:t>
            </a:r>
            <a:endParaRPr lang="en-US" sz="1450" dirty="0"/>
          </a:p>
        </p:txBody>
      </p:sp>
      <p:sp>
        <p:nvSpPr>
          <p:cNvPr id="8" name="Shape 5"/>
          <p:cNvSpPr/>
          <p:nvPr/>
        </p:nvSpPr>
        <p:spPr>
          <a:xfrm>
            <a:off x="681228" y="1577340"/>
            <a:ext cx="2423160" cy="4379976"/>
          </a:xfrm>
          <a:prstGeom prst="roundRect">
            <a:avLst>
              <a:gd name="adj" fmla="val 6792"/>
            </a:avLst>
          </a:prstGeom>
          <a:solidFill>
            <a:srgbClr val="FFFFFF"/>
          </a:solidFill>
          <a:ln w="11430">
            <a:solidFill>
              <a:srgbClr val="D4DCD5"/>
            </a:solidFill>
            <a:prstDash val="solid"/>
          </a:ln>
        </p:spPr>
      </p:sp>
      <p:pic>
        <p:nvPicPr>
          <p:cNvPr id="9" name="Image 1" descr="/Users/tank/Downloads/Resuto-main/.codex-build/resuto-impactx-pitch/confirm.png">    </p:cNvPr>
          <p:cNvPicPr>
            <a:picLocks noChangeAspect="1"/>
          </p:cNvPicPr>
          <p:nvPr/>
        </p:nvPicPr>
        <p:blipFill>
          <a:blip r:embed="rId2"/>
          <a:stretch>
            <a:fillRect/>
          </a:stretch>
        </p:blipFill>
        <p:spPr>
          <a:xfrm>
            <a:off x="713232" y="1609344"/>
            <a:ext cx="2359152" cy="4315968"/>
          </a:xfrm>
          <a:prstGeom prst="rect">
            <a:avLst/>
          </a:prstGeom>
        </p:spPr>
      </p:pic>
      <p:sp>
        <p:nvSpPr>
          <p:cNvPr id="10" name="Shape 6"/>
          <p:cNvSpPr/>
          <p:nvPr/>
        </p:nvSpPr>
        <p:spPr>
          <a:xfrm>
            <a:off x="822960" y="5522976"/>
            <a:ext cx="1051560" cy="292608"/>
          </a:xfrm>
          <a:prstGeom prst="roundRect">
            <a:avLst>
              <a:gd name="adj" fmla="val 50000"/>
            </a:avLst>
          </a:prstGeom>
          <a:solidFill>
            <a:srgbClr val="173F35"/>
          </a:solidFill>
          <a:ln w="12700">
            <a:solidFill>
              <a:srgbClr val="FFFFFF">
                <a:alpha val="0"/>
              </a:srgbClr>
            </a:solidFill>
            <a:prstDash val="solid"/>
          </a:ln>
        </p:spPr>
      </p:sp>
      <p:sp>
        <p:nvSpPr>
          <p:cNvPr id="11" name="Text 7"/>
          <p:cNvSpPr txBox="1"/>
          <p:nvPr/>
        </p:nvSpPr>
        <p:spPr>
          <a:xfrm>
            <a:off x="896112" y="5532120"/>
            <a:ext cx="905256" cy="25603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Manrope" pitchFamily="34" charset="0"/>
                <a:ea typeface="Manrope" pitchFamily="34" charset="-122"/>
                <a:cs typeface="Manrope" pitchFamily="34" charset="-120"/>
              </a:rPr>
              <a:t>GUEST CONFIRMED</a:t>
            </a:r>
            <a:endParaRPr lang="en-US" sz="1000" dirty="0"/>
          </a:p>
        </p:txBody>
      </p:sp>
      <p:sp>
        <p:nvSpPr>
          <p:cNvPr id="12" name="Shape 8"/>
          <p:cNvSpPr/>
          <p:nvPr/>
        </p:nvSpPr>
        <p:spPr>
          <a:xfrm>
            <a:off x="3424428" y="1577340"/>
            <a:ext cx="3794760" cy="2395728"/>
          </a:xfrm>
          <a:prstGeom prst="roundRect">
            <a:avLst>
              <a:gd name="adj" fmla="val 6870"/>
            </a:avLst>
          </a:prstGeom>
          <a:solidFill>
            <a:srgbClr val="FFFFFF"/>
          </a:solidFill>
          <a:ln w="11430">
            <a:solidFill>
              <a:srgbClr val="D4DCD5"/>
            </a:solidFill>
            <a:prstDash val="solid"/>
          </a:ln>
        </p:spPr>
      </p:sp>
      <p:pic>
        <p:nvPicPr>
          <p:cNvPr id="13" name="Image 2" descr="/Users/tank/Downloads/Resuto-main/.codex-build/resuto-impactx-pitch/kNew.png">    </p:cNvPr>
          <p:cNvPicPr>
            <a:picLocks noChangeAspect="1"/>
          </p:cNvPicPr>
          <p:nvPr/>
        </p:nvPicPr>
        <p:blipFill>
          <a:blip r:embed="rId3"/>
          <a:stretch>
            <a:fillRect/>
          </a:stretch>
        </p:blipFill>
        <p:spPr>
          <a:xfrm>
            <a:off x="3456432" y="1609344"/>
            <a:ext cx="3730752" cy="2331720"/>
          </a:xfrm>
          <a:prstGeom prst="rect">
            <a:avLst/>
          </a:prstGeom>
        </p:spPr>
      </p:pic>
      <p:sp>
        <p:nvSpPr>
          <p:cNvPr id="14" name="Shape 9"/>
          <p:cNvSpPr/>
          <p:nvPr/>
        </p:nvSpPr>
        <p:spPr>
          <a:xfrm>
            <a:off x="3566160" y="3538728"/>
            <a:ext cx="1097280" cy="292608"/>
          </a:xfrm>
          <a:prstGeom prst="roundRect">
            <a:avLst>
              <a:gd name="adj" fmla="val 50000"/>
            </a:avLst>
          </a:prstGeom>
          <a:solidFill>
            <a:srgbClr val="173F35"/>
          </a:solidFill>
          <a:ln w="12700">
            <a:solidFill>
              <a:srgbClr val="FFFFFF">
                <a:alpha val="0"/>
              </a:srgbClr>
            </a:solidFill>
            <a:prstDash val="solid"/>
          </a:ln>
        </p:spPr>
      </p:sp>
      <p:sp>
        <p:nvSpPr>
          <p:cNvPr id="15" name="Text 10"/>
          <p:cNvSpPr txBox="1"/>
          <p:nvPr/>
        </p:nvSpPr>
        <p:spPr>
          <a:xfrm>
            <a:off x="3639312" y="3547872"/>
            <a:ext cx="950976" cy="25603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Manrope" pitchFamily="34" charset="0"/>
                <a:ea typeface="Manrope" pitchFamily="34" charset="-122"/>
                <a:cs typeface="Manrope" pitchFamily="34" charset="-120"/>
              </a:rPr>
              <a:t>KITCHEN RECEIVED</a:t>
            </a:r>
            <a:endParaRPr lang="en-US" sz="1000" dirty="0"/>
          </a:p>
        </p:txBody>
      </p:sp>
      <p:sp>
        <p:nvSpPr>
          <p:cNvPr id="16" name="Shape 11"/>
          <p:cNvSpPr/>
          <p:nvPr/>
        </p:nvSpPr>
        <p:spPr>
          <a:xfrm>
            <a:off x="7374636" y="1577340"/>
            <a:ext cx="3794760" cy="2395728"/>
          </a:xfrm>
          <a:prstGeom prst="roundRect">
            <a:avLst>
              <a:gd name="adj" fmla="val 6870"/>
            </a:avLst>
          </a:prstGeom>
          <a:solidFill>
            <a:srgbClr val="FFFFFF"/>
          </a:solidFill>
          <a:ln w="11430">
            <a:solidFill>
              <a:srgbClr val="D4DCD5"/>
            </a:solidFill>
            <a:prstDash val="solid"/>
          </a:ln>
        </p:spPr>
      </p:sp>
      <p:pic>
        <p:nvPicPr>
          <p:cNvPr id="17" name="Image 3" descr="/Users/tank/Downloads/Resuto-main/.codex-build/resuto-impactx-pitch/kReady.png">    </p:cNvPr>
          <p:cNvPicPr>
            <a:picLocks noChangeAspect="1"/>
          </p:cNvPicPr>
          <p:nvPr/>
        </p:nvPicPr>
        <p:blipFill>
          <a:blip r:embed="rId4"/>
          <a:stretch>
            <a:fillRect/>
          </a:stretch>
        </p:blipFill>
        <p:spPr>
          <a:xfrm>
            <a:off x="7406640" y="1609344"/>
            <a:ext cx="3730752" cy="2331720"/>
          </a:xfrm>
          <a:prstGeom prst="rect">
            <a:avLst/>
          </a:prstGeom>
        </p:spPr>
      </p:pic>
      <p:sp>
        <p:nvSpPr>
          <p:cNvPr id="18" name="Shape 12"/>
          <p:cNvSpPr/>
          <p:nvPr/>
        </p:nvSpPr>
        <p:spPr>
          <a:xfrm>
            <a:off x="7516368" y="3538728"/>
            <a:ext cx="1051560" cy="292608"/>
          </a:xfrm>
          <a:prstGeom prst="roundRect">
            <a:avLst>
              <a:gd name="adj" fmla="val 50000"/>
            </a:avLst>
          </a:prstGeom>
          <a:solidFill>
            <a:srgbClr val="173F35"/>
          </a:solidFill>
          <a:ln w="12700">
            <a:solidFill>
              <a:srgbClr val="FFFFFF">
                <a:alpha val="0"/>
              </a:srgbClr>
            </a:solidFill>
            <a:prstDash val="solid"/>
          </a:ln>
        </p:spPr>
      </p:sp>
      <p:sp>
        <p:nvSpPr>
          <p:cNvPr id="19" name="Text 13"/>
          <p:cNvSpPr txBox="1"/>
          <p:nvPr/>
        </p:nvSpPr>
        <p:spPr>
          <a:xfrm>
            <a:off x="7589520" y="3547872"/>
            <a:ext cx="905256" cy="25603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Manrope" pitchFamily="34" charset="0"/>
                <a:ea typeface="Manrope" pitchFamily="34" charset="-122"/>
                <a:cs typeface="Manrope" pitchFamily="34" charset="-120"/>
              </a:rPr>
              <a:t>READY TO SERVE</a:t>
            </a:r>
            <a:endParaRPr lang="en-US" sz="1000" dirty="0"/>
          </a:p>
        </p:txBody>
      </p:sp>
      <p:sp>
        <p:nvSpPr>
          <p:cNvPr id="20" name="Shape 14"/>
          <p:cNvSpPr/>
          <p:nvPr/>
        </p:nvSpPr>
        <p:spPr>
          <a:xfrm>
            <a:off x="3090672" y="2679192"/>
            <a:ext cx="301752" cy="0"/>
          </a:xfrm>
          <a:prstGeom prst="line">
            <a:avLst/>
          </a:prstGeom>
          <a:noFill/>
          <a:ln w="29210">
            <a:solidFill>
              <a:srgbClr val="E8763C"/>
            </a:solidFill>
            <a:prstDash val="solid"/>
            <a:tailEnd type="triangle"/>
          </a:ln>
        </p:spPr>
      </p:sp>
      <p:sp>
        <p:nvSpPr>
          <p:cNvPr id="21" name="Shape 15"/>
          <p:cNvSpPr/>
          <p:nvPr/>
        </p:nvSpPr>
        <p:spPr>
          <a:xfrm>
            <a:off x="7196328" y="2679192"/>
            <a:ext cx="164592" cy="0"/>
          </a:xfrm>
          <a:prstGeom prst="line">
            <a:avLst/>
          </a:prstGeom>
          <a:noFill/>
          <a:ln w="29210">
            <a:solidFill>
              <a:srgbClr val="E8763C"/>
            </a:solidFill>
            <a:prstDash val="solid"/>
            <a:tailEnd type="triangle"/>
          </a:ln>
        </p:spPr>
      </p:sp>
      <p:sp>
        <p:nvSpPr>
          <p:cNvPr id="22" name="Shape 16"/>
          <p:cNvSpPr/>
          <p:nvPr/>
        </p:nvSpPr>
        <p:spPr>
          <a:xfrm>
            <a:off x="3456432" y="4315968"/>
            <a:ext cx="7680960" cy="1216152"/>
          </a:xfrm>
          <a:prstGeom prst="roundRect">
            <a:avLst>
              <a:gd name="adj" fmla="val 15038"/>
            </a:avLst>
          </a:prstGeom>
          <a:solidFill>
            <a:srgbClr val="E6EFE8"/>
          </a:solidFill>
          <a:ln w="12700">
            <a:solidFill>
              <a:srgbClr val="FFFFFF">
                <a:alpha val="0"/>
              </a:srgbClr>
            </a:solidFill>
            <a:prstDash val="solid"/>
          </a:ln>
        </p:spPr>
      </p:sp>
      <p:sp>
        <p:nvSpPr>
          <p:cNvPr id="23" name="Text 17"/>
          <p:cNvSpPr txBox="1"/>
          <p:nvPr/>
        </p:nvSpPr>
        <p:spPr>
          <a:xfrm>
            <a:off x="3730752" y="4562856"/>
            <a:ext cx="2468880" cy="512064"/>
          </a:xfrm>
          <a:prstGeom prst="rect">
            <a:avLst/>
          </a:prstGeom>
          <a:noFill/>
          <a:ln/>
        </p:spPr>
        <p:txBody>
          <a:bodyPr wrap="square" lIns="0" tIns="0" rIns="0" bIns="0" rtlCol="0" anchor="ctr">
            <a:normAutofit/>
          </a:bodyPr>
          <a:lstStyle/>
          <a:p>
            <a:pPr algn="l" indent="0" marL="0">
              <a:buNone/>
            </a:pPr>
            <a:r>
              <a:rPr lang="en-US" sz="1800" b="1" dirty="0">
                <a:solidFill>
                  <a:srgbClr val="173F35"/>
                </a:solidFill>
                <a:latin typeface="Manrope" pitchFamily="34" charset="0"/>
                <a:ea typeface="Manrope" pitchFamily="34" charset="-122"/>
                <a:cs typeface="Manrope" pitchFamily="34" charset="-120"/>
              </a:rPr>
              <a:t>What the state machine protects</a:t>
            </a:r>
            <a:endParaRPr lang="en-US" sz="1800" dirty="0"/>
          </a:p>
        </p:txBody>
      </p:sp>
      <p:sp>
        <p:nvSpPr>
          <p:cNvPr id="24" name="Text 18"/>
          <p:cNvSpPr txBox="1"/>
          <p:nvPr/>
        </p:nvSpPr>
        <p:spPr>
          <a:xfrm>
            <a:off x="6309360" y="4489704"/>
            <a:ext cx="4480560" cy="658368"/>
          </a:xfrm>
          <a:prstGeom prst="rect">
            <a:avLst/>
          </a:prstGeom>
          <a:noFill/>
          <a:ln/>
        </p:spPr>
        <p:txBody>
          <a:bodyPr wrap="square" lIns="0" tIns="0" rIns="0" bIns="0" rtlCol="0" anchor="t">
            <a:normAutofit/>
          </a:bodyPr>
          <a:lstStyle/>
          <a:p>
            <a:pPr algn="l" indent="0" marL="0">
              <a:buNone/>
            </a:pPr>
            <a:r>
              <a:rPr lang="en-US" sz="1340" dirty="0">
                <a:solidFill>
                  <a:srgbClr val="17231F"/>
                </a:solidFill>
                <a:latin typeface="Manrope" pitchFamily="34" charset="0"/>
                <a:ea typeface="Manrope" pitchFamily="34" charset="-122"/>
                <a:cs typeface="Manrope" pitchFamily="34" charset="-120"/>
              </a:rPr>
              <a:t>Stale transitions are rejected. Prices stay fixed on order lines. Payment never marks food fulfilled. Closing waits for settlement and completion.</a:t>
            </a:r>
            <a:endParaRPr lang="en-US" sz="1340" dirty="0"/>
          </a:p>
        </p:txBody>
      </p:sp>
      <p:sp>
        <p:nvSpPr>
          <p:cNvPr id="25" name="Shape 19"/>
          <p:cNvSpPr/>
          <p:nvPr/>
        </p:nvSpPr>
        <p:spPr>
          <a:xfrm>
            <a:off x="786384" y="6035040"/>
            <a:ext cx="1627632" cy="292608"/>
          </a:xfrm>
          <a:prstGeom prst="roundRect">
            <a:avLst>
              <a:gd name="adj" fmla="val 50000"/>
            </a:avLst>
          </a:prstGeom>
          <a:solidFill>
            <a:srgbClr val="F8E9E2"/>
          </a:solidFill>
          <a:ln w="12700">
            <a:solidFill>
              <a:srgbClr val="FFFFFF">
                <a:alpha val="0"/>
              </a:srgbClr>
            </a:solidFill>
            <a:prstDash val="solid"/>
          </a:ln>
        </p:spPr>
      </p:sp>
      <p:sp>
        <p:nvSpPr>
          <p:cNvPr id="26" name="Text 20"/>
          <p:cNvSpPr txBox="1"/>
          <p:nvPr/>
        </p:nvSpPr>
        <p:spPr>
          <a:xfrm>
            <a:off x="859536" y="6044184"/>
            <a:ext cx="1481328" cy="256032"/>
          </a:xfrm>
          <a:prstGeom prst="rect">
            <a:avLst/>
          </a:prstGeom>
          <a:noFill/>
          <a:ln/>
        </p:spPr>
        <p:txBody>
          <a:bodyPr wrap="square" lIns="0" tIns="0" rIns="0" bIns="0" rtlCol="0" anchor="ctr">
            <a:normAutofit/>
          </a:bodyPr>
          <a:lstStyle/>
          <a:p>
            <a:pPr algn="ctr" indent="0" marL="0">
              <a:buNone/>
            </a:pPr>
            <a:r>
              <a:rPr lang="en-US" sz="1000" b="1" dirty="0">
                <a:solidFill>
                  <a:srgbClr val="B94E4E"/>
                </a:solidFill>
                <a:latin typeface="Manrope" pitchFamily="34" charset="0"/>
                <a:ea typeface="Manrope" pitchFamily="34" charset="-122"/>
                <a:cs typeface="Manrope" pitchFamily="34" charset="-120"/>
              </a:rPr>
              <a:t>TEST PAYMENT MODE</a:t>
            </a:r>
            <a:endParaRPr lang="en-US" sz="1000" dirty="0"/>
          </a:p>
        </p:txBody>
      </p:sp>
      <p:sp>
        <p:nvSpPr>
          <p:cNvPr id="27" name="Text 21"/>
          <p:cNvSpPr txBox="1"/>
          <p:nvPr/>
        </p:nvSpPr>
        <p:spPr>
          <a:xfrm>
            <a:off x="2615184" y="6035040"/>
            <a:ext cx="7909560" cy="292608"/>
          </a:xfrm>
          <a:prstGeom prst="rect">
            <a:avLst/>
          </a:prstGeom>
          <a:noFill/>
          <a:ln/>
        </p:spPr>
        <p:txBody>
          <a:bodyPr wrap="square" lIns="0" tIns="0" rIns="0" bIns="0" rtlCol="0" anchor="ctr">
            <a:normAutofit/>
          </a:bodyPr>
          <a:lstStyle/>
          <a:p>
            <a:pPr algn="l" indent="0" marL="0">
              <a:buNone/>
            </a:pPr>
            <a:r>
              <a:rPr lang="en-US" sz="1180" dirty="0">
                <a:solidFill>
                  <a:srgbClr val="B94E4E"/>
                </a:solidFill>
                <a:latin typeface="Manrope" pitchFamily="34" charset="0"/>
                <a:ea typeface="Manrope" pitchFamily="34" charset="-122"/>
                <a:cs typeface="Manrope" pitchFamily="34" charset="-120"/>
              </a:rPr>
              <a:t>Stripe and Paymob adapters plus signed callback validation exist, but no live merchant acceptance was performed.</a:t>
            </a:r>
            <a:endParaRPr lang="en-US" sz="1180" dirty="0"/>
          </a:p>
        </p:txBody>
      </p:sp>
      <p:sp>
        <p:nvSpPr>
          <p:cNvPr id="28" name="Text 22"/>
          <p:cNvSpPr txBox="1"/>
          <p:nvPr/>
        </p:nvSpPr>
        <p:spPr>
          <a:xfrm>
            <a:off x="658368" y="6565392"/>
            <a:ext cx="5303520" cy="118872"/>
          </a:xfrm>
          <a:prstGeom prst="rect">
            <a:avLst/>
          </a:prstGeom>
          <a:noFill/>
          <a:ln/>
        </p:spPr>
        <p:txBody>
          <a:bodyPr wrap="square" lIns="0" tIns="0" rIns="0" bIns="0" rtlCol="0" anchor="t">
            <a:normAutofit/>
          </a:bodyPr>
          <a:lstStyle/>
          <a:p>
            <a:pPr algn="l" indent="0" marL="0">
              <a:buNone/>
            </a:pPr>
            <a:r>
              <a:rPr lang="en-US" sz="850" dirty="0">
                <a:solidFill>
                  <a:srgbClr val="66736A"/>
                </a:solidFill>
                <a:latin typeface="Manrope" pitchFamily="34" charset="0"/>
                <a:ea typeface="Manrope" pitchFamily="34" charset="-122"/>
                <a:cs typeface="Manrope" pitchFamily="34" charset="-120"/>
              </a:rPr>
              <a:t>Synthetic demo data: IMPACT X Demo · EGP 135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384048" y="6510528"/>
            <a:ext cx="11402568" cy="0"/>
          </a:xfrm>
          <a:prstGeom prst="line">
            <a:avLst/>
          </a:prstGeom>
          <a:noFill/>
          <a:ln w="8890">
            <a:solidFill>
              <a:srgbClr val="D4DCD5"/>
            </a:solidFill>
            <a:prstDash val="solid"/>
          </a:ln>
        </p:spPr>
      </p:sp>
      <p:pic>
        <p:nvPicPr>
          <p:cNvPr id="3" name="Image 0" descr="/Users/tank/Downloads/Resuto-main/.codex-build/resuto-impactx-pitch/resuto-original-mark.png">    </p:cNvPr>
          <p:cNvPicPr>
            <a:picLocks noChangeAspect="1"/>
          </p:cNvPicPr>
          <p:nvPr/>
        </p:nvPicPr>
        <p:blipFill>
          <a:blip r:embed="rId1"/>
          <a:stretch>
            <a:fillRect/>
          </a:stretch>
        </p:blipFill>
        <p:spPr>
          <a:xfrm>
            <a:off x="384048" y="210312"/>
            <a:ext cx="356616" cy="338328"/>
          </a:xfrm>
          <a:prstGeom prst="rect">
            <a:avLst/>
          </a:prstGeom>
        </p:spPr>
      </p:pic>
      <p:sp>
        <p:nvSpPr>
          <p:cNvPr id="4" name="Text 1"/>
          <p:cNvSpPr txBox="1"/>
          <p:nvPr/>
        </p:nvSpPr>
        <p:spPr>
          <a:xfrm>
            <a:off x="786384" y="283464"/>
            <a:ext cx="914400" cy="164592"/>
          </a:xfrm>
          <a:prstGeom prst="rect">
            <a:avLst/>
          </a:prstGeom>
          <a:noFill/>
          <a:ln/>
        </p:spPr>
        <p:txBody>
          <a:bodyPr wrap="square" lIns="0" tIns="0" rIns="0" bIns="0" rtlCol="0" anchor="t">
            <a:normAutofit/>
          </a:bodyPr>
          <a:lstStyle/>
          <a:p>
            <a:pPr algn="l" indent="0" marL="0">
              <a:buNone/>
            </a:pPr>
            <a:r>
              <a:rPr lang="en-US" sz="900" b="1" dirty="0">
                <a:solidFill>
                  <a:srgbClr val="173F35"/>
                </a:solidFill>
                <a:latin typeface="Manrope" pitchFamily="34" charset="0"/>
                <a:ea typeface="Manrope" pitchFamily="34" charset="-122"/>
                <a:cs typeface="Manrope" pitchFamily="34" charset="-120"/>
              </a:rPr>
              <a:t>RESUTO</a:t>
            </a:r>
            <a:endParaRPr lang="en-US" sz="900" dirty="0"/>
          </a:p>
        </p:txBody>
      </p:sp>
      <p:sp>
        <p:nvSpPr>
          <p:cNvPr id="5" name="Text 2"/>
          <p:cNvSpPr txBox="1"/>
          <p:nvPr/>
        </p:nvSpPr>
        <p:spPr>
          <a:xfrm>
            <a:off x="9829800" y="274320"/>
            <a:ext cx="1691640" cy="146304"/>
          </a:xfrm>
          <a:prstGeom prst="rect">
            <a:avLst/>
          </a:prstGeom>
          <a:noFill/>
          <a:ln/>
        </p:spPr>
        <p:txBody>
          <a:bodyPr wrap="square" lIns="0" tIns="0" rIns="0" bIns="0" rtlCol="0" anchor="ctr">
            <a:normAutofit/>
          </a:bodyPr>
          <a:lstStyle/>
          <a:p>
            <a:pPr algn="r" indent="0" marL="0">
              <a:buNone/>
            </a:pPr>
            <a:r>
              <a:rPr lang="en-US" sz="850" b="1" spc="140" kern="0" dirty="0">
                <a:solidFill>
                  <a:srgbClr val="D89A32"/>
                </a:solidFill>
                <a:latin typeface="Manrope" pitchFamily="34" charset="0"/>
                <a:ea typeface="Manrope" pitchFamily="34" charset="-122"/>
                <a:cs typeface="Manrope" pitchFamily="34" charset="-120"/>
              </a:rPr>
              <a:t>GOOGLE TECHNOLOGY</a:t>
            </a:r>
            <a:endParaRPr lang="en-US" sz="850" dirty="0"/>
          </a:p>
        </p:txBody>
      </p:sp>
      <p:sp>
        <p:nvSpPr>
          <p:cNvPr id="6" name="Text 3"/>
          <p:cNvSpPr txBox="1"/>
          <p:nvPr/>
        </p:nvSpPr>
        <p:spPr>
          <a:xfrm>
            <a:off x="658368" y="557784"/>
            <a:ext cx="10835640" cy="530352"/>
          </a:xfrm>
          <a:prstGeom prst="rect">
            <a:avLst/>
          </a:prstGeom>
          <a:noFill/>
          <a:ln/>
        </p:spPr>
        <p:txBody>
          <a:bodyPr wrap="square" lIns="0" tIns="0" rIns="0" bIns="0" rtlCol="0" anchor="t">
            <a:normAutofit/>
          </a:bodyPr>
          <a:lstStyle/>
          <a:p>
            <a:pPr algn="l" indent="0" marL="0">
              <a:buNone/>
            </a:pPr>
            <a:r>
              <a:rPr lang="en-US" sz="3000" b="1" dirty="0">
                <a:solidFill>
                  <a:srgbClr val="17231F"/>
                </a:solidFill>
                <a:latin typeface="Manrope" pitchFamily="34" charset="0"/>
                <a:ea typeface="Manrope" pitchFamily="34" charset="-122"/>
                <a:cs typeface="Manrope" pitchFamily="34" charset="-120"/>
              </a:rPr>
              <a:t>Gemini drafts decisions; people approve the action</a:t>
            </a:r>
            <a:endParaRPr lang="en-US" sz="3000" dirty="0"/>
          </a:p>
        </p:txBody>
      </p:sp>
      <p:sp>
        <p:nvSpPr>
          <p:cNvPr id="7" name="Text 4"/>
          <p:cNvSpPr txBox="1"/>
          <p:nvPr/>
        </p:nvSpPr>
        <p:spPr>
          <a:xfrm>
            <a:off x="676656" y="1097280"/>
            <a:ext cx="10469880" cy="347472"/>
          </a:xfrm>
          <a:prstGeom prst="rect">
            <a:avLst/>
          </a:prstGeom>
          <a:noFill/>
          <a:ln/>
        </p:spPr>
        <p:txBody>
          <a:bodyPr wrap="square" lIns="0" tIns="0" rIns="0" bIns="0" rtlCol="0" anchor="t">
            <a:normAutofit/>
          </a:bodyPr>
          <a:lstStyle/>
          <a:p>
            <a:pPr algn="l" indent="0" marL="0">
              <a:buNone/>
            </a:pPr>
            <a:r>
              <a:rPr lang="en-US" sz="1450" dirty="0">
                <a:solidFill>
                  <a:srgbClr val="66736A"/>
                </a:solidFill>
                <a:latin typeface="Manrope" pitchFamily="34" charset="0"/>
                <a:ea typeface="Manrope" pitchFamily="34" charset="-122"/>
                <a:cs typeface="Manrope" pitchFamily="34" charset="-120"/>
              </a:rPr>
              <a:t>Two live uses were verified: guest recommendations and manager menu extraction</a:t>
            </a:r>
            <a:endParaRPr lang="en-US" sz="1450" dirty="0"/>
          </a:p>
        </p:txBody>
      </p:sp>
      <p:sp>
        <p:nvSpPr>
          <p:cNvPr id="8" name="Shape 5"/>
          <p:cNvSpPr/>
          <p:nvPr/>
        </p:nvSpPr>
        <p:spPr>
          <a:xfrm>
            <a:off x="681228" y="1540764"/>
            <a:ext cx="3191256" cy="4590288"/>
          </a:xfrm>
          <a:prstGeom prst="roundRect">
            <a:avLst>
              <a:gd name="adj" fmla="val 5158"/>
            </a:avLst>
          </a:prstGeom>
          <a:solidFill>
            <a:srgbClr val="FFFFFF"/>
          </a:solidFill>
          <a:ln w="11430">
            <a:solidFill>
              <a:srgbClr val="D4DCD5"/>
            </a:solidFill>
            <a:prstDash val="solid"/>
          </a:ln>
        </p:spPr>
      </p:sp>
      <p:pic>
        <p:nvPicPr>
          <p:cNvPr id="9" name="Image 1" descr="/Users/tank/Downloads/Resuto-main/.codex-build/resuto-impactx-pitch/aiGuest.png">    </p:cNvPr>
          <p:cNvPicPr>
            <a:picLocks noChangeAspect="1"/>
          </p:cNvPicPr>
          <p:nvPr/>
        </p:nvPicPr>
        <p:blipFill>
          <a:blip r:embed="rId2"/>
          <a:stretch>
            <a:fillRect/>
          </a:stretch>
        </p:blipFill>
        <p:spPr>
          <a:xfrm>
            <a:off x="713232" y="1572768"/>
            <a:ext cx="3127248" cy="4526280"/>
          </a:xfrm>
          <a:prstGeom prst="rect">
            <a:avLst/>
          </a:prstGeom>
        </p:spPr>
      </p:pic>
      <p:sp>
        <p:nvSpPr>
          <p:cNvPr id="10" name="Shape 6"/>
          <p:cNvSpPr/>
          <p:nvPr/>
        </p:nvSpPr>
        <p:spPr>
          <a:xfrm>
            <a:off x="822960" y="5696712"/>
            <a:ext cx="1371600" cy="292608"/>
          </a:xfrm>
          <a:prstGeom prst="roundRect">
            <a:avLst>
              <a:gd name="adj" fmla="val 50000"/>
            </a:avLst>
          </a:prstGeom>
          <a:solidFill>
            <a:srgbClr val="173F35"/>
          </a:solidFill>
          <a:ln w="12700">
            <a:solidFill>
              <a:srgbClr val="FFFFFF">
                <a:alpha val="0"/>
              </a:srgbClr>
            </a:solidFill>
            <a:prstDash val="solid"/>
          </a:ln>
        </p:spPr>
      </p:sp>
      <p:sp>
        <p:nvSpPr>
          <p:cNvPr id="11" name="Text 7"/>
          <p:cNvSpPr txBox="1"/>
          <p:nvPr/>
        </p:nvSpPr>
        <p:spPr>
          <a:xfrm>
            <a:off x="896112" y="5705856"/>
            <a:ext cx="1225296" cy="25603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Manrope" pitchFamily="34" charset="0"/>
                <a:ea typeface="Manrope" pitchFamily="34" charset="-122"/>
                <a:cs typeface="Manrope" pitchFamily="34" charset="-120"/>
              </a:rPr>
              <a:t>GUEST RECOMMENDATION</a:t>
            </a:r>
            <a:endParaRPr lang="en-US" sz="1000" dirty="0"/>
          </a:p>
        </p:txBody>
      </p:sp>
      <p:sp>
        <p:nvSpPr>
          <p:cNvPr id="12" name="Shape 8"/>
          <p:cNvSpPr/>
          <p:nvPr/>
        </p:nvSpPr>
        <p:spPr>
          <a:xfrm>
            <a:off x="6807708" y="1540764"/>
            <a:ext cx="4681728" cy="2971800"/>
          </a:xfrm>
          <a:prstGeom prst="roundRect">
            <a:avLst>
              <a:gd name="adj" fmla="val 5538"/>
            </a:avLst>
          </a:prstGeom>
          <a:solidFill>
            <a:srgbClr val="FFFFFF"/>
          </a:solidFill>
          <a:ln w="11430">
            <a:solidFill>
              <a:srgbClr val="D4DCD5"/>
            </a:solidFill>
            <a:prstDash val="solid"/>
          </a:ln>
        </p:spPr>
      </p:sp>
      <p:pic>
        <p:nvPicPr>
          <p:cNvPr id="13" name="Image 2" descr="/Users/tank/Downloads/Resuto-main/.codex-build/resuto-impactx-pitch/aiImport.png">    </p:cNvPr>
          <p:cNvPicPr>
            <a:picLocks noChangeAspect="1"/>
          </p:cNvPicPr>
          <p:nvPr/>
        </p:nvPicPr>
        <p:blipFill>
          <a:blip r:embed="rId3"/>
          <a:stretch>
            <a:fillRect/>
          </a:stretch>
        </p:blipFill>
        <p:spPr>
          <a:xfrm>
            <a:off x="6839712" y="1572768"/>
            <a:ext cx="4617720" cy="2907792"/>
          </a:xfrm>
          <a:prstGeom prst="rect">
            <a:avLst/>
          </a:prstGeom>
        </p:spPr>
      </p:pic>
      <p:sp>
        <p:nvSpPr>
          <p:cNvPr id="14" name="Shape 9"/>
          <p:cNvSpPr/>
          <p:nvPr/>
        </p:nvSpPr>
        <p:spPr>
          <a:xfrm>
            <a:off x="6949440" y="4078224"/>
            <a:ext cx="1371600" cy="292608"/>
          </a:xfrm>
          <a:prstGeom prst="roundRect">
            <a:avLst>
              <a:gd name="adj" fmla="val 50000"/>
            </a:avLst>
          </a:prstGeom>
          <a:solidFill>
            <a:srgbClr val="173F35"/>
          </a:solidFill>
          <a:ln w="12700">
            <a:solidFill>
              <a:srgbClr val="FFFFFF">
                <a:alpha val="0"/>
              </a:srgbClr>
            </a:solidFill>
            <a:prstDash val="solid"/>
          </a:ln>
        </p:spPr>
      </p:sp>
      <p:sp>
        <p:nvSpPr>
          <p:cNvPr id="15" name="Text 10"/>
          <p:cNvSpPr txBox="1"/>
          <p:nvPr/>
        </p:nvSpPr>
        <p:spPr>
          <a:xfrm>
            <a:off x="7022592" y="4087368"/>
            <a:ext cx="1225296" cy="25603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Manrope" pitchFamily="34" charset="0"/>
                <a:ea typeface="Manrope" pitchFamily="34" charset="-122"/>
                <a:cs typeface="Manrope" pitchFamily="34" charset="-120"/>
              </a:rPr>
              <a:t>MANAGER REVIEW DRAFT</a:t>
            </a:r>
            <a:endParaRPr lang="en-US" sz="1000" dirty="0"/>
          </a:p>
        </p:txBody>
      </p:sp>
      <p:sp>
        <p:nvSpPr>
          <p:cNvPr id="16" name="Text 11"/>
          <p:cNvSpPr txBox="1"/>
          <p:nvPr/>
        </p:nvSpPr>
        <p:spPr>
          <a:xfrm>
            <a:off x="4133088" y="1737360"/>
            <a:ext cx="365760" cy="329184"/>
          </a:xfrm>
          <a:prstGeom prst="rect">
            <a:avLst/>
          </a:prstGeom>
          <a:noFill/>
          <a:ln/>
        </p:spPr>
        <p:txBody>
          <a:bodyPr wrap="square" lIns="0" tIns="0" rIns="0" bIns="0" rtlCol="0" anchor="ctr">
            <a:normAutofit/>
          </a:bodyPr>
          <a:lstStyle/>
          <a:p>
            <a:pPr algn="ctr" indent="0" marL="0">
              <a:buNone/>
            </a:pPr>
            <a:r>
              <a:rPr lang="en-US" sz="1500" b="1" dirty="0">
                <a:solidFill>
                  <a:srgbClr val="E8763C"/>
                </a:solidFill>
                <a:latin typeface="Manrope" pitchFamily="34" charset="0"/>
                <a:ea typeface="Manrope" pitchFamily="34" charset="-122"/>
                <a:cs typeface="Manrope" pitchFamily="34" charset="-120"/>
              </a:rPr>
              <a:t>1</a:t>
            </a:r>
            <a:endParaRPr lang="en-US" sz="1500" dirty="0"/>
          </a:p>
        </p:txBody>
      </p:sp>
      <p:sp>
        <p:nvSpPr>
          <p:cNvPr id="17" name="Text 12"/>
          <p:cNvSpPr txBox="1"/>
          <p:nvPr/>
        </p:nvSpPr>
        <p:spPr>
          <a:xfrm>
            <a:off x="4636008" y="1719072"/>
            <a:ext cx="1920240" cy="310896"/>
          </a:xfrm>
          <a:prstGeom prst="rect">
            <a:avLst/>
          </a:prstGeom>
          <a:noFill/>
          <a:ln/>
        </p:spPr>
        <p:txBody>
          <a:bodyPr wrap="square" lIns="0" tIns="0" rIns="0" bIns="0" rtlCol="0" anchor="ctr">
            <a:normAutofit/>
          </a:bodyPr>
          <a:lstStyle/>
          <a:p>
            <a:pPr algn="l" indent="0" marL="0">
              <a:buNone/>
            </a:pPr>
            <a:r>
              <a:rPr lang="en-US" sz="1600" b="1" dirty="0">
                <a:solidFill>
                  <a:srgbClr val="173F35"/>
                </a:solidFill>
                <a:latin typeface="Manrope" pitchFamily="34" charset="0"/>
                <a:ea typeface="Manrope" pitchFamily="34" charset="-122"/>
                <a:cs typeface="Manrope" pitchFamily="34" charset="-120"/>
              </a:rPr>
              <a:t>Structured input</a:t>
            </a:r>
            <a:endParaRPr lang="en-US" sz="1600" dirty="0"/>
          </a:p>
        </p:txBody>
      </p:sp>
      <p:sp>
        <p:nvSpPr>
          <p:cNvPr id="18" name="Text 13"/>
          <p:cNvSpPr txBox="1"/>
          <p:nvPr/>
        </p:nvSpPr>
        <p:spPr>
          <a:xfrm>
            <a:off x="4636008" y="2103120"/>
            <a:ext cx="1920240" cy="475488"/>
          </a:xfrm>
          <a:prstGeom prst="rect">
            <a:avLst/>
          </a:prstGeom>
          <a:noFill/>
          <a:ln/>
        </p:spPr>
        <p:txBody>
          <a:bodyPr wrap="square" lIns="0" tIns="0" rIns="0" bIns="0" rtlCol="0" anchor="t">
            <a:normAutofit/>
          </a:bodyPr>
          <a:lstStyle/>
          <a:p>
            <a:pPr algn="l" indent="0" marL="0">
              <a:buNone/>
            </a:pPr>
            <a:r>
              <a:rPr lang="en-US" sz="1180" dirty="0">
                <a:solidFill>
                  <a:srgbClr val="66736A"/>
                </a:solidFill>
                <a:latin typeface="Manrope" pitchFamily="34" charset="0"/>
                <a:ea typeface="Manrope" pitchFamily="34" charset="-122"/>
                <a:cs typeface="Manrope" pitchFamily="34" charset="-120"/>
              </a:rPr>
              <a:t>Current menu, stock, budget and constraints</a:t>
            </a:r>
            <a:endParaRPr lang="en-US" sz="1180" dirty="0"/>
          </a:p>
        </p:txBody>
      </p:sp>
      <p:sp>
        <p:nvSpPr>
          <p:cNvPr id="19" name="Text 14"/>
          <p:cNvSpPr txBox="1"/>
          <p:nvPr/>
        </p:nvSpPr>
        <p:spPr>
          <a:xfrm>
            <a:off x="4133088" y="2990088"/>
            <a:ext cx="365760" cy="329184"/>
          </a:xfrm>
          <a:prstGeom prst="rect">
            <a:avLst/>
          </a:prstGeom>
          <a:noFill/>
          <a:ln/>
        </p:spPr>
        <p:txBody>
          <a:bodyPr wrap="square" lIns="0" tIns="0" rIns="0" bIns="0" rtlCol="0" anchor="ctr">
            <a:normAutofit/>
          </a:bodyPr>
          <a:lstStyle/>
          <a:p>
            <a:pPr algn="ctr" indent="0" marL="0">
              <a:buNone/>
            </a:pPr>
            <a:r>
              <a:rPr lang="en-US" sz="1500" b="1" dirty="0">
                <a:solidFill>
                  <a:srgbClr val="E8763C"/>
                </a:solidFill>
                <a:latin typeface="Manrope" pitchFamily="34" charset="0"/>
                <a:ea typeface="Manrope" pitchFamily="34" charset="-122"/>
                <a:cs typeface="Manrope" pitchFamily="34" charset="-120"/>
              </a:rPr>
              <a:t>2</a:t>
            </a:r>
            <a:endParaRPr lang="en-US" sz="1500" dirty="0"/>
          </a:p>
        </p:txBody>
      </p:sp>
      <p:sp>
        <p:nvSpPr>
          <p:cNvPr id="20" name="Text 15"/>
          <p:cNvSpPr txBox="1"/>
          <p:nvPr/>
        </p:nvSpPr>
        <p:spPr>
          <a:xfrm>
            <a:off x="4636008" y="2971800"/>
            <a:ext cx="1920240" cy="310896"/>
          </a:xfrm>
          <a:prstGeom prst="rect">
            <a:avLst/>
          </a:prstGeom>
          <a:noFill/>
          <a:ln/>
        </p:spPr>
        <p:txBody>
          <a:bodyPr wrap="square" lIns="0" tIns="0" rIns="0" bIns="0" rtlCol="0" anchor="ctr">
            <a:normAutofit/>
          </a:bodyPr>
          <a:lstStyle/>
          <a:p>
            <a:pPr algn="l" indent="0" marL="0">
              <a:buNone/>
            </a:pPr>
            <a:r>
              <a:rPr lang="en-US" sz="1600" b="1" dirty="0">
                <a:solidFill>
                  <a:srgbClr val="173F35"/>
                </a:solidFill>
                <a:latin typeface="Manrope" pitchFamily="34" charset="0"/>
                <a:ea typeface="Manrope" pitchFamily="34" charset="-122"/>
                <a:cs typeface="Manrope" pitchFamily="34" charset="-120"/>
              </a:rPr>
              <a:t>Validated output</a:t>
            </a:r>
            <a:endParaRPr lang="en-US" sz="1600" dirty="0"/>
          </a:p>
        </p:txBody>
      </p:sp>
      <p:sp>
        <p:nvSpPr>
          <p:cNvPr id="21" name="Text 16"/>
          <p:cNvSpPr txBox="1"/>
          <p:nvPr/>
        </p:nvSpPr>
        <p:spPr>
          <a:xfrm>
            <a:off x="4636008" y="3355848"/>
            <a:ext cx="1920240" cy="475488"/>
          </a:xfrm>
          <a:prstGeom prst="rect">
            <a:avLst/>
          </a:prstGeom>
          <a:noFill/>
          <a:ln/>
        </p:spPr>
        <p:txBody>
          <a:bodyPr wrap="square" lIns="0" tIns="0" rIns="0" bIns="0" rtlCol="0" anchor="t">
            <a:normAutofit/>
          </a:bodyPr>
          <a:lstStyle/>
          <a:p>
            <a:pPr algn="l" indent="0" marL="0">
              <a:buNone/>
            </a:pPr>
            <a:r>
              <a:rPr lang="en-US" sz="1180" dirty="0">
                <a:solidFill>
                  <a:srgbClr val="66736A"/>
                </a:solidFill>
                <a:latin typeface="Manrope" pitchFamily="34" charset="0"/>
                <a:ea typeface="Manrope" pitchFamily="34" charset="-122"/>
                <a:cs typeface="Manrope" pitchFamily="34" charset="-120"/>
              </a:rPr>
              <a:t>Known item IDs, quantities and price ceiling</a:t>
            </a:r>
            <a:endParaRPr lang="en-US" sz="1180" dirty="0"/>
          </a:p>
        </p:txBody>
      </p:sp>
      <p:sp>
        <p:nvSpPr>
          <p:cNvPr id="22" name="Text 17"/>
          <p:cNvSpPr txBox="1"/>
          <p:nvPr/>
        </p:nvSpPr>
        <p:spPr>
          <a:xfrm>
            <a:off x="4133088" y="4242816"/>
            <a:ext cx="365760" cy="329184"/>
          </a:xfrm>
          <a:prstGeom prst="rect">
            <a:avLst/>
          </a:prstGeom>
          <a:noFill/>
          <a:ln/>
        </p:spPr>
        <p:txBody>
          <a:bodyPr wrap="square" lIns="0" tIns="0" rIns="0" bIns="0" rtlCol="0" anchor="ctr">
            <a:normAutofit/>
          </a:bodyPr>
          <a:lstStyle/>
          <a:p>
            <a:pPr algn="ctr" indent="0" marL="0">
              <a:buNone/>
            </a:pPr>
            <a:r>
              <a:rPr lang="en-US" sz="1500" b="1" dirty="0">
                <a:solidFill>
                  <a:srgbClr val="E8763C"/>
                </a:solidFill>
                <a:latin typeface="Manrope" pitchFamily="34" charset="0"/>
                <a:ea typeface="Manrope" pitchFamily="34" charset="-122"/>
                <a:cs typeface="Manrope" pitchFamily="34" charset="-120"/>
              </a:rPr>
              <a:t>3</a:t>
            </a:r>
            <a:endParaRPr lang="en-US" sz="1500" dirty="0"/>
          </a:p>
        </p:txBody>
      </p:sp>
      <p:sp>
        <p:nvSpPr>
          <p:cNvPr id="23" name="Text 18"/>
          <p:cNvSpPr txBox="1"/>
          <p:nvPr/>
        </p:nvSpPr>
        <p:spPr>
          <a:xfrm>
            <a:off x="4636008" y="4224528"/>
            <a:ext cx="1920240" cy="310896"/>
          </a:xfrm>
          <a:prstGeom prst="rect">
            <a:avLst/>
          </a:prstGeom>
          <a:noFill/>
          <a:ln/>
        </p:spPr>
        <p:txBody>
          <a:bodyPr wrap="square" lIns="0" tIns="0" rIns="0" bIns="0" rtlCol="0" anchor="ctr">
            <a:normAutofit/>
          </a:bodyPr>
          <a:lstStyle/>
          <a:p>
            <a:pPr algn="l" indent="0" marL="0">
              <a:buNone/>
            </a:pPr>
            <a:r>
              <a:rPr lang="en-US" sz="1600" b="1" dirty="0">
                <a:solidFill>
                  <a:srgbClr val="173F35"/>
                </a:solidFill>
                <a:latin typeface="Manrope" pitchFamily="34" charset="0"/>
                <a:ea typeface="Manrope" pitchFamily="34" charset="-122"/>
                <a:cs typeface="Manrope" pitchFamily="34" charset="-120"/>
              </a:rPr>
              <a:t>Human control</a:t>
            </a:r>
            <a:endParaRPr lang="en-US" sz="1600" dirty="0"/>
          </a:p>
        </p:txBody>
      </p:sp>
      <p:sp>
        <p:nvSpPr>
          <p:cNvPr id="24" name="Text 19"/>
          <p:cNvSpPr txBox="1"/>
          <p:nvPr/>
        </p:nvSpPr>
        <p:spPr>
          <a:xfrm>
            <a:off x="4636008" y="4608576"/>
            <a:ext cx="1920240" cy="475488"/>
          </a:xfrm>
          <a:prstGeom prst="rect">
            <a:avLst/>
          </a:prstGeom>
          <a:noFill/>
          <a:ln/>
        </p:spPr>
        <p:txBody>
          <a:bodyPr wrap="square" lIns="0" tIns="0" rIns="0" bIns="0" rtlCol="0" anchor="t">
            <a:normAutofit/>
          </a:bodyPr>
          <a:lstStyle/>
          <a:p>
            <a:pPr algn="l" indent="0" marL="0">
              <a:buNone/>
            </a:pPr>
            <a:r>
              <a:rPr lang="en-US" sz="1180" dirty="0">
                <a:solidFill>
                  <a:srgbClr val="66736A"/>
                </a:solidFill>
                <a:latin typeface="Manrope" pitchFamily="34" charset="0"/>
                <a:ea typeface="Manrope" pitchFamily="34" charset="-122"/>
                <a:cs typeface="Manrope" pitchFamily="34" charset="-120"/>
              </a:rPr>
              <a:t>Review, edit, approve, then publish or order</a:t>
            </a:r>
            <a:endParaRPr lang="en-US" sz="1180" dirty="0"/>
          </a:p>
        </p:txBody>
      </p:sp>
      <p:sp>
        <p:nvSpPr>
          <p:cNvPr id="25" name="Shape 20"/>
          <p:cNvSpPr/>
          <p:nvPr/>
        </p:nvSpPr>
        <p:spPr>
          <a:xfrm>
            <a:off x="6839712" y="4791456"/>
            <a:ext cx="4617720" cy="1033272"/>
          </a:xfrm>
          <a:prstGeom prst="roundRect">
            <a:avLst>
              <a:gd name="adj" fmla="val 15929"/>
            </a:avLst>
          </a:prstGeom>
          <a:solidFill>
            <a:srgbClr val="173F35"/>
          </a:solidFill>
          <a:ln w="12700">
            <a:solidFill>
              <a:srgbClr val="FFFFFF">
                <a:alpha val="0"/>
              </a:srgbClr>
            </a:solidFill>
            <a:prstDash val="solid"/>
          </a:ln>
        </p:spPr>
      </p:sp>
      <p:sp>
        <p:nvSpPr>
          <p:cNvPr id="26" name="Text 21"/>
          <p:cNvSpPr txBox="1"/>
          <p:nvPr/>
        </p:nvSpPr>
        <p:spPr>
          <a:xfrm>
            <a:off x="7114032" y="4928616"/>
            <a:ext cx="1847088" cy="493776"/>
          </a:xfrm>
          <a:prstGeom prst="rect">
            <a:avLst/>
          </a:prstGeom>
          <a:noFill/>
          <a:ln/>
        </p:spPr>
        <p:txBody>
          <a:bodyPr wrap="square" lIns="0" tIns="0" rIns="0" bIns="0" rtlCol="0" anchor="ctr">
            <a:normAutofit/>
          </a:bodyPr>
          <a:lstStyle/>
          <a:p>
            <a:pPr algn="l" indent="0" marL="0">
              <a:buNone/>
            </a:pPr>
            <a:r>
              <a:rPr lang="en-US" sz="1550" b="1" dirty="0">
                <a:solidFill>
                  <a:srgbClr val="FFFFFF"/>
                </a:solidFill>
                <a:latin typeface="Manrope" pitchFamily="34" charset="0"/>
                <a:ea typeface="Manrope" pitchFamily="34" charset="-122"/>
                <a:cs typeface="Manrope" pitchFamily="34" charset="-120"/>
              </a:rPr>
              <a:t>Fallback is part of the product</a:t>
            </a:r>
            <a:endParaRPr lang="en-US" sz="1550" dirty="0"/>
          </a:p>
        </p:txBody>
      </p:sp>
      <p:sp>
        <p:nvSpPr>
          <p:cNvPr id="27" name="Text 22"/>
          <p:cNvSpPr txBox="1"/>
          <p:nvPr/>
        </p:nvSpPr>
        <p:spPr>
          <a:xfrm>
            <a:off x="9125712" y="4901184"/>
            <a:ext cx="1947672" cy="585216"/>
          </a:xfrm>
          <a:prstGeom prst="rect">
            <a:avLst/>
          </a:prstGeom>
          <a:noFill/>
          <a:ln/>
        </p:spPr>
        <p:txBody>
          <a:bodyPr wrap="square" lIns="0" tIns="0" rIns="0" bIns="0" rtlCol="0" anchor="t">
            <a:normAutofit/>
          </a:bodyPr>
          <a:lstStyle/>
          <a:p>
            <a:pPr algn="l" indent="0" marL="0">
              <a:buNone/>
            </a:pPr>
            <a:r>
              <a:rPr lang="en-US" sz="1070" dirty="0">
                <a:solidFill>
                  <a:srgbClr val="D8E4D9"/>
                </a:solidFill>
                <a:latin typeface="Manrope" pitchFamily="34" charset="0"/>
                <a:ea typeface="Manrope" pitchFamily="34" charset="-122"/>
                <a:cs typeface="Manrope" pitchFamily="34" charset="-120"/>
              </a:rPr>
              <a:t>Provider failure returns labeled demo rules. No draft publishes automatically.</a:t>
            </a:r>
            <a:endParaRPr lang="en-US" sz="1070" dirty="0"/>
          </a:p>
        </p:txBody>
      </p:sp>
      <p:sp>
        <p:nvSpPr>
          <p:cNvPr id="28" name="Text 23"/>
          <p:cNvSpPr txBox="1"/>
          <p:nvPr/>
        </p:nvSpPr>
        <p:spPr>
          <a:xfrm>
            <a:off x="658368" y="6565392"/>
            <a:ext cx="5303520" cy="118872"/>
          </a:xfrm>
          <a:prstGeom prst="rect">
            <a:avLst/>
          </a:prstGeom>
          <a:noFill/>
          <a:ln/>
        </p:spPr>
        <p:txBody>
          <a:bodyPr wrap="square" lIns="0" tIns="0" rIns="0" bIns="0" rtlCol="0" anchor="t">
            <a:normAutofit/>
          </a:bodyPr>
          <a:lstStyle/>
          <a:p>
            <a:pPr algn="l" indent="0" marL="0">
              <a:buNone/>
            </a:pPr>
            <a:r>
              <a:rPr lang="en-US" sz="850" dirty="0">
                <a:solidFill>
                  <a:srgbClr val="66736A"/>
                </a:solidFill>
                <a:latin typeface="Manrope" pitchFamily="34" charset="0"/>
                <a:ea typeface="Manrope" pitchFamily="34" charset="-122"/>
                <a:cs typeface="Manrope" pitchFamily="34" charset="-120"/>
              </a:rPr>
              <a:t>Google value: faster setup and safer choices inside the workflow</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384048" y="6510528"/>
            <a:ext cx="11402568" cy="0"/>
          </a:xfrm>
          <a:prstGeom prst="line">
            <a:avLst/>
          </a:prstGeom>
          <a:noFill/>
          <a:ln w="8890">
            <a:solidFill>
              <a:srgbClr val="D4DCD5"/>
            </a:solidFill>
            <a:prstDash val="solid"/>
          </a:ln>
        </p:spPr>
      </p:sp>
      <p:pic>
        <p:nvPicPr>
          <p:cNvPr id="3" name="Image 0" descr="/Users/tank/Downloads/Resuto-main/.codex-build/resuto-impactx-pitch/resuto-original-mark.png">    </p:cNvPr>
          <p:cNvPicPr>
            <a:picLocks noChangeAspect="1"/>
          </p:cNvPicPr>
          <p:nvPr/>
        </p:nvPicPr>
        <p:blipFill>
          <a:blip r:embed="rId1"/>
          <a:stretch>
            <a:fillRect/>
          </a:stretch>
        </p:blipFill>
        <p:spPr>
          <a:xfrm>
            <a:off x="384048" y="210312"/>
            <a:ext cx="356616" cy="338328"/>
          </a:xfrm>
          <a:prstGeom prst="rect">
            <a:avLst/>
          </a:prstGeom>
        </p:spPr>
      </p:pic>
      <p:sp>
        <p:nvSpPr>
          <p:cNvPr id="4" name="Text 1"/>
          <p:cNvSpPr txBox="1"/>
          <p:nvPr/>
        </p:nvSpPr>
        <p:spPr>
          <a:xfrm>
            <a:off x="786384" y="283464"/>
            <a:ext cx="914400" cy="164592"/>
          </a:xfrm>
          <a:prstGeom prst="rect">
            <a:avLst/>
          </a:prstGeom>
          <a:noFill/>
          <a:ln/>
        </p:spPr>
        <p:txBody>
          <a:bodyPr wrap="square" lIns="0" tIns="0" rIns="0" bIns="0" rtlCol="0" anchor="t">
            <a:normAutofit/>
          </a:bodyPr>
          <a:lstStyle/>
          <a:p>
            <a:pPr algn="l" indent="0" marL="0">
              <a:buNone/>
            </a:pPr>
            <a:r>
              <a:rPr lang="en-US" sz="900" b="1" dirty="0">
                <a:solidFill>
                  <a:srgbClr val="173F35"/>
                </a:solidFill>
                <a:latin typeface="Manrope" pitchFamily="34" charset="0"/>
                <a:ea typeface="Manrope" pitchFamily="34" charset="-122"/>
                <a:cs typeface="Manrope" pitchFamily="34" charset="-120"/>
              </a:rPr>
              <a:t>RESUTO</a:t>
            </a:r>
            <a:endParaRPr lang="en-US" sz="900" dirty="0"/>
          </a:p>
        </p:txBody>
      </p:sp>
      <p:sp>
        <p:nvSpPr>
          <p:cNvPr id="5" name="Text 2"/>
          <p:cNvSpPr txBox="1"/>
          <p:nvPr/>
        </p:nvSpPr>
        <p:spPr>
          <a:xfrm>
            <a:off x="9829800" y="274320"/>
            <a:ext cx="1691640" cy="146304"/>
          </a:xfrm>
          <a:prstGeom prst="rect">
            <a:avLst/>
          </a:prstGeom>
          <a:noFill/>
          <a:ln/>
        </p:spPr>
        <p:txBody>
          <a:bodyPr wrap="square" lIns="0" tIns="0" rIns="0" bIns="0" rtlCol="0" anchor="ctr">
            <a:normAutofit/>
          </a:bodyPr>
          <a:lstStyle/>
          <a:p>
            <a:pPr algn="r" indent="0" marL="0">
              <a:buNone/>
            </a:pPr>
            <a:r>
              <a:rPr lang="en-US" sz="850" b="1" spc="140" kern="0" dirty="0">
                <a:solidFill>
                  <a:srgbClr val="D89A32"/>
                </a:solidFill>
                <a:latin typeface="Manrope" pitchFamily="34" charset="0"/>
                <a:ea typeface="Manrope" pitchFamily="34" charset="-122"/>
                <a:cs typeface="Manrope" pitchFamily="34" charset="-120"/>
              </a:rPr>
              <a:t>TECHNICAL CREDIBILITY</a:t>
            </a:r>
            <a:endParaRPr lang="en-US" sz="850" dirty="0"/>
          </a:p>
        </p:txBody>
      </p:sp>
      <p:sp>
        <p:nvSpPr>
          <p:cNvPr id="6" name="Text 3"/>
          <p:cNvSpPr txBox="1"/>
          <p:nvPr/>
        </p:nvSpPr>
        <p:spPr>
          <a:xfrm>
            <a:off x="658368" y="557784"/>
            <a:ext cx="10835640" cy="530352"/>
          </a:xfrm>
          <a:prstGeom prst="rect">
            <a:avLst/>
          </a:prstGeom>
          <a:noFill/>
          <a:ln/>
        </p:spPr>
        <p:txBody>
          <a:bodyPr wrap="square" lIns="0" tIns="0" rIns="0" bIns="0" rtlCol="0" anchor="t">
            <a:normAutofit/>
          </a:bodyPr>
          <a:lstStyle/>
          <a:p>
            <a:pPr algn="l" indent="0" marL="0">
              <a:buNone/>
            </a:pPr>
            <a:r>
              <a:rPr lang="en-US" sz="3000" b="1" dirty="0">
                <a:solidFill>
                  <a:srgbClr val="17231F"/>
                </a:solidFill>
                <a:latin typeface="Manrope" pitchFamily="34" charset="0"/>
                <a:ea typeface="Manrope" pitchFamily="34" charset="-122"/>
                <a:cs typeface="Manrope" pitchFamily="34" charset="-120"/>
              </a:rPr>
              <a:t>One domain model, two verified persistence paths</a:t>
            </a:r>
            <a:endParaRPr lang="en-US" sz="3000" dirty="0"/>
          </a:p>
        </p:txBody>
      </p:sp>
      <p:sp>
        <p:nvSpPr>
          <p:cNvPr id="7" name="Text 4"/>
          <p:cNvSpPr txBox="1"/>
          <p:nvPr/>
        </p:nvSpPr>
        <p:spPr>
          <a:xfrm>
            <a:off x="676656" y="1097280"/>
            <a:ext cx="10469880" cy="347472"/>
          </a:xfrm>
          <a:prstGeom prst="rect">
            <a:avLst/>
          </a:prstGeom>
          <a:noFill/>
          <a:ln/>
        </p:spPr>
        <p:txBody>
          <a:bodyPr wrap="square" lIns="0" tIns="0" rIns="0" bIns="0" rtlCol="0" anchor="t">
            <a:normAutofit/>
          </a:bodyPr>
          <a:lstStyle/>
          <a:p>
            <a:pPr algn="l" indent="0" marL="0">
              <a:buNone/>
            </a:pPr>
            <a:r>
              <a:rPr lang="en-US" sz="1450" dirty="0">
                <a:solidFill>
                  <a:srgbClr val="66736A"/>
                </a:solidFill>
                <a:latin typeface="Manrope" pitchFamily="34" charset="0"/>
                <a:ea typeface="Manrope" pitchFamily="34" charset="-122"/>
                <a:cs typeface="Manrope" pitchFamily="34" charset="-120"/>
              </a:rPr>
              <a:t>Local demo uses SQLite; hosted tenant mode uses Firebase Authentication and Firestore</a:t>
            </a:r>
            <a:endParaRPr lang="en-US" sz="1450" dirty="0"/>
          </a:p>
        </p:txBody>
      </p:sp>
      <p:sp>
        <p:nvSpPr>
          <p:cNvPr id="8" name="Shape 5"/>
          <p:cNvSpPr/>
          <p:nvPr/>
        </p:nvSpPr>
        <p:spPr>
          <a:xfrm>
            <a:off x="658368" y="1847088"/>
            <a:ext cx="1965960" cy="960120"/>
          </a:xfrm>
          <a:prstGeom prst="roundRect">
            <a:avLst>
              <a:gd name="adj" fmla="val 17143"/>
            </a:avLst>
          </a:prstGeom>
          <a:solidFill>
            <a:srgbClr val="FFFFFF"/>
          </a:solidFill>
          <a:ln w="11430">
            <a:solidFill>
              <a:srgbClr val="D4DCD5"/>
            </a:solidFill>
            <a:prstDash val="solid"/>
          </a:ln>
        </p:spPr>
      </p:sp>
      <p:sp>
        <p:nvSpPr>
          <p:cNvPr id="9" name="Text 6"/>
          <p:cNvSpPr txBox="1"/>
          <p:nvPr/>
        </p:nvSpPr>
        <p:spPr>
          <a:xfrm>
            <a:off x="795528" y="1993392"/>
            <a:ext cx="1691640" cy="274320"/>
          </a:xfrm>
          <a:prstGeom prst="rect">
            <a:avLst/>
          </a:prstGeom>
          <a:noFill/>
          <a:ln/>
        </p:spPr>
        <p:txBody>
          <a:bodyPr wrap="square" lIns="0" tIns="0" rIns="0" bIns="0" rtlCol="0" anchor="ctr">
            <a:normAutofit/>
          </a:bodyPr>
          <a:lstStyle/>
          <a:p>
            <a:pPr algn="ctr" indent="0" marL="0">
              <a:buNone/>
            </a:pPr>
            <a:r>
              <a:rPr lang="en-US" sz="1600" b="1" dirty="0">
                <a:solidFill>
                  <a:srgbClr val="173F35"/>
                </a:solidFill>
                <a:latin typeface="Manrope" pitchFamily="34" charset="0"/>
                <a:ea typeface="Manrope" pitchFamily="34" charset="-122"/>
                <a:cs typeface="Manrope" pitchFamily="34" charset="-120"/>
              </a:rPr>
              <a:t>Guest · Manager · Kitchen</a:t>
            </a:r>
            <a:endParaRPr lang="en-US" sz="1600" dirty="0"/>
          </a:p>
        </p:txBody>
      </p:sp>
      <p:sp>
        <p:nvSpPr>
          <p:cNvPr id="10" name="Text 7"/>
          <p:cNvSpPr txBox="1"/>
          <p:nvPr/>
        </p:nvSpPr>
        <p:spPr>
          <a:xfrm>
            <a:off x="813816" y="2340864"/>
            <a:ext cx="1655064" cy="347472"/>
          </a:xfrm>
          <a:prstGeom prst="rect">
            <a:avLst/>
          </a:prstGeom>
          <a:noFill/>
          <a:ln/>
        </p:spPr>
        <p:txBody>
          <a:bodyPr wrap="square" lIns="0" tIns="0" rIns="0" bIns="0" rtlCol="0" anchor="t">
            <a:normAutofit/>
          </a:bodyPr>
          <a:lstStyle/>
          <a:p>
            <a:pPr algn="ctr" indent="0" marL="0">
              <a:buNone/>
            </a:pPr>
            <a:r>
              <a:rPr lang="en-US" sz="1050" dirty="0">
                <a:solidFill>
                  <a:srgbClr val="66736A"/>
                </a:solidFill>
                <a:latin typeface="Manrope" pitchFamily="34" charset="0"/>
                <a:ea typeface="Manrope" pitchFamily="34" charset="-122"/>
                <a:cs typeface="Manrope" pitchFamily="34" charset="-120"/>
              </a:rPr>
              <a:t>Static HTML, CSS and browser modules</a:t>
            </a:r>
            <a:endParaRPr lang="en-US" sz="1050" dirty="0"/>
          </a:p>
        </p:txBody>
      </p:sp>
      <p:sp>
        <p:nvSpPr>
          <p:cNvPr id="11" name="Shape 8"/>
          <p:cNvSpPr/>
          <p:nvPr/>
        </p:nvSpPr>
        <p:spPr>
          <a:xfrm>
            <a:off x="3218688" y="1847088"/>
            <a:ext cx="2148840" cy="960120"/>
          </a:xfrm>
          <a:prstGeom prst="roundRect">
            <a:avLst>
              <a:gd name="adj" fmla="val 17143"/>
            </a:avLst>
          </a:prstGeom>
          <a:solidFill>
            <a:srgbClr val="173F35"/>
          </a:solidFill>
          <a:ln w="11430">
            <a:solidFill>
              <a:srgbClr val="D4DCD5"/>
            </a:solidFill>
            <a:prstDash val="solid"/>
          </a:ln>
        </p:spPr>
      </p:sp>
      <p:sp>
        <p:nvSpPr>
          <p:cNvPr id="12" name="Text 9"/>
          <p:cNvSpPr txBox="1"/>
          <p:nvPr/>
        </p:nvSpPr>
        <p:spPr>
          <a:xfrm>
            <a:off x="3355848" y="1993392"/>
            <a:ext cx="1874520" cy="274320"/>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Manrope" pitchFamily="34" charset="0"/>
                <a:ea typeface="Manrope" pitchFamily="34" charset="-122"/>
                <a:cs typeface="Manrope" pitchFamily="34" charset="-120"/>
              </a:rPr>
              <a:t>Node.js JSON API</a:t>
            </a:r>
            <a:endParaRPr lang="en-US" sz="1600" dirty="0"/>
          </a:p>
        </p:txBody>
      </p:sp>
      <p:sp>
        <p:nvSpPr>
          <p:cNvPr id="13" name="Text 10"/>
          <p:cNvSpPr txBox="1"/>
          <p:nvPr/>
        </p:nvSpPr>
        <p:spPr>
          <a:xfrm>
            <a:off x="3374136" y="2340864"/>
            <a:ext cx="1837944" cy="347472"/>
          </a:xfrm>
          <a:prstGeom prst="rect">
            <a:avLst/>
          </a:prstGeom>
          <a:noFill/>
          <a:ln/>
        </p:spPr>
        <p:txBody>
          <a:bodyPr wrap="square" lIns="0" tIns="0" rIns="0" bIns="0" rtlCol="0" anchor="t">
            <a:normAutofit/>
          </a:bodyPr>
          <a:lstStyle/>
          <a:p>
            <a:pPr algn="ctr" indent="0" marL="0">
              <a:buNone/>
            </a:pPr>
            <a:r>
              <a:rPr lang="en-US" sz="1050" dirty="0">
                <a:solidFill>
                  <a:srgbClr val="D8E4D9"/>
                </a:solidFill>
                <a:latin typeface="Manrope" pitchFamily="34" charset="0"/>
                <a:ea typeface="Manrope" pitchFamily="34" charset="-122"/>
                <a:cs typeface="Manrope" pitchFamily="34" charset="-120"/>
              </a:rPr>
              <a:t>Auth, reservations, orders, bills and transitions</a:t>
            </a:r>
            <a:endParaRPr lang="en-US" sz="1050" dirty="0"/>
          </a:p>
        </p:txBody>
      </p:sp>
      <p:sp>
        <p:nvSpPr>
          <p:cNvPr id="14" name="Shape 11"/>
          <p:cNvSpPr/>
          <p:nvPr/>
        </p:nvSpPr>
        <p:spPr>
          <a:xfrm>
            <a:off x="6016752" y="1344168"/>
            <a:ext cx="2212848" cy="960120"/>
          </a:xfrm>
          <a:prstGeom prst="roundRect">
            <a:avLst>
              <a:gd name="adj" fmla="val 17143"/>
            </a:avLst>
          </a:prstGeom>
          <a:solidFill>
            <a:srgbClr val="FFFFFF"/>
          </a:solidFill>
          <a:ln w="11430">
            <a:solidFill>
              <a:srgbClr val="D4DCD5"/>
            </a:solidFill>
            <a:prstDash val="solid"/>
          </a:ln>
        </p:spPr>
      </p:sp>
      <p:sp>
        <p:nvSpPr>
          <p:cNvPr id="15" name="Text 12"/>
          <p:cNvSpPr txBox="1"/>
          <p:nvPr/>
        </p:nvSpPr>
        <p:spPr>
          <a:xfrm>
            <a:off x="6153912" y="1490472"/>
            <a:ext cx="1938528" cy="274320"/>
          </a:xfrm>
          <a:prstGeom prst="rect">
            <a:avLst/>
          </a:prstGeom>
          <a:noFill/>
          <a:ln/>
        </p:spPr>
        <p:txBody>
          <a:bodyPr wrap="square" lIns="0" tIns="0" rIns="0" bIns="0" rtlCol="0" anchor="ctr">
            <a:normAutofit/>
          </a:bodyPr>
          <a:lstStyle/>
          <a:p>
            <a:pPr algn="ctr" indent="0" marL="0">
              <a:buNone/>
            </a:pPr>
            <a:r>
              <a:rPr lang="en-US" sz="1600" b="1" dirty="0">
                <a:solidFill>
                  <a:srgbClr val="173F35"/>
                </a:solidFill>
                <a:latin typeface="Manrope" pitchFamily="34" charset="0"/>
                <a:ea typeface="Manrope" pitchFamily="34" charset="-122"/>
                <a:cs typeface="Manrope" pitchFamily="34" charset="-120"/>
              </a:rPr>
              <a:t>SQLite</a:t>
            </a:r>
            <a:endParaRPr lang="en-US" sz="1600" dirty="0"/>
          </a:p>
        </p:txBody>
      </p:sp>
      <p:sp>
        <p:nvSpPr>
          <p:cNvPr id="16" name="Text 13"/>
          <p:cNvSpPr txBox="1"/>
          <p:nvPr/>
        </p:nvSpPr>
        <p:spPr>
          <a:xfrm>
            <a:off x="6172200" y="1837944"/>
            <a:ext cx="1901952" cy="347472"/>
          </a:xfrm>
          <a:prstGeom prst="rect">
            <a:avLst/>
          </a:prstGeom>
          <a:noFill/>
          <a:ln/>
        </p:spPr>
        <p:txBody>
          <a:bodyPr wrap="square" lIns="0" tIns="0" rIns="0" bIns="0" rtlCol="0" anchor="t">
            <a:normAutofit/>
          </a:bodyPr>
          <a:lstStyle/>
          <a:p>
            <a:pPr algn="ctr" indent="0" marL="0">
              <a:buNone/>
            </a:pPr>
            <a:r>
              <a:rPr lang="en-US" sz="1050" dirty="0">
                <a:solidFill>
                  <a:srgbClr val="66736A"/>
                </a:solidFill>
                <a:latin typeface="Manrope" pitchFamily="34" charset="0"/>
                <a:ea typeface="Manrope" pitchFamily="34" charset="-122"/>
                <a:cs typeface="Manrope" pitchFamily="34" charset="-120"/>
              </a:rPr>
              <a:t>Default local single-installation state</a:t>
            </a:r>
            <a:endParaRPr lang="en-US" sz="1050" dirty="0"/>
          </a:p>
        </p:txBody>
      </p:sp>
      <p:sp>
        <p:nvSpPr>
          <p:cNvPr id="17" name="Shape 14"/>
          <p:cNvSpPr/>
          <p:nvPr/>
        </p:nvSpPr>
        <p:spPr>
          <a:xfrm>
            <a:off x="6016752" y="2761488"/>
            <a:ext cx="2212848" cy="960120"/>
          </a:xfrm>
          <a:prstGeom prst="roundRect">
            <a:avLst>
              <a:gd name="adj" fmla="val 17143"/>
            </a:avLst>
          </a:prstGeom>
          <a:solidFill>
            <a:srgbClr val="E6EFE8"/>
          </a:solidFill>
          <a:ln w="17780">
            <a:solidFill>
              <a:srgbClr val="2F7667"/>
            </a:solidFill>
            <a:prstDash val="solid"/>
          </a:ln>
        </p:spPr>
      </p:sp>
      <p:sp>
        <p:nvSpPr>
          <p:cNvPr id="18" name="Text 15"/>
          <p:cNvSpPr txBox="1"/>
          <p:nvPr/>
        </p:nvSpPr>
        <p:spPr>
          <a:xfrm>
            <a:off x="6153912" y="2907792"/>
            <a:ext cx="1938528" cy="274320"/>
          </a:xfrm>
          <a:prstGeom prst="rect">
            <a:avLst/>
          </a:prstGeom>
          <a:noFill/>
          <a:ln/>
        </p:spPr>
        <p:txBody>
          <a:bodyPr wrap="square" lIns="0" tIns="0" rIns="0" bIns="0" rtlCol="0" anchor="ctr">
            <a:normAutofit/>
          </a:bodyPr>
          <a:lstStyle/>
          <a:p>
            <a:pPr algn="ctr" indent="0" marL="0">
              <a:buNone/>
            </a:pPr>
            <a:r>
              <a:rPr lang="en-US" sz="1600" b="1" dirty="0">
                <a:solidFill>
                  <a:srgbClr val="173F35"/>
                </a:solidFill>
                <a:latin typeface="Manrope" pitchFamily="34" charset="0"/>
                <a:ea typeface="Manrope" pitchFamily="34" charset="-122"/>
                <a:cs typeface="Manrope" pitchFamily="34" charset="-120"/>
              </a:rPr>
              <a:t>Firebase</a:t>
            </a:r>
            <a:endParaRPr lang="en-US" sz="1600" dirty="0"/>
          </a:p>
        </p:txBody>
      </p:sp>
      <p:sp>
        <p:nvSpPr>
          <p:cNvPr id="19" name="Text 16"/>
          <p:cNvSpPr txBox="1"/>
          <p:nvPr/>
        </p:nvSpPr>
        <p:spPr>
          <a:xfrm>
            <a:off x="6172200" y="3255264"/>
            <a:ext cx="1901952" cy="347472"/>
          </a:xfrm>
          <a:prstGeom prst="rect">
            <a:avLst/>
          </a:prstGeom>
          <a:noFill/>
          <a:ln/>
        </p:spPr>
        <p:txBody>
          <a:bodyPr wrap="square" lIns="0" tIns="0" rIns="0" bIns="0" rtlCol="0" anchor="t">
            <a:normAutofit/>
          </a:bodyPr>
          <a:lstStyle/>
          <a:p>
            <a:pPr algn="ctr" indent="0" marL="0">
              <a:buNone/>
            </a:pPr>
            <a:r>
              <a:rPr lang="en-US" sz="1050" dirty="0">
                <a:solidFill>
                  <a:srgbClr val="66736A"/>
                </a:solidFill>
                <a:latin typeface="Manrope" pitchFamily="34" charset="0"/>
                <a:ea typeface="Manrope" pitchFamily="34" charset="-122"/>
                <a:cs typeface="Manrope" pitchFamily="34" charset="-120"/>
              </a:rPr>
              <a:t>Auth + Firestore tenant documents</a:t>
            </a:r>
            <a:endParaRPr lang="en-US" sz="1050" dirty="0"/>
          </a:p>
        </p:txBody>
      </p:sp>
      <p:sp>
        <p:nvSpPr>
          <p:cNvPr id="20" name="Shape 17"/>
          <p:cNvSpPr/>
          <p:nvPr/>
        </p:nvSpPr>
        <p:spPr>
          <a:xfrm>
            <a:off x="9162288" y="1344168"/>
            <a:ext cx="2176272" cy="960120"/>
          </a:xfrm>
          <a:prstGeom prst="roundRect">
            <a:avLst>
              <a:gd name="adj" fmla="val 17143"/>
            </a:avLst>
          </a:prstGeom>
          <a:solidFill>
            <a:srgbClr val="FFFFFF"/>
          </a:solidFill>
          <a:ln w="11430">
            <a:solidFill>
              <a:srgbClr val="D4DCD5"/>
            </a:solidFill>
            <a:prstDash val="solid"/>
          </a:ln>
        </p:spPr>
      </p:sp>
      <p:sp>
        <p:nvSpPr>
          <p:cNvPr id="21" name="Text 18"/>
          <p:cNvSpPr txBox="1"/>
          <p:nvPr/>
        </p:nvSpPr>
        <p:spPr>
          <a:xfrm>
            <a:off x="9299448" y="1490472"/>
            <a:ext cx="1901952" cy="274320"/>
          </a:xfrm>
          <a:prstGeom prst="rect">
            <a:avLst/>
          </a:prstGeom>
          <a:noFill/>
          <a:ln/>
        </p:spPr>
        <p:txBody>
          <a:bodyPr wrap="square" lIns="0" tIns="0" rIns="0" bIns="0" rtlCol="0" anchor="ctr">
            <a:normAutofit/>
          </a:bodyPr>
          <a:lstStyle/>
          <a:p>
            <a:pPr algn="ctr" indent="0" marL="0">
              <a:buNone/>
            </a:pPr>
            <a:r>
              <a:rPr lang="en-US" sz="1600" b="1" dirty="0">
                <a:solidFill>
                  <a:srgbClr val="173F35"/>
                </a:solidFill>
                <a:latin typeface="Manrope" pitchFamily="34" charset="0"/>
                <a:ea typeface="Manrope" pitchFamily="34" charset="-122"/>
                <a:cs typeface="Manrope" pitchFamily="34" charset="-120"/>
              </a:rPr>
              <a:t>Gemini API</a:t>
            </a:r>
            <a:endParaRPr lang="en-US" sz="1600" dirty="0"/>
          </a:p>
        </p:txBody>
      </p:sp>
      <p:sp>
        <p:nvSpPr>
          <p:cNvPr id="22" name="Text 19"/>
          <p:cNvSpPr txBox="1"/>
          <p:nvPr/>
        </p:nvSpPr>
        <p:spPr>
          <a:xfrm>
            <a:off x="9317736" y="1837944"/>
            <a:ext cx="1865376" cy="347472"/>
          </a:xfrm>
          <a:prstGeom prst="rect">
            <a:avLst/>
          </a:prstGeom>
          <a:noFill/>
          <a:ln/>
        </p:spPr>
        <p:txBody>
          <a:bodyPr wrap="square" lIns="0" tIns="0" rIns="0" bIns="0" rtlCol="0" anchor="t">
            <a:normAutofit/>
          </a:bodyPr>
          <a:lstStyle/>
          <a:p>
            <a:pPr algn="ctr" indent="0" marL="0">
              <a:buNone/>
            </a:pPr>
            <a:r>
              <a:rPr lang="en-US" sz="1050" dirty="0">
                <a:solidFill>
                  <a:srgbClr val="66736A"/>
                </a:solidFill>
                <a:latin typeface="Manrope" pitchFamily="34" charset="0"/>
                <a:ea typeface="Manrope" pitchFamily="34" charset="-122"/>
                <a:cs typeface="Manrope" pitchFamily="34" charset="-120"/>
              </a:rPr>
              <a:t>Structured text and vision responses</a:t>
            </a:r>
            <a:endParaRPr lang="en-US" sz="1050" dirty="0"/>
          </a:p>
        </p:txBody>
      </p:sp>
      <p:sp>
        <p:nvSpPr>
          <p:cNvPr id="23" name="Shape 20"/>
          <p:cNvSpPr/>
          <p:nvPr/>
        </p:nvSpPr>
        <p:spPr>
          <a:xfrm>
            <a:off x="9162288" y="2761488"/>
            <a:ext cx="2176272" cy="960120"/>
          </a:xfrm>
          <a:prstGeom prst="roundRect">
            <a:avLst>
              <a:gd name="adj" fmla="val 17143"/>
            </a:avLst>
          </a:prstGeom>
          <a:solidFill>
            <a:srgbClr val="FFFFFF"/>
          </a:solidFill>
          <a:ln w="11430">
            <a:solidFill>
              <a:srgbClr val="D4DCD5"/>
            </a:solidFill>
            <a:prstDash val="solid"/>
          </a:ln>
        </p:spPr>
      </p:sp>
      <p:sp>
        <p:nvSpPr>
          <p:cNvPr id="24" name="Text 21"/>
          <p:cNvSpPr txBox="1"/>
          <p:nvPr/>
        </p:nvSpPr>
        <p:spPr>
          <a:xfrm>
            <a:off x="9299448" y="2907792"/>
            <a:ext cx="1901952" cy="274320"/>
          </a:xfrm>
          <a:prstGeom prst="rect">
            <a:avLst/>
          </a:prstGeom>
          <a:noFill/>
          <a:ln/>
        </p:spPr>
        <p:txBody>
          <a:bodyPr wrap="square" lIns="0" tIns="0" rIns="0" bIns="0" rtlCol="0" anchor="ctr">
            <a:normAutofit/>
          </a:bodyPr>
          <a:lstStyle/>
          <a:p>
            <a:pPr algn="ctr" indent="0" marL="0">
              <a:buNone/>
            </a:pPr>
            <a:r>
              <a:rPr lang="en-US" sz="1600" b="1" dirty="0">
                <a:solidFill>
                  <a:srgbClr val="173F35"/>
                </a:solidFill>
                <a:latin typeface="Manrope" pitchFamily="34" charset="0"/>
                <a:ea typeface="Manrope" pitchFamily="34" charset="-122"/>
                <a:cs typeface="Manrope" pitchFamily="34" charset="-120"/>
              </a:rPr>
              <a:t>Payment adapters</a:t>
            </a:r>
            <a:endParaRPr lang="en-US" sz="1600" dirty="0"/>
          </a:p>
        </p:txBody>
      </p:sp>
      <p:sp>
        <p:nvSpPr>
          <p:cNvPr id="25" name="Text 22"/>
          <p:cNvSpPr txBox="1"/>
          <p:nvPr/>
        </p:nvSpPr>
        <p:spPr>
          <a:xfrm>
            <a:off x="9317736" y="3255264"/>
            <a:ext cx="1865376" cy="347472"/>
          </a:xfrm>
          <a:prstGeom prst="rect">
            <a:avLst/>
          </a:prstGeom>
          <a:noFill/>
          <a:ln/>
        </p:spPr>
        <p:txBody>
          <a:bodyPr wrap="square" lIns="0" tIns="0" rIns="0" bIns="0" rtlCol="0" anchor="t">
            <a:normAutofit/>
          </a:bodyPr>
          <a:lstStyle/>
          <a:p>
            <a:pPr algn="ctr" indent="0" marL="0">
              <a:buNone/>
            </a:pPr>
            <a:r>
              <a:rPr lang="en-US" sz="1050" dirty="0">
                <a:solidFill>
                  <a:srgbClr val="66736A"/>
                </a:solidFill>
                <a:latin typeface="Manrope" pitchFamily="34" charset="0"/>
                <a:ea typeface="Manrope" pitchFamily="34" charset="-122"/>
                <a:cs typeface="Manrope" pitchFamily="34" charset="-120"/>
              </a:rPr>
              <a:t>Stripe / Paymob hosted checkout</a:t>
            </a:r>
            <a:endParaRPr lang="en-US" sz="1050" dirty="0"/>
          </a:p>
        </p:txBody>
      </p:sp>
      <p:sp>
        <p:nvSpPr>
          <p:cNvPr id="26" name="Shape 23"/>
          <p:cNvSpPr/>
          <p:nvPr/>
        </p:nvSpPr>
        <p:spPr>
          <a:xfrm>
            <a:off x="2633472" y="2331720"/>
            <a:ext cx="521208" cy="0"/>
          </a:xfrm>
          <a:prstGeom prst="line">
            <a:avLst/>
          </a:prstGeom>
          <a:noFill/>
          <a:ln w="25400">
            <a:solidFill>
              <a:srgbClr val="E8763C"/>
            </a:solidFill>
            <a:prstDash val="solid"/>
            <a:tailEnd type="triangle"/>
          </a:ln>
        </p:spPr>
      </p:sp>
      <p:sp>
        <p:nvSpPr>
          <p:cNvPr id="27" name="Shape 24"/>
          <p:cNvSpPr/>
          <p:nvPr/>
        </p:nvSpPr>
        <p:spPr>
          <a:xfrm>
            <a:off x="5394960" y="2075688"/>
            <a:ext cx="566928" cy="-228600"/>
          </a:xfrm>
          <a:prstGeom prst="line">
            <a:avLst/>
          </a:prstGeom>
          <a:noFill/>
          <a:ln w="22860">
            <a:solidFill>
              <a:srgbClr val="E8763C"/>
            </a:solidFill>
            <a:prstDash val="solid"/>
            <a:tailEnd type="triangle"/>
          </a:ln>
        </p:spPr>
      </p:sp>
      <p:sp>
        <p:nvSpPr>
          <p:cNvPr id="28" name="Shape 25"/>
          <p:cNvSpPr/>
          <p:nvPr/>
        </p:nvSpPr>
        <p:spPr>
          <a:xfrm>
            <a:off x="5394960" y="2532888"/>
            <a:ext cx="566928" cy="658368"/>
          </a:xfrm>
          <a:prstGeom prst="line">
            <a:avLst/>
          </a:prstGeom>
          <a:noFill/>
          <a:ln w="22860">
            <a:solidFill>
              <a:srgbClr val="E8763C"/>
            </a:solidFill>
            <a:prstDash val="solid"/>
            <a:tailEnd type="triangle"/>
          </a:ln>
        </p:spPr>
      </p:sp>
      <p:sp>
        <p:nvSpPr>
          <p:cNvPr id="29" name="Shape 26"/>
          <p:cNvSpPr/>
          <p:nvPr/>
        </p:nvSpPr>
        <p:spPr>
          <a:xfrm>
            <a:off x="8211312" y="1828800"/>
            <a:ext cx="896112" cy="0"/>
          </a:xfrm>
          <a:prstGeom prst="line">
            <a:avLst/>
          </a:prstGeom>
          <a:noFill/>
          <a:ln w="22860">
            <a:solidFill>
              <a:srgbClr val="E8763C"/>
            </a:solidFill>
            <a:prstDash val="solid"/>
            <a:tailEnd type="triangle"/>
          </a:ln>
        </p:spPr>
      </p:sp>
      <p:sp>
        <p:nvSpPr>
          <p:cNvPr id="30" name="Shape 27"/>
          <p:cNvSpPr/>
          <p:nvPr/>
        </p:nvSpPr>
        <p:spPr>
          <a:xfrm>
            <a:off x="8211312" y="3246120"/>
            <a:ext cx="896112" cy="0"/>
          </a:xfrm>
          <a:prstGeom prst="line">
            <a:avLst/>
          </a:prstGeom>
          <a:noFill/>
          <a:ln w="22860">
            <a:solidFill>
              <a:srgbClr val="E8763C"/>
            </a:solidFill>
            <a:prstDash val="solid"/>
            <a:tailEnd type="triangle"/>
          </a:ln>
        </p:spPr>
      </p:sp>
      <p:sp>
        <p:nvSpPr>
          <p:cNvPr id="31" name="Shape 28"/>
          <p:cNvSpPr/>
          <p:nvPr/>
        </p:nvSpPr>
        <p:spPr>
          <a:xfrm>
            <a:off x="685800" y="4626864"/>
            <a:ext cx="10625328" cy="1033272"/>
          </a:xfrm>
          <a:prstGeom prst="roundRect">
            <a:avLst>
              <a:gd name="adj" fmla="val 15929"/>
            </a:avLst>
          </a:prstGeom>
          <a:solidFill>
            <a:srgbClr val="EEE9DE"/>
          </a:solidFill>
          <a:ln w="12700">
            <a:solidFill>
              <a:srgbClr val="FFFFFF">
                <a:alpha val="0"/>
              </a:srgbClr>
            </a:solidFill>
            <a:prstDash val="solid"/>
          </a:ln>
        </p:spPr>
      </p:sp>
      <p:sp>
        <p:nvSpPr>
          <p:cNvPr id="32" name="Text 29"/>
          <p:cNvSpPr txBox="1"/>
          <p:nvPr/>
        </p:nvSpPr>
        <p:spPr>
          <a:xfrm>
            <a:off x="941832" y="4855464"/>
            <a:ext cx="1737360" cy="292608"/>
          </a:xfrm>
          <a:prstGeom prst="rect">
            <a:avLst/>
          </a:prstGeom>
          <a:noFill/>
          <a:ln/>
        </p:spPr>
        <p:txBody>
          <a:bodyPr wrap="square" lIns="0" tIns="0" rIns="0" bIns="0" rtlCol="0" anchor="ctr">
            <a:normAutofit/>
          </a:bodyPr>
          <a:lstStyle/>
          <a:p>
            <a:pPr algn="l" indent="0" marL="0">
              <a:buNone/>
            </a:pPr>
            <a:r>
              <a:rPr lang="en-US" sz="1800" b="1" dirty="0">
                <a:solidFill>
                  <a:srgbClr val="173F35"/>
                </a:solidFill>
                <a:latin typeface="Manrope" pitchFamily="34" charset="0"/>
                <a:ea typeface="Manrope" pitchFamily="34" charset="-122"/>
                <a:cs typeface="Manrope" pitchFamily="34" charset="-120"/>
              </a:rPr>
              <a:t>Defensible controls</a:t>
            </a:r>
            <a:endParaRPr lang="en-US" sz="1800" dirty="0"/>
          </a:p>
        </p:txBody>
      </p:sp>
      <p:sp>
        <p:nvSpPr>
          <p:cNvPr id="33" name="Text 30"/>
          <p:cNvSpPr txBox="1"/>
          <p:nvPr/>
        </p:nvSpPr>
        <p:spPr>
          <a:xfrm>
            <a:off x="2852928" y="4773168"/>
            <a:ext cx="7955280" cy="475488"/>
          </a:xfrm>
          <a:prstGeom prst="rect">
            <a:avLst/>
          </a:prstGeom>
          <a:noFill/>
          <a:ln/>
        </p:spPr>
        <p:txBody>
          <a:bodyPr wrap="square" lIns="0" tIns="0" rIns="0" bIns="0" rtlCol="0" anchor="ctr">
            <a:normAutofit/>
          </a:bodyPr>
          <a:lstStyle/>
          <a:p>
            <a:pPr algn="l" indent="0" marL="0">
              <a:buNone/>
            </a:pPr>
            <a:r>
              <a:rPr lang="en-US" sz="1300" dirty="0">
                <a:solidFill>
                  <a:srgbClr val="17231F"/>
                </a:solidFill>
                <a:latin typeface="Manrope" pitchFamily="34" charset="0"/>
                <a:ea typeface="Manrope" pitchFamily="34" charset="-122"/>
                <a:cs typeface="Manrope" pitchFamily="34" charset="-120"/>
              </a:rPr>
              <a:t>HTTP-only SameSite sessions locally · Firebase ID token verification in tenant mode · server-side price and stock checks · idempotent payments · optimistic revisions</a:t>
            </a:r>
            <a:endParaRPr lang="en-US" sz="1300" dirty="0"/>
          </a:p>
        </p:txBody>
      </p:sp>
      <p:sp>
        <p:nvSpPr>
          <p:cNvPr id="34" name="Shape 31"/>
          <p:cNvSpPr/>
          <p:nvPr/>
        </p:nvSpPr>
        <p:spPr>
          <a:xfrm>
            <a:off x="713232" y="5989320"/>
            <a:ext cx="1883664" cy="292608"/>
          </a:xfrm>
          <a:prstGeom prst="roundRect">
            <a:avLst>
              <a:gd name="adj" fmla="val 50000"/>
            </a:avLst>
          </a:prstGeom>
          <a:solidFill>
            <a:srgbClr val="E6EFE8"/>
          </a:solidFill>
          <a:ln w="12700">
            <a:solidFill>
              <a:srgbClr val="FFFFFF">
                <a:alpha val="0"/>
              </a:srgbClr>
            </a:solidFill>
            <a:prstDash val="solid"/>
          </a:ln>
        </p:spPr>
      </p:sp>
      <p:sp>
        <p:nvSpPr>
          <p:cNvPr id="35" name="Text 32"/>
          <p:cNvSpPr txBox="1"/>
          <p:nvPr/>
        </p:nvSpPr>
        <p:spPr>
          <a:xfrm>
            <a:off x="786384" y="5998464"/>
            <a:ext cx="1737360" cy="256032"/>
          </a:xfrm>
          <a:prstGeom prst="rect">
            <a:avLst/>
          </a:prstGeom>
          <a:noFill/>
          <a:ln/>
        </p:spPr>
        <p:txBody>
          <a:bodyPr wrap="square" lIns="0" tIns="0" rIns="0" bIns="0" rtlCol="0" anchor="ctr">
            <a:normAutofit/>
          </a:bodyPr>
          <a:lstStyle/>
          <a:p>
            <a:pPr algn="ctr" indent="0" marL="0">
              <a:buNone/>
            </a:pPr>
            <a:r>
              <a:rPr lang="en-US" sz="1000" b="1" dirty="0">
                <a:solidFill>
                  <a:srgbClr val="2F7667"/>
                </a:solidFill>
                <a:latin typeface="Manrope" pitchFamily="34" charset="0"/>
                <a:ea typeface="Manrope" pitchFamily="34" charset="-122"/>
                <a:cs typeface="Manrope" pitchFamily="34" charset="-120"/>
              </a:rPr>
              <a:t>TENANT CODE IMPLEMENTED</a:t>
            </a:r>
            <a:endParaRPr lang="en-US" sz="1000" dirty="0"/>
          </a:p>
        </p:txBody>
      </p:sp>
      <p:sp>
        <p:nvSpPr>
          <p:cNvPr id="36" name="Text 33"/>
          <p:cNvSpPr txBox="1"/>
          <p:nvPr/>
        </p:nvSpPr>
        <p:spPr>
          <a:xfrm>
            <a:off x="2779776" y="5998464"/>
            <a:ext cx="6995160" cy="274320"/>
          </a:xfrm>
          <a:prstGeom prst="rect">
            <a:avLst/>
          </a:prstGeom>
          <a:noFill/>
          <a:ln/>
        </p:spPr>
        <p:txBody>
          <a:bodyPr wrap="square" lIns="0" tIns="0" rIns="0" bIns="0" rtlCol="0" anchor="ctr">
            <a:normAutofit/>
          </a:bodyPr>
          <a:lstStyle/>
          <a:p>
            <a:pPr algn="l" indent="0" marL="0">
              <a:buNone/>
            </a:pPr>
            <a:r>
              <a:rPr lang="en-US" sz="1150" dirty="0">
                <a:solidFill>
                  <a:srgbClr val="B94E4E"/>
                </a:solidFill>
                <a:latin typeface="Manrope" pitchFamily="34" charset="0"/>
                <a:ea typeface="Manrope" pitchFamily="34" charset="-122"/>
                <a:cs typeface="Manrope" pitchFamily="34" charset="-120"/>
              </a:rPr>
              <a:t>The Firebase emulator isolation test was skipped in today’s full suite and remains a release gate.</a:t>
            </a:r>
            <a:endParaRPr lang="en-US" sz="1150" dirty="0"/>
          </a:p>
        </p:txBody>
      </p:sp>
      <p:sp>
        <p:nvSpPr>
          <p:cNvPr id="37" name="Text 34"/>
          <p:cNvSpPr txBox="1"/>
          <p:nvPr/>
        </p:nvSpPr>
        <p:spPr>
          <a:xfrm>
            <a:off x="658368" y="6565392"/>
            <a:ext cx="5303520" cy="118872"/>
          </a:xfrm>
          <a:prstGeom prst="rect">
            <a:avLst/>
          </a:prstGeom>
          <a:noFill/>
          <a:ln/>
        </p:spPr>
        <p:txBody>
          <a:bodyPr wrap="square" lIns="0" tIns="0" rIns="0" bIns="0" rtlCol="0" anchor="t">
            <a:normAutofit/>
          </a:bodyPr>
          <a:lstStyle/>
          <a:p>
            <a:pPr algn="l" indent="0" marL="0">
              <a:buNone/>
            </a:pPr>
            <a:r>
              <a:rPr lang="en-US" sz="850" dirty="0">
                <a:solidFill>
                  <a:srgbClr val="66736A"/>
                </a:solidFill>
                <a:latin typeface="Manrope" pitchFamily="34" charset="0"/>
                <a:ea typeface="Manrope" pitchFamily="34" charset="-122"/>
                <a:cs typeface="Manrope" pitchFamily="34" charset="-120"/>
              </a:rPr>
              <a:t>Architecture reflects the current repository, not the dated pack</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384048" y="6510528"/>
            <a:ext cx="11402568" cy="0"/>
          </a:xfrm>
          <a:prstGeom prst="line">
            <a:avLst/>
          </a:prstGeom>
          <a:noFill/>
          <a:ln w="8890">
            <a:solidFill>
              <a:srgbClr val="D4DCD5"/>
            </a:solidFill>
            <a:prstDash val="solid"/>
          </a:ln>
        </p:spPr>
      </p:sp>
      <p:pic>
        <p:nvPicPr>
          <p:cNvPr id="3" name="Image 0" descr="/Users/tank/Downloads/Resuto-main/.codex-build/resuto-impactx-pitch/resuto-original-mark.png">    </p:cNvPr>
          <p:cNvPicPr>
            <a:picLocks noChangeAspect="1"/>
          </p:cNvPicPr>
          <p:nvPr/>
        </p:nvPicPr>
        <p:blipFill>
          <a:blip r:embed="rId1"/>
          <a:stretch>
            <a:fillRect/>
          </a:stretch>
        </p:blipFill>
        <p:spPr>
          <a:xfrm>
            <a:off x="384048" y="210312"/>
            <a:ext cx="356616" cy="338328"/>
          </a:xfrm>
          <a:prstGeom prst="rect">
            <a:avLst/>
          </a:prstGeom>
        </p:spPr>
      </p:pic>
      <p:sp>
        <p:nvSpPr>
          <p:cNvPr id="4" name="Text 1"/>
          <p:cNvSpPr txBox="1"/>
          <p:nvPr/>
        </p:nvSpPr>
        <p:spPr>
          <a:xfrm>
            <a:off x="786384" y="283464"/>
            <a:ext cx="914400" cy="164592"/>
          </a:xfrm>
          <a:prstGeom prst="rect">
            <a:avLst/>
          </a:prstGeom>
          <a:noFill/>
          <a:ln/>
        </p:spPr>
        <p:txBody>
          <a:bodyPr wrap="square" lIns="0" tIns="0" rIns="0" bIns="0" rtlCol="0" anchor="t">
            <a:normAutofit/>
          </a:bodyPr>
          <a:lstStyle/>
          <a:p>
            <a:pPr algn="l" indent="0" marL="0">
              <a:buNone/>
            </a:pPr>
            <a:r>
              <a:rPr lang="en-US" sz="900" b="1" dirty="0">
                <a:solidFill>
                  <a:srgbClr val="173F35"/>
                </a:solidFill>
                <a:latin typeface="Manrope" pitchFamily="34" charset="0"/>
                <a:ea typeface="Manrope" pitchFamily="34" charset="-122"/>
                <a:cs typeface="Manrope" pitchFamily="34" charset="-120"/>
              </a:rPr>
              <a:t>RESUTO</a:t>
            </a:r>
            <a:endParaRPr lang="en-US" sz="900" dirty="0"/>
          </a:p>
        </p:txBody>
      </p:sp>
      <p:sp>
        <p:nvSpPr>
          <p:cNvPr id="5" name="Text 2"/>
          <p:cNvSpPr txBox="1"/>
          <p:nvPr/>
        </p:nvSpPr>
        <p:spPr>
          <a:xfrm>
            <a:off x="9829800" y="274320"/>
            <a:ext cx="1691640" cy="146304"/>
          </a:xfrm>
          <a:prstGeom prst="rect">
            <a:avLst/>
          </a:prstGeom>
          <a:noFill/>
          <a:ln/>
        </p:spPr>
        <p:txBody>
          <a:bodyPr wrap="square" lIns="0" tIns="0" rIns="0" bIns="0" rtlCol="0" anchor="ctr">
            <a:normAutofit/>
          </a:bodyPr>
          <a:lstStyle/>
          <a:p>
            <a:pPr algn="r" indent="0" marL="0">
              <a:buNone/>
            </a:pPr>
            <a:r>
              <a:rPr lang="en-US" sz="850" b="1" spc="140" kern="0" dirty="0">
                <a:solidFill>
                  <a:srgbClr val="D89A32"/>
                </a:solidFill>
                <a:latin typeface="Manrope" pitchFamily="34" charset="0"/>
                <a:ea typeface="Manrope" pitchFamily="34" charset="-122"/>
                <a:cs typeface="Manrope" pitchFamily="34" charset="-120"/>
              </a:rPr>
              <a:t>IMPACT · SDG 8</a:t>
            </a:r>
            <a:endParaRPr lang="en-US" sz="850" dirty="0"/>
          </a:p>
        </p:txBody>
      </p:sp>
      <p:sp>
        <p:nvSpPr>
          <p:cNvPr id="6" name="Text 3"/>
          <p:cNvSpPr txBox="1"/>
          <p:nvPr/>
        </p:nvSpPr>
        <p:spPr>
          <a:xfrm>
            <a:off x="658368" y="557784"/>
            <a:ext cx="10835640" cy="530352"/>
          </a:xfrm>
          <a:prstGeom prst="rect">
            <a:avLst/>
          </a:prstGeom>
          <a:noFill/>
          <a:ln/>
        </p:spPr>
        <p:txBody>
          <a:bodyPr wrap="square" lIns="0" tIns="0" rIns="0" bIns="0" rtlCol="0" anchor="t">
            <a:normAutofit/>
          </a:bodyPr>
          <a:lstStyle/>
          <a:p>
            <a:pPr algn="l" indent="0" marL="0">
              <a:buNone/>
            </a:pPr>
            <a:r>
              <a:rPr lang="en-US" sz="3000" b="1" dirty="0">
                <a:solidFill>
                  <a:srgbClr val="17231F"/>
                </a:solidFill>
                <a:latin typeface="Manrope" pitchFamily="34" charset="0"/>
                <a:ea typeface="Manrope" pitchFamily="34" charset="-122"/>
                <a:cs typeface="Manrope" pitchFamily="34" charset="-120"/>
              </a:rPr>
              <a:t>The pilot converts operating hypotheses into evidence</a:t>
            </a:r>
            <a:endParaRPr lang="en-US" sz="3000" dirty="0"/>
          </a:p>
        </p:txBody>
      </p:sp>
      <p:sp>
        <p:nvSpPr>
          <p:cNvPr id="7" name="Text 4"/>
          <p:cNvSpPr txBox="1"/>
          <p:nvPr/>
        </p:nvSpPr>
        <p:spPr>
          <a:xfrm>
            <a:off x="676656" y="1097280"/>
            <a:ext cx="10469880" cy="347472"/>
          </a:xfrm>
          <a:prstGeom prst="rect">
            <a:avLst/>
          </a:prstGeom>
          <a:noFill/>
          <a:ln/>
        </p:spPr>
        <p:txBody>
          <a:bodyPr wrap="square" lIns="0" tIns="0" rIns="0" bIns="0" rtlCol="0" anchor="t">
            <a:normAutofit/>
          </a:bodyPr>
          <a:lstStyle/>
          <a:p>
            <a:pPr algn="l" indent="0" marL="0">
              <a:buNone/>
            </a:pPr>
            <a:r>
              <a:rPr lang="en-US" sz="1450" dirty="0">
                <a:solidFill>
                  <a:srgbClr val="66736A"/>
                </a:solidFill>
                <a:latin typeface="Manrope" pitchFamily="34" charset="0"/>
                <a:ea typeface="Manrope" pitchFamily="34" charset="-122"/>
                <a:cs typeface="Manrope" pitchFamily="34" charset="-120"/>
              </a:rPr>
              <a:t>Targets describe success thresholds, not achieved results</a:t>
            </a:r>
            <a:endParaRPr lang="en-US" sz="1450" dirty="0"/>
          </a:p>
        </p:txBody>
      </p:sp>
      <p:sp>
        <p:nvSpPr>
          <p:cNvPr id="8" name="Text 5"/>
          <p:cNvSpPr txBox="1"/>
          <p:nvPr/>
        </p:nvSpPr>
        <p:spPr>
          <a:xfrm>
            <a:off x="713232" y="1600200"/>
            <a:ext cx="1371600" cy="630936"/>
          </a:xfrm>
          <a:prstGeom prst="rect">
            <a:avLst/>
          </a:prstGeom>
          <a:noFill/>
          <a:ln/>
        </p:spPr>
        <p:txBody>
          <a:bodyPr wrap="square" lIns="0" tIns="0" rIns="0" bIns="0" rtlCol="0" anchor="ctr">
            <a:normAutofit/>
          </a:bodyPr>
          <a:lstStyle/>
          <a:p>
            <a:pPr algn="ctr" indent="0" marL="0">
              <a:buNone/>
            </a:pPr>
            <a:r>
              <a:rPr lang="en-US" sz="3800" b="1" dirty="0">
                <a:solidFill>
                  <a:srgbClr val="173F35"/>
                </a:solidFill>
                <a:latin typeface="Manrope" pitchFamily="34" charset="0"/>
                <a:ea typeface="Manrope" pitchFamily="34" charset="-122"/>
                <a:cs typeface="Manrope" pitchFamily="34" charset="-120"/>
              </a:rPr>
              <a:t>3</a:t>
            </a:r>
            <a:endParaRPr lang="en-US" sz="3800" dirty="0"/>
          </a:p>
        </p:txBody>
      </p:sp>
      <p:sp>
        <p:nvSpPr>
          <p:cNvPr id="9" name="Text 6"/>
          <p:cNvSpPr txBox="1"/>
          <p:nvPr/>
        </p:nvSpPr>
        <p:spPr>
          <a:xfrm>
            <a:off x="713232" y="2240280"/>
            <a:ext cx="1371600" cy="246888"/>
          </a:xfrm>
          <a:prstGeom prst="rect">
            <a:avLst/>
          </a:prstGeom>
          <a:noFill/>
          <a:ln/>
        </p:spPr>
        <p:txBody>
          <a:bodyPr wrap="square" lIns="0" tIns="0" rIns="0" bIns="0" rtlCol="0" anchor="ctr">
            <a:normAutofit/>
          </a:bodyPr>
          <a:lstStyle/>
          <a:p>
            <a:pPr algn="ctr" indent="0" marL="0">
              <a:buNone/>
            </a:pPr>
            <a:r>
              <a:rPr lang="en-US" sz="1150" b="1" dirty="0">
                <a:solidFill>
                  <a:srgbClr val="66736A"/>
                </a:solidFill>
                <a:latin typeface="Manrope" pitchFamily="34" charset="0"/>
                <a:ea typeface="Manrope" pitchFamily="34" charset="-122"/>
                <a:cs typeface="Manrope" pitchFamily="34" charset="-120"/>
              </a:rPr>
              <a:t>restaurants</a:t>
            </a:r>
            <a:endParaRPr lang="en-US" sz="1150" dirty="0"/>
          </a:p>
        </p:txBody>
      </p:sp>
      <p:sp>
        <p:nvSpPr>
          <p:cNvPr id="10" name="Text 7"/>
          <p:cNvSpPr txBox="1"/>
          <p:nvPr/>
        </p:nvSpPr>
        <p:spPr>
          <a:xfrm>
            <a:off x="2688336" y="1600200"/>
            <a:ext cx="1371600" cy="630936"/>
          </a:xfrm>
          <a:prstGeom prst="rect">
            <a:avLst/>
          </a:prstGeom>
          <a:noFill/>
          <a:ln/>
        </p:spPr>
        <p:txBody>
          <a:bodyPr wrap="square" lIns="0" tIns="0" rIns="0" bIns="0" rtlCol="0" anchor="ctr">
            <a:normAutofit/>
          </a:bodyPr>
          <a:lstStyle/>
          <a:p>
            <a:pPr algn="ctr" indent="0" marL="0">
              <a:buNone/>
            </a:pPr>
            <a:r>
              <a:rPr lang="en-US" sz="3800" b="1" dirty="0">
                <a:solidFill>
                  <a:srgbClr val="173F35"/>
                </a:solidFill>
                <a:latin typeface="Manrope" pitchFamily="34" charset="0"/>
                <a:ea typeface="Manrope" pitchFamily="34" charset="-122"/>
                <a:cs typeface="Manrope" pitchFamily="34" charset="-120"/>
              </a:rPr>
              <a:t>7</a:t>
            </a:r>
            <a:endParaRPr lang="en-US" sz="3800" dirty="0"/>
          </a:p>
        </p:txBody>
      </p:sp>
      <p:sp>
        <p:nvSpPr>
          <p:cNvPr id="11" name="Text 8"/>
          <p:cNvSpPr txBox="1"/>
          <p:nvPr/>
        </p:nvSpPr>
        <p:spPr>
          <a:xfrm>
            <a:off x="2688336" y="2240280"/>
            <a:ext cx="1371600" cy="246888"/>
          </a:xfrm>
          <a:prstGeom prst="rect">
            <a:avLst/>
          </a:prstGeom>
          <a:noFill/>
          <a:ln/>
        </p:spPr>
        <p:txBody>
          <a:bodyPr wrap="square" lIns="0" tIns="0" rIns="0" bIns="0" rtlCol="0" anchor="ctr">
            <a:normAutofit/>
          </a:bodyPr>
          <a:lstStyle/>
          <a:p>
            <a:pPr algn="ctr" indent="0" marL="0">
              <a:buNone/>
            </a:pPr>
            <a:r>
              <a:rPr lang="en-US" sz="1150" b="1" dirty="0">
                <a:solidFill>
                  <a:srgbClr val="66736A"/>
                </a:solidFill>
                <a:latin typeface="Manrope" pitchFamily="34" charset="0"/>
                <a:ea typeface="Manrope" pitchFamily="34" charset="-122"/>
                <a:cs typeface="Manrope" pitchFamily="34" charset="-120"/>
              </a:rPr>
              <a:t>baseline days</a:t>
            </a:r>
            <a:endParaRPr lang="en-US" sz="1150" dirty="0"/>
          </a:p>
        </p:txBody>
      </p:sp>
      <p:sp>
        <p:nvSpPr>
          <p:cNvPr id="12" name="Text 9"/>
          <p:cNvSpPr txBox="1"/>
          <p:nvPr/>
        </p:nvSpPr>
        <p:spPr>
          <a:xfrm>
            <a:off x="4663440" y="1600200"/>
            <a:ext cx="1371600" cy="630936"/>
          </a:xfrm>
          <a:prstGeom prst="rect">
            <a:avLst/>
          </a:prstGeom>
          <a:noFill/>
          <a:ln/>
        </p:spPr>
        <p:txBody>
          <a:bodyPr wrap="square" lIns="0" tIns="0" rIns="0" bIns="0" rtlCol="0" anchor="ctr">
            <a:normAutofit/>
          </a:bodyPr>
          <a:lstStyle/>
          <a:p>
            <a:pPr algn="ctr" indent="0" marL="0">
              <a:buNone/>
            </a:pPr>
            <a:r>
              <a:rPr lang="en-US" sz="3800" b="1" dirty="0">
                <a:solidFill>
                  <a:srgbClr val="173F35"/>
                </a:solidFill>
                <a:latin typeface="Manrope" pitchFamily="34" charset="0"/>
                <a:ea typeface="Manrope" pitchFamily="34" charset="-122"/>
                <a:cs typeface="Manrope" pitchFamily="34" charset="-120"/>
              </a:rPr>
              <a:t>23</a:t>
            </a:r>
            <a:endParaRPr lang="en-US" sz="3800" dirty="0"/>
          </a:p>
        </p:txBody>
      </p:sp>
      <p:sp>
        <p:nvSpPr>
          <p:cNvPr id="13" name="Text 10"/>
          <p:cNvSpPr txBox="1"/>
          <p:nvPr/>
        </p:nvSpPr>
        <p:spPr>
          <a:xfrm>
            <a:off x="4663440" y="2240280"/>
            <a:ext cx="1371600" cy="246888"/>
          </a:xfrm>
          <a:prstGeom prst="rect">
            <a:avLst/>
          </a:prstGeom>
          <a:noFill/>
          <a:ln/>
        </p:spPr>
        <p:txBody>
          <a:bodyPr wrap="square" lIns="0" tIns="0" rIns="0" bIns="0" rtlCol="0" anchor="ctr">
            <a:normAutofit/>
          </a:bodyPr>
          <a:lstStyle/>
          <a:p>
            <a:pPr algn="ctr" indent="0" marL="0">
              <a:buNone/>
            </a:pPr>
            <a:r>
              <a:rPr lang="en-US" sz="1150" b="1" dirty="0">
                <a:solidFill>
                  <a:srgbClr val="66736A"/>
                </a:solidFill>
                <a:latin typeface="Manrope" pitchFamily="34" charset="0"/>
                <a:ea typeface="Manrope" pitchFamily="34" charset="-122"/>
                <a:cs typeface="Manrope" pitchFamily="34" charset="-120"/>
              </a:rPr>
              <a:t>operating days</a:t>
            </a:r>
            <a:endParaRPr lang="en-US" sz="1150" dirty="0"/>
          </a:p>
        </p:txBody>
      </p:sp>
      <p:sp>
        <p:nvSpPr>
          <p:cNvPr id="14" name="Text 11"/>
          <p:cNvSpPr txBox="1"/>
          <p:nvPr/>
        </p:nvSpPr>
        <p:spPr>
          <a:xfrm>
            <a:off x="6638544" y="1600200"/>
            <a:ext cx="1371600" cy="630936"/>
          </a:xfrm>
          <a:prstGeom prst="rect">
            <a:avLst/>
          </a:prstGeom>
          <a:noFill/>
          <a:ln/>
        </p:spPr>
        <p:txBody>
          <a:bodyPr wrap="square" lIns="0" tIns="0" rIns="0" bIns="0" rtlCol="0" anchor="ctr">
            <a:normAutofit/>
          </a:bodyPr>
          <a:lstStyle/>
          <a:p>
            <a:pPr algn="ctr" indent="0" marL="0">
              <a:buNone/>
            </a:pPr>
            <a:r>
              <a:rPr lang="en-US" sz="3800" b="1" dirty="0">
                <a:solidFill>
                  <a:srgbClr val="173F35"/>
                </a:solidFill>
                <a:latin typeface="Manrope" pitchFamily="34" charset="0"/>
                <a:ea typeface="Manrope" pitchFamily="34" charset="-122"/>
                <a:cs typeface="Manrope" pitchFamily="34" charset="-120"/>
              </a:rPr>
              <a:t>5</a:t>
            </a:r>
            <a:endParaRPr lang="en-US" sz="3800" dirty="0"/>
          </a:p>
        </p:txBody>
      </p:sp>
      <p:sp>
        <p:nvSpPr>
          <p:cNvPr id="15" name="Text 12"/>
          <p:cNvSpPr txBox="1"/>
          <p:nvPr/>
        </p:nvSpPr>
        <p:spPr>
          <a:xfrm>
            <a:off x="6638544" y="2240280"/>
            <a:ext cx="1371600" cy="246888"/>
          </a:xfrm>
          <a:prstGeom prst="rect">
            <a:avLst/>
          </a:prstGeom>
          <a:noFill/>
          <a:ln/>
        </p:spPr>
        <p:txBody>
          <a:bodyPr wrap="square" lIns="0" tIns="0" rIns="0" bIns="0" rtlCol="0" anchor="ctr">
            <a:normAutofit/>
          </a:bodyPr>
          <a:lstStyle/>
          <a:p>
            <a:pPr algn="ctr" indent="0" marL="0">
              <a:buNone/>
            </a:pPr>
            <a:r>
              <a:rPr lang="en-US" sz="1150" b="1" dirty="0">
                <a:solidFill>
                  <a:srgbClr val="66736A"/>
                </a:solidFill>
                <a:latin typeface="Manrope" pitchFamily="34" charset="0"/>
                <a:ea typeface="Manrope" pitchFamily="34" charset="-122"/>
                <a:cs typeface="Manrope" pitchFamily="34" charset="-120"/>
              </a:rPr>
              <a:t>core KPIs</a:t>
            </a:r>
            <a:endParaRPr lang="en-US" sz="1150" dirty="0"/>
          </a:p>
        </p:txBody>
      </p:sp>
      <p:sp>
        <p:nvSpPr>
          <p:cNvPr id="16" name="Shape 13"/>
          <p:cNvSpPr/>
          <p:nvPr/>
        </p:nvSpPr>
        <p:spPr>
          <a:xfrm>
            <a:off x="8705088" y="1600200"/>
            <a:ext cx="2587752" cy="950976"/>
          </a:xfrm>
          <a:prstGeom prst="roundRect">
            <a:avLst>
              <a:gd name="adj" fmla="val 17308"/>
            </a:avLst>
          </a:prstGeom>
          <a:solidFill>
            <a:srgbClr val="173F35"/>
          </a:solidFill>
          <a:ln w="12700">
            <a:solidFill>
              <a:srgbClr val="FFFFFF">
                <a:alpha val="0"/>
              </a:srgbClr>
            </a:solidFill>
            <a:prstDash val="solid"/>
          </a:ln>
        </p:spPr>
      </p:sp>
      <p:sp>
        <p:nvSpPr>
          <p:cNvPr id="17" name="Text 14"/>
          <p:cNvSpPr txBox="1"/>
          <p:nvPr/>
        </p:nvSpPr>
        <p:spPr>
          <a:xfrm>
            <a:off x="8961120" y="1773936"/>
            <a:ext cx="868680" cy="283464"/>
          </a:xfrm>
          <a:prstGeom prst="rect">
            <a:avLst/>
          </a:prstGeom>
          <a:noFill/>
          <a:ln/>
        </p:spPr>
        <p:txBody>
          <a:bodyPr wrap="square" lIns="0" tIns="0" rIns="0" bIns="0" rtlCol="0" anchor="ctr">
            <a:normAutofit/>
          </a:bodyPr>
          <a:lstStyle/>
          <a:p>
            <a:pPr algn="l" indent="0" marL="0">
              <a:buNone/>
            </a:pPr>
            <a:r>
              <a:rPr lang="en-US" sz="1700" b="1" dirty="0">
                <a:solidFill>
                  <a:srgbClr val="BAC879"/>
                </a:solidFill>
                <a:latin typeface="Manrope" pitchFamily="34" charset="0"/>
                <a:ea typeface="Manrope" pitchFamily="34" charset="-122"/>
                <a:cs typeface="Manrope" pitchFamily="34" charset="-120"/>
              </a:rPr>
              <a:t>SDG 8</a:t>
            </a:r>
            <a:endParaRPr lang="en-US" sz="1700" dirty="0"/>
          </a:p>
        </p:txBody>
      </p:sp>
      <p:sp>
        <p:nvSpPr>
          <p:cNvPr id="18" name="Text 15"/>
          <p:cNvSpPr txBox="1"/>
          <p:nvPr/>
        </p:nvSpPr>
        <p:spPr>
          <a:xfrm>
            <a:off x="9765792" y="1737360"/>
            <a:ext cx="1225296" cy="493776"/>
          </a:xfrm>
          <a:prstGeom prst="rect">
            <a:avLst/>
          </a:prstGeom>
          <a:noFill/>
          <a:ln/>
        </p:spPr>
        <p:txBody>
          <a:bodyPr wrap="square" lIns="0" tIns="0" rIns="0" bIns="0" rtlCol="0" anchor="ctr">
            <a:normAutofit/>
          </a:bodyPr>
          <a:lstStyle/>
          <a:p>
            <a:pPr algn="ctr" indent="0" marL="0">
              <a:buNone/>
            </a:pPr>
            <a:r>
              <a:rPr lang="en-US" sz="1130" b="1" dirty="0">
                <a:solidFill>
                  <a:srgbClr val="FFFFFF"/>
                </a:solidFill>
                <a:latin typeface="Manrope" pitchFamily="34" charset="0"/>
                <a:ea typeface="Manrope" pitchFamily="34" charset="-122"/>
                <a:cs typeface="Manrope" pitchFamily="34" charset="-120"/>
              </a:rPr>
              <a:t>Restaurant productivity and more reliable work</a:t>
            </a:r>
            <a:endParaRPr lang="en-US" sz="1130" dirty="0"/>
          </a:p>
        </p:txBody>
      </p:sp>
      <p:sp>
        <p:nvSpPr>
          <p:cNvPr id="19" name="Text 16"/>
          <p:cNvSpPr txBox="1"/>
          <p:nvPr/>
        </p:nvSpPr>
        <p:spPr>
          <a:xfrm>
            <a:off x="777240" y="3063240"/>
            <a:ext cx="1920240" cy="256032"/>
          </a:xfrm>
          <a:prstGeom prst="rect">
            <a:avLst/>
          </a:prstGeom>
          <a:noFill/>
          <a:ln/>
        </p:spPr>
        <p:txBody>
          <a:bodyPr wrap="square" lIns="0" tIns="0" rIns="0" bIns="0" rtlCol="0" anchor="ctr">
            <a:normAutofit/>
          </a:bodyPr>
          <a:lstStyle/>
          <a:p>
            <a:pPr algn="l" indent="0" marL="0">
              <a:buNone/>
            </a:pPr>
            <a:r>
              <a:rPr lang="en-US" sz="1400" b="1" dirty="0">
                <a:solidFill>
                  <a:srgbClr val="173F35"/>
                </a:solidFill>
                <a:latin typeface="Manrope" pitchFamily="34" charset="0"/>
                <a:ea typeface="Manrope" pitchFamily="34" charset="-122"/>
                <a:cs typeface="Manrope" pitchFamily="34" charset="-120"/>
              </a:rPr>
              <a:t>Activation</a:t>
            </a:r>
            <a:endParaRPr lang="en-US" sz="1400" dirty="0"/>
          </a:p>
        </p:txBody>
      </p:sp>
      <p:sp>
        <p:nvSpPr>
          <p:cNvPr id="20" name="Shape 17"/>
          <p:cNvSpPr/>
          <p:nvPr/>
        </p:nvSpPr>
        <p:spPr>
          <a:xfrm>
            <a:off x="2761488" y="3209544"/>
            <a:ext cx="438912" cy="0"/>
          </a:xfrm>
          <a:prstGeom prst="line">
            <a:avLst/>
          </a:prstGeom>
          <a:noFill/>
          <a:ln w="19050">
            <a:solidFill>
              <a:srgbClr val="E8763C"/>
            </a:solidFill>
            <a:prstDash val="solid"/>
          </a:ln>
        </p:spPr>
      </p:sp>
      <p:sp>
        <p:nvSpPr>
          <p:cNvPr id="21" name="Text 18"/>
          <p:cNvSpPr txBox="1"/>
          <p:nvPr/>
        </p:nvSpPr>
        <p:spPr>
          <a:xfrm>
            <a:off x="3383280" y="3044952"/>
            <a:ext cx="4700016" cy="292608"/>
          </a:xfrm>
          <a:prstGeom prst="rect">
            <a:avLst/>
          </a:prstGeom>
          <a:noFill/>
          <a:ln/>
        </p:spPr>
        <p:txBody>
          <a:bodyPr wrap="square" lIns="0" tIns="0" rIns="0" bIns="0" rtlCol="0" anchor="ctr">
            <a:normAutofit/>
          </a:bodyPr>
          <a:lstStyle/>
          <a:p>
            <a:pPr algn="l" indent="0" marL="0">
              <a:buNone/>
            </a:pPr>
            <a:r>
              <a:rPr lang="en-US" sz="1240" dirty="0">
                <a:solidFill>
                  <a:srgbClr val="17231F"/>
                </a:solidFill>
                <a:latin typeface="Manrope" pitchFamily="34" charset="0"/>
                <a:ea typeface="Manrope" pitchFamily="34" charset="-122"/>
                <a:cs typeface="Manrope" pitchFamily="34" charset="-120"/>
              </a:rPr>
              <a:t>Time from setup to first complete order</a:t>
            </a:r>
            <a:endParaRPr lang="en-US" sz="1240" dirty="0"/>
          </a:p>
        </p:txBody>
      </p:sp>
      <p:sp>
        <p:nvSpPr>
          <p:cNvPr id="22" name="Text 19"/>
          <p:cNvSpPr txBox="1"/>
          <p:nvPr/>
        </p:nvSpPr>
        <p:spPr>
          <a:xfrm>
            <a:off x="777240" y="3584448"/>
            <a:ext cx="1920240" cy="256032"/>
          </a:xfrm>
          <a:prstGeom prst="rect">
            <a:avLst/>
          </a:prstGeom>
          <a:noFill/>
          <a:ln/>
        </p:spPr>
        <p:txBody>
          <a:bodyPr wrap="square" lIns="0" tIns="0" rIns="0" bIns="0" rtlCol="0" anchor="ctr">
            <a:normAutofit/>
          </a:bodyPr>
          <a:lstStyle/>
          <a:p>
            <a:pPr algn="l" indent="0" marL="0">
              <a:buNone/>
            </a:pPr>
            <a:r>
              <a:rPr lang="en-US" sz="1400" b="1" dirty="0">
                <a:solidFill>
                  <a:srgbClr val="173F35"/>
                </a:solidFill>
                <a:latin typeface="Manrope" pitchFamily="34" charset="0"/>
                <a:ea typeface="Manrope" pitchFamily="34" charset="-122"/>
                <a:cs typeface="Manrope" pitchFamily="34" charset="-120"/>
              </a:rPr>
              <a:t>Order accuracy</a:t>
            </a:r>
            <a:endParaRPr lang="en-US" sz="1400" dirty="0"/>
          </a:p>
        </p:txBody>
      </p:sp>
      <p:sp>
        <p:nvSpPr>
          <p:cNvPr id="23" name="Shape 20"/>
          <p:cNvSpPr/>
          <p:nvPr/>
        </p:nvSpPr>
        <p:spPr>
          <a:xfrm>
            <a:off x="2761488" y="3730752"/>
            <a:ext cx="438912" cy="0"/>
          </a:xfrm>
          <a:prstGeom prst="line">
            <a:avLst/>
          </a:prstGeom>
          <a:noFill/>
          <a:ln w="19050">
            <a:solidFill>
              <a:srgbClr val="E8763C"/>
            </a:solidFill>
            <a:prstDash val="solid"/>
          </a:ln>
        </p:spPr>
      </p:sp>
      <p:sp>
        <p:nvSpPr>
          <p:cNvPr id="24" name="Text 21"/>
          <p:cNvSpPr txBox="1"/>
          <p:nvPr/>
        </p:nvSpPr>
        <p:spPr>
          <a:xfrm>
            <a:off x="3383280" y="3566160"/>
            <a:ext cx="4700016" cy="292608"/>
          </a:xfrm>
          <a:prstGeom prst="rect">
            <a:avLst/>
          </a:prstGeom>
          <a:noFill/>
          <a:ln/>
        </p:spPr>
        <p:txBody>
          <a:bodyPr wrap="square" lIns="0" tIns="0" rIns="0" bIns="0" rtlCol="0" anchor="ctr">
            <a:normAutofit/>
          </a:bodyPr>
          <a:lstStyle/>
          <a:p>
            <a:pPr algn="l" indent="0" marL="0">
              <a:buNone/>
            </a:pPr>
            <a:r>
              <a:rPr lang="en-US" sz="1240" dirty="0">
                <a:solidFill>
                  <a:srgbClr val="17231F"/>
                </a:solidFill>
                <a:latin typeface="Manrope" pitchFamily="34" charset="0"/>
                <a:ea typeface="Manrope" pitchFamily="34" charset="-122"/>
                <a:cs typeface="Manrope" pitchFamily="34" charset="-120"/>
              </a:rPr>
              <a:t>Corrections or cancellations caused by error</a:t>
            </a:r>
            <a:endParaRPr lang="en-US" sz="1240" dirty="0"/>
          </a:p>
        </p:txBody>
      </p:sp>
      <p:sp>
        <p:nvSpPr>
          <p:cNvPr id="25" name="Text 22"/>
          <p:cNvSpPr txBox="1"/>
          <p:nvPr/>
        </p:nvSpPr>
        <p:spPr>
          <a:xfrm>
            <a:off x="777240" y="4105656"/>
            <a:ext cx="1920240" cy="256032"/>
          </a:xfrm>
          <a:prstGeom prst="rect">
            <a:avLst/>
          </a:prstGeom>
          <a:noFill/>
          <a:ln/>
        </p:spPr>
        <p:txBody>
          <a:bodyPr wrap="square" lIns="0" tIns="0" rIns="0" bIns="0" rtlCol="0" anchor="ctr">
            <a:normAutofit/>
          </a:bodyPr>
          <a:lstStyle/>
          <a:p>
            <a:pPr algn="l" indent="0" marL="0">
              <a:buNone/>
            </a:pPr>
            <a:r>
              <a:rPr lang="en-US" sz="1400" b="1" dirty="0">
                <a:solidFill>
                  <a:srgbClr val="173F35"/>
                </a:solidFill>
                <a:latin typeface="Manrope" pitchFamily="34" charset="0"/>
                <a:ea typeface="Manrope" pitchFamily="34" charset="-122"/>
                <a:cs typeface="Manrope" pitchFamily="34" charset="-120"/>
              </a:rPr>
              <a:t>Kitchen cycle</a:t>
            </a:r>
            <a:endParaRPr lang="en-US" sz="1400" dirty="0"/>
          </a:p>
        </p:txBody>
      </p:sp>
      <p:sp>
        <p:nvSpPr>
          <p:cNvPr id="26" name="Shape 23"/>
          <p:cNvSpPr/>
          <p:nvPr/>
        </p:nvSpPr>
        <p:spPr>
          <a:xfrm>
            <a:off x="2761488" y="4251960"/>
            <a:ext cx="438912" cy="0"/>
          </a:xfrm>
          <a:prstGeom prst="line">
            <a:avLst/>
          </a:prstGeom>
          <a:noFill/>
          <a:ln w="19050">
            <a:solidFill>
              <a:srgbClr val="E8763C"/>
            </a:solidFill>
            <a:prstDash val="solid"/>
          </a:ln>
        </p:spPr>
      </p:sp>
      <p:sp>
        <p:nvSpPr>
          <p:cNvPr id="27" name="Text 24"/>
          <p:cNvSpPr txBox="1"/>
          <p:nvPr/>
        </p:nvSpPr>
        <p:spPr>
          <a:xfrm>
            <a:off x="3383280" y="4087368"/>
            <a:ext cx="4700016" cy="292608"/>
          </a:xfrm>
          <a:prstGeom prst="rect">
            <a:avLst/>
          </a:prstGeom>
          <a:noFill/>
          <a:ln/>
        </p:spPr>
        <p:txBody>
          <a:bodyPr wrap="square" lIns="0" tIns="0" rIns="0" bIns="0" rtlCol="0" anchor="ctr">
            <a:normAutofit/>
          </a:bodyPr>
          <a:lstStyle/>
          <a:p>
            <a:pPr algn="l" indent="0" marL="0">
              <a:buNone/>
            </a:pPr>
            <a:r>
              <a:rPr lang="en-US" sz="1240" dirty="0">
                <a:solidFill>
                  <a:srgbClr val="17231F"/>
                </a:solidFill>
                <a:latin typeface="Manrope" pitchFamily="34" charset="0"/>
                <a:ea typeface="Manrope" pitchFamily="34" charset="-122"/>
                <a:cs typeface="Manrope" pitchFamily="34" charset="-120"/>
              </a:rPr>
              <a:t>order_sent to kds_ready</a:t>
            </a:r>
            <a:endParaRPr lang="en-US" sz="1240" dirty="0"/>
          </a:p>
        </p:txBody>
      </p:sp>
      <p:sp>
        <p:nvSpPr>
          <p:cNvPr id="28" name="Text 25"/>
          <p:cNvSpPr txBox="1"/>
          <p:nvPr/>
        </p:nvSpPr>
        <p:spPr>
          <a:xfrm>
            <a:off x="777240" y="4626864"/>
            <a:ext cx="1920240" cy="256032"/>
          </a:xfrm>
          <a:prstGeom prst="rect">
            <a:avLst/>
          </a:prstGeom>
          <a:noFill/>
          <a:ln/>
        </p:spPr>
        <p:txBody>
          <a:bodyPr wrap="square" lIns="0" tIns="0" rIns="0" bIns="0" rtlCol="0" anchor="ctr">
            <a:normAutofit/>
          </a:bodyPr>
          <a:lstStyle/>
          <a:p>
            <a:pPr algn="l" indent="0" marL="0">
              <a:buNone/>
            </a:pPr>
            <a:r>
              <a:rPr lang="en-US" sz="1400" b="1" dirty="0">
                <a:solidFill>
                  <a:srgbClr val="173F35"/>
                </a:solidFill>
                <a:latin typeface="Manrope" pitchFamily="34" charset="0"/>
                <a:ea typeface="Manrope" pitchFamily="34" charset="-122"/>
                <a:cs typeface="Manrope" pitchFamily="34" charset="-120"/>
              </a:rPr>
              <a:t>Settlement</a:t>
            </a:r>
            <a:endParaRPr lang="en-US" sz="1400" dirty="0"/>
          </a:p>
        </p:txBody>
      </p:sp>
      <p:sp>
        <p:nvSpPr>
          <p:cNvPr id="29" name="Shape 26"/>
          <p:cNvSpPr/>
          <p:nvPr/>
        </p:nvSpPr>
        <p:spPr>
          <a:xfrm>
            <a:off x="2761488" y="4773168"/>
            <a:ext cx="438912" cy="0"/>
          </a:xfrm>
          <a:prstGeom prst="line">
            <a:avLst/>
          </a:prstGeom>
          <a:noFill/>
          <a:ln w="19050">
            <a:solidFill>
              <a:srgbClr val="E8763C"/>
            </a:solidFill>
            <a:prstDash val="solid"/>
          </a:ln>
        </p:spPr>
      </p:sp>
      <p:sp>
        <p:nvSpPr>
          <p:cNvPr id="30" name="Text 27"/>
          <p:cNvSpPr txBox="1"/>
          <p:nvPr/>
        </p:nvSpPr>
        <p:spPr>
          <a:xfrm>
            <a:off x="3383280" y="4608576"/>
            <a:ext cx="4700016" cy="292608"/>
          </a:xfrm>
          <a:prstGeom prst="rect">
            <a:avLst/>
          </a:prstGeom>
          <a:noFill/>
          <a:ln/>
        </p:spPr>
        <p:txBody>
          <a:bodyPr wrap="square" lIns="0" tIns="0" rIns="0" bIns="0" rtlCol="0" anchor="ctr">
            <a:normAutofit/>
          </a:bodyPr>
          <a:lstStyle/>
          <a:p>
            <a:pPr algn="l" indent="0" marL="0">
              <a:buNone/>
            </a:pPr>
            <a:r>
              <a:rPr lang="en-US" sz="1240" dirty="0">
                <a:solidFill>
                  <a:srgbClr val="17231F"/>
                </a:solidFill>
                <a:latin typeface="Manrope" pitchFamily="34" charset="0"/>
                <a:ea typeface="Manrope" pitchFamily="34" charset="-122"/>
                <a:cs typeface="Manrope" pitchFamily="34" charset="-120"/>
              </a:rPr>
              <a:t>bill_requested to payment_closed</a:t>
            </a:r>
            <a:endParaRPr lang="en-US" sz="1240" dirty="0"/>
          </a:p>
        </p:txBody>
      </p:sp>
      <p:sp>
        <p:nvSpPr>
          <p:cNvPr id="31" name="Text 28"/>
          <p:cNvSpPr txBox="1"/>
          <p:nvPr/>
        </p:nvSpPr>
        <p:spPr>
          <a:xfrm>
            <a:off x="777240" y="5148072"/>
            <a:ext cx="1920240" cy="256032"/>
          </a:xfrm>
          <a:prstGeom prst="rect">
            <a:avLst/>
          </a:prstGeom>
          <a:noFill/>
          <a:ln/>
        </p:spPr>
        <p:txBody>
          <a:bodyPr wrap="square" lIns="0" tIns="0" rIns="0" bIns="0" rtlCol="0" anchor="ctr">
            <a:normAutofit/>
          </a:bodyPr>
          <a:lstStyle/>
          <a:p>
            <a:pPr algn="l" indent="0" marL="0">
              <a:buNone/>
            </a:pPr>
            <a:r>
              <a:rPr lang="en-US" sz="1400" b="1" dirty="0">
                <a:solidFill>
                  <a:srgbClr val="173F35"/>
                </a:solidFill>
                <a:latin typeface="Manrope" pitchFamily="34" charset="0"/>
                <a:ea typeface="Manrope" pitchFamily="34" charset="-122"/>
                <a:cs typeface="Manrope" pitchFamily="34" charset="-120"/>
              </a:rPr>
              <a:t>Team adoption</a:t>
            </a:r>
            <a:endParaRPr lang="en-US" sz="1400" dirty="0"/>
          </a:p>
        </p:txBody>
      </p:sp>
      <p:sp>
        <p:nvSpPr>
          <p:cNvPr id="32" name="Shape 29"/>
          <p:cNvSpPr/>
          <p:nvPr/>
        </p:nvSpPr>
        <p:spPr>
          <a:xfrm>
            <a:off x="2761488" y="5294376"/>
            <a:ext cx="438912" cy="0"/>
          </a:xfrm>
          <a:prstGeom prst="line">
            <a:avLst/>
          </a:prstGeom>
          <a:noFill/>
          <a:ln w="19050">
            <a:solidFill>
              <a:srgbClr val="E8763C"/>
            </a:solidFill>
            <a:prstDash val="solid"/>
          </a:ln>
        </p:spPr>
      </p:sp>
      <p:sp>
        <p:nvSpPr>
          <p:cNvPr id="33" name="Text 30"/>
          <p:cNvSpPr txBox="1"/>
          <p:nvPr/>
        </p:nvSpPr>
        <p:spPr>
          <a:xfrm>
            <a:off x="3383280" y="5129784"/>
            <a:ext cx="4700016" cy="292608"/>
          </a:xfrm>
          <a:prstGeom prst="rect">
            <a:avLst/>
          </a:prstGeom>
          <a:noFill/>
          <a:ln/>
        </p:spPr>
        <p:txBody>
          <a:bodyPr wrap="square" lIns="0" tIns="0" rIns="0" bIns="0" rtlCol="0" anchor="ctr">
            <a:normAutofit/>
          </a:bodyPr>
          <a:lstStyle/>
          <a:p>
            <a:pPr algn="l" indent="0" marL="0">
              <a:buNone/>
            </a:pPr>
            <a:r>
              <a:rPr lang="en-US" sz="1240" dirty="0">
                <a:solidFill>
                  <a:srgbClr val="17231F"/>
                </a:solidFill>
                <a:latin typeface="Manrope" pitchFamily="34" charset="0"/>
                <a:ea typeface="Manrope" pitchFamily="34" charset="-122"/>
                <a:cs typeface="Manrope" pitchFamily="34" charset="-120"/>
              </a:rPr>
              <a:t>Share of orders in system + weekly CSAT</a:t>
            </a:r>
            <a:endParaRPr lang="en-US" sz="1240" dirty="0"/>
          </a:p>
        </p:txBody>
      </p:sp>
      <p:sp>
        <p:nvSpPr>
          <p:cNvPr id="34" name="Shape 31"/>
          <p:cNvSpPr/>
          <p:nvPr/>
        </p:nvSpPr>
        <p:spPr>
          <a:xfrm>
            <a:off x="8705088" y="3063240"/>
            <a:ext cx="2587752" cy="2542032"/>
          </a:xfrm>
          <a:prstGeom prst="roundRect">
            <a:avLst>
              <a:gd name="adj" fmla="val 6475"/>
            </a:avLst>
          </a:prstGeom>
          <a:solidFill>
            <a:srgbClr val="E6EFE8"/>
          </a:solidFill>
          <a:ln w="12700">
            <a:solidFill>
              <a:srgbClr val="FFFFFF">
                <a:alpha val="0"/>
              </a:srgbClr>
            </a:solidFill>
            <a:prstDash val="solid"/>
          </a:ln>
        </p:spPr>
      </p:sp>
      <p:sp>
        <p:nvSpPr>
          <p:cNvPr id="35" name="Text 32"/>
          <p:cNvSpPr txBox="1"/>
          <p:nvPr/>
        </p:nvSpPr>
        <p:spPr>
          <a:xfrm>
            <a:off x="9015984" y="3355848"/>
            <a:ext cx="1938528" cy="329184"/>
          </a:xfrm>
          <a:prstGeom prst="rect">
            <a:avLst/>
          </a:prstGeom>
          <a:noFill/>
          <a:ln/>
        </p:spPr>
        <p:txBody>
          <a:bodyPr wrap="square" lIns="0" tIns="0" rIns="0" bIns="0" rtlCol="0" anchor="ctr">
            <a:normAutofit/>
          </a:bodyPr>
          <a:lstStyle/>
          <a:p>
            <a:pPr algn="ctr" indent="0" marL="0">
              <a:buNone/>
            </a:pPr>
            <a:r>
              <a:rPr lang="en-US" sz="1900" b="1" dirty="0">
                <a:solidFill>
                  <a:srgbClr val="173F35"/>
                </a:solidFill>
                <a:latin typeface="Manrope" pitchFamily="34" charset="0"/>
                <a:ea typeface="Manrope" pitchFamily="34" charset="-122"/>
                <a:cs typeface="Manrope" pitchFamily="34" charset="-120"/>
              </a:rPr>
              <a:t>Pilot thresholds</a:t>
            </a:r>
            <a:endParaRPr lang="en-US" sz="1900" dirty="0"/>
          </a:p>
        </p:txBody>
      </p:sp>
      <p:sp>
        <p:nvSpPr>
          <p:cNvPr id="36" name="Text 33"/>
          <p:cNvSpPr txBox="1"/>
          <p:nvPr/>
        </p:nvSpPr>
        <p:spPr>
          <a:xfrm>
            <a:off x="9015984" y="3840480"/>
            <a:ext cx="1938528" cy="1325880"/>
          </a:xfrm>
          <a:prstGeom prst="rect">
            <a:avLst/>
          </a:prstGeom>
          <a:noFill/>
          <a:ln/>
        </p:spPr>
        <p:txBody>
          <a:bodyPr wrap="square" lIns="0" tIns="0" rIns="0" bIns="0" rtlCol="0" anchor="t">
            <a:normAutofit/>
          </a:bodyPr>
          <a:lstStyle/>
          <a:p>
            <a:pPr algn="ctr" indent="0" marL="0">
              <a:buNone/>
            </a:pPr>
            <a:r>
              <a:rPr lang="en-US" sz="1400" b="1" dirty="0">
                <a:solidFill>
                  <a:srgbClr val="17231F"/>
                </a:solidFill>
                <a:latin typeface="Manrope" pitchFamily="34" charset="0"/>
                <a:ea typeface="Manrope" pitchFamily="34" charset="-122"/>
                <a:cs typeface="Manrope" pitchFamily="34" charset="-120"/>
              </a:rPr>
              <a:t>80% of orders routed through Resuto</a:t>
            </a:r>
            <a:endParaRPr lang="en-US" sz="1400" dirty="0"/>
          </a:p>
          <a:p>
            <a:pPr algn="ctr" indent="0" marL="0">
              <a:buNone/>
            </a:pPr>
            <a:endParaRPr lang="en-US" sz="1400" dirty="0"/>
          </a:p>
          <a:p>
            <a:pPr algn="ctr" indent="0" marL="0">
              <a:buNone/>
            </a:pPr>
            <a:r>
              <a:rPr lang="en-US" sz="1400" b="1" dirty="0">
                <a:solidFill>
                  <a:srgbClr val="17231F"/>
                </a:solidFill>
                <a:latin typeface="Manrope" pitchFamily="34" charset="0"/>
                <a:ea typeface="Manrope" pitchFamily="34" charset="-122"/>
                <a:cs typeface="Manrope" pitchFamily="34" charset="-120"/>
              </a:rPr>
              <a:t>10% improvement in at least two KPIs</a:t>
            </a:r>
            <a:endParaRPr lang="en-US" sz="1400" dirty="0"/>
          </a:p>
          <a:p>
            <a:pPr algn="ctr" indent="0" marL="0">
              <a:buNone/>
            </a:pPr>
            <a:endParaRPr lang="en-US" sz="1400" dirty="0"/>
          </a:p>
          <a:p>
            <a:pPr algn="ctr" indent="0" marL="0">
              <a:buNone/>
            </a:pPr>
            <a:r>
              <a:rPr lang="en-US" sz="1400" b="1" dirty="0">
                <a:solidFill>
                  <a:srgbClr val="17231F"/>
                </a:solidFill>
                <a:latin typeface="Manrope" pitchFamily="34" charset="0"/>
                <a:ea typeface="Manrope" pitchFamily="34" charset="-122"/>
                <a:cs typeface="Manrope" pitchFamily="34" charset="-120"/>
              </a:rPr>
              <a:t>Team CSAT of 4/5</a:t>
            </a:r>
            <a:endParaRPr lang="en-US" sz="1400" dirty="0"/>
          </a:p>
        </p:txBody>
      </p:sp>
      <p:sp>
        <p:nvSpPr>
          <p:cNvPr id="37" name="Text 34"/>
          <p:cNvSpPr txBox="1"/>
          <p:nvPr/>
        </p:nvSpPr>
        <p:spPr>
          <a:xfrm>
            <a:off x="749808" y="6035040"/>
            <a:ext cx="7498080" cy="237744"/>
          </a:xfrm>
          <a:prstGeom prst="rect">
            <a:avLst/>
          </a:prstGeom>
          <a:noFill/>
          <a:ln/>
        </p:spPr>
        <p:txBody>
          <a:bodyPr wrap="square" lIns="0" tIns="0" rIns="0" bIns="0" rtlCol="0" anchor="ctr">
            <a:normAutofit/>
          </a:bodyPr>
          <a:lstStyle/>
          <a:p>
            <a:pPr algn="l" indent="0" marL="0">
              <a:buNone/>
            </a:pPr>
            <a:r>
              <a:rPr lang="en-US" sz="1050" dirty="0">
                <a:solidFill>
                  <a:srgbClr val="B94E4E"/>
                </a:solidFill>
                <a:latin typeface="Manrope" pitchFamily="34" charset="0"/>
                <a:ea typeface="Manrope" pitchFamily="34" charset="-122"/>
                <a:cs typeface="Manrope" pitchFamily="34" charset="-120"/>
              </a:rPr>
              <a:t>The source PDF’s RTL inequality glyph order is ambiguous; thresholds are written here as plain language.</a:t>
            </a:r>
            <a:endParaRPr lang="en-US" sz="1050" dirty="0"/>
          </a:p>
        </p:txBody>
      </p:sp>
      <p:sp>
        <p:nvSpPr>
          <p:cNvPr id="38" name="Text 35"/>
          <p:cNvSpPr txBox="1"/>
          <p:nvPr/>
        </p:nvSpPr>
        <p:spPr>
          <a:xfrm>
            <a:off x="658368" y="6565392"/>
            <a:ext cx="5303520" cy="118872"/>
          </a:xfrm>
          <a:prstGeom prst="rect">
            <a:avLst/>
          </a:prstGeom>
          <a:noFill/>
          <a:ln/>
        </p:spPr>
        <p:txBody>
          <a:bodyPr wrap="square" lIns="0" tIns="0" rIns="0" bIns="0" rtlCol="0" anchor="t">
            <a:normAutofit/>
          </a:bodyPr>
          <a:lstStyle/>
          <a:p>
            <a:pPr algn="l" indent="0" marL="0">
              <a:buNone/>
            </a:pPr>
            <a:r>
              <a:rPr lang="en-US" sz="850" dirty="0">
                <a:solidFill>
                  <a:srgbClr val="66736A"/>
                </a:solidFill>
                <a:latin typeface="Manrope" pitchFamily="34" charset="0"/>
                <a:ea typeface="Manrope" pitchFamily="34" charset="-122"/>
                <a:cs typeface="Manrope" pitchFamily="34" charset="-120"/>
              </a:rPr>
              <a:t>Target metrics · baseline before activation · post-adoption comparison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384048" y="6510528"/>
            <a:ext cx="11402568" cy="0"/>
          </a:xfrm>
          <a:prstGeom prst="line">
            <a:avLst/>
          </a:prstGeom>
          <a:noFill/>
          <a:ln w="8890">
            <a:solidFill>
              <a:srgbClr val="D4DCD5"/>
            </a:solidFill>
            <a:prstDash val="solid"/>
          </a:ln>
        </p:spPr>
      </p:sp>
      <p:pic>
        <p:nvPicPr>
          <p:cNvPr id="3" name="Image 0" descr="/Users/tank/Downloads/Resuto-main/.codex-build/resuto-impactx-pitch/resuto-original-mark.png">    </p:cNvPr>
          <p:cNvPicPr>
            <a:picLocks noChangeAspect="1"/>
          </p:cNvPicPr>
          <p:nvPr/>
        </p:nvPicPr>
        <p:blipFill>
          <a:blip r:embed="rId1"/>
          <a:stretch>
            <a:fillRect/>
          </a:stretch>
        </p:blipFill>
        <p:spPr>
          <a:xfrm>
            <a:off x="384048" y="210312"/>
            <a:ext cx="356616" cy="338328"/>
          </a:xfrm>
          <a:prstGeom prst="rect">
            <a:avLst/>
          </a:prstGeom>
        </p:spPr>
      </p:pic>
      <p:sp>
        <p:nvSpPr>
          <p:cNvPr id="4" name="Text 1"/>
          <p:cNvSpPr txBox="1"/>
          <p:nvPr/>
        </p:nvSpPr>
        <p:spPr>
          <a:xfrm>
            <a:off x="786384" y="283464"/>
            <a:ext cx="914400" cy="164592"/>
          </a:xfrm>
          <a:prstGeom prst="rect">
            <a:avLst/>
          </a:prstGeom>
          <a:noFill/>
          <a:ln/>
        </p:spPr>
        <p:txBody>
          <a:bodyPr wrap="square" lIns="0" tIns="0" rIns="0" bIns="0" rtlCol="0" anchor="t">
            <a:normAutofit/>
          </a:bodyPr>
          <a:lstStyle/>
          <a:p>
            <a:pPr algn="l" indent="0" marL="0">
              <a:buNone/>
            </a:pPr>
            <a:r>
              <a:rPr lang="en-US" sz="900" b="1" dirty="0">
                <a:solidFill>
                  <a:srgbClr val="173F35"/>
                </a:solidFill>
                <a:latin typeface="Manrope" pitchFamily="34" charset="0"/>
                <a:ea typeface="Manrope" pitchFamily="34" charset="-122"/>
                <a:cs typeface="Manrope" pitchFamily="34" charset="-120"/>
              </a:rPr>
              <a:t>RESUTO</a:t>
            </a:r>
            <a:endParaRPr lang="en-US" sz="900" dirty="0"/>
          </a:p>
        </p:txBody>
      </p:sp>
      <p:sp>
        <p:nvSpPr>
          <p:cNvPr id="5" name="Text 2"/>
          <p:cNvSpPr txBox="1"/>
          <p:nvPr/>
        </p:nvSpPr>
        <p:spPr>
          <a:xfrm>
            <a:off x="9829800" y="274320"/>
            <a:ext cx="1691640" cy="146304"/>
          </a:xfrm>
          <a:prstGeom prst="rect">
            <a:avLst/>
          </a:prstGeom>
          <a:noFill/>
          <a:ln/>
        </p:spPr>
        <p:txBody>
          <a:bodyPr wrap="square" lIns="0" tIns="0" rIns="0" bIns="0" rtlCol="0" anchor="ctr">
            <a:normAutofit/>
          </a:bodyPr>
          <a:lstStyle/>
          <a:p>
            <a:pPr algn="r" indent="0" marL="0">
              <a:buNone/>
            </a:pPr>
            <a:r>
              <a:rPr lang="en-US" sz="850" b="1" spc="140" kern="0" dirty="0">
                <a:solidFill>
                  <a:srgbClr val="D89A32"/>
                </a:solidFill>
                <a:latin typeface="Manrope" pitchFamily="34" charset="0"/>
                <a:ea typeface="Manrope" pitchFamily="34" charset="-122"/>
                <a:cs typeface="Manrope" pitchFamily="34" charset="-120"/>
              </a:rPr>
              <a:t>BUSINESS MODEL</a:t>
            </a:r>
            <a:endParaRPr lang="en-US" sz="850" dirty="0"/>
          </a:p>
        </p:txBody>
      </p:sp>
      <p:sp>
        <p:nvSpPr>
          <p:cNvPr id="6" name="Text 3"/>
          <p:cNvSpPr txBox="1"/>
          <p:nvPr/>
        </p:nvSpPr>
        <p:spPr>
          <a:xfrm>
            <a:off x="658368" y="557784"/>
            <a:ext cx="10835640" cy="530352"/>
          </a:xfrm>
          <a:prstGeom prst="rect">
            <a:avLst/>
          </a:prstGeom>
          <a:noFill/>
          <a:ln/>
        </p:spPr>
        <p:txBody>
          <a:bodyPr wrap="square" lIns="0" tIns="0" rIns="0" bIns="0" rtlCol="0" anchor="t">
            <a:normAutofit/>
          </a:bodyPr>
          <a:lstStyle/>
          <a:p>
            <a:pPr algn="l" indent="0" marL="0">
              <a:buNone/>
            </a:pPr>
            <a:r>
              <a:rPr lang="en-US" sz="3000" b="1" dirty="0">
                <a:solidFill>
                  <a:srgbClr val="17231F"/>
                </a:solidFill>
                <a:latin typeface="Manrope" pitchFamily="34" charset="0"/>
                <a:ea typeface="Manrope" pitchFamily="34" charset="-122"/>
                <a:cs typeface="Manrope" pitchFamily="34" charset="-120"/>
              </a:rPr>
              <a:t>Egypt first, paid per branch</a:t>
            </a:r>
            <a:endParaRPr lang="en-US" sz="3000" dirty="0"/>
          </a:p>
        </p:txBody>
      </p:sp>
      <p:sp>
        <p:nvSpPr>
          <p:cNvPr id="7" name="Text 4"/>
          <p:cNvSpPr txBox="1"/>
          <p:nvPr/>
        </p:nvSpPr>
        <p:spPr>
          <a:xfrm>
            <a:off x="676656" y="1097280"/>
            <a:ext cx="10469880" cy="347472"/>
          </a:xfrm>
          <a:prstGeom prst="rect">
            <a:avLst/>
          </a:prstGeom>
          <a:noFill/>
          <a:ln/>
        </p:spPr>
        <p:txBody>
          <a:bodyPr wrap="square" lIns="0" tIns="0" rIns="0" bIns="0" rtlCol="0" anchor="t">
            <a:normAutofit/>
          </a:bodyPr>
          <a:lstStyle/>
          <a:p>
            <a:pPr algn="l" indent="0" marL="0">
              <a:buNone/>
            </a:pPr>
            <a:r>
              <a:rPr lang="en-US" sz="1450" dirty="0">
                <a:solidFill>
                  <a:srgbClr val="66736A"/>
                </a:solidFill>
                <a:latin typeface="Manrope" pitchFamily="34" charset="0"/>
                <a:ea typeface="Manrope" pitchFamily="34" charset="-122"/>
                <a:cs typeface="Manrope" pitchFamily="34" charset="-120"/>
              </a:rPr>
              <a:t>The price buys the connected operating flow; Saudi Arabia opens only after compliance gates</a:t>
            </a:r>
            <a:endParaRPr lang="en-US" sz="1450" dirty="0"/>
          </a:p>
        </p:txBody>
      </p:sp>
      <p:sp>
        <p:nvSpPr>
          <p:cNvPr id="8" name="Shape 5"/>
          <p:cNvSpPr/>
          <p:nvPr/>
        </p:nvSpPr>
        <p:spPr>
          <a:xfrm>
            <a:off x="704088" y="1572768"/>
            <a:ext cx="4572000" cy="4325112"/>
          </a:xfrm>
          <a:prstGeom prst="roundRect">
            <a:avLst>
              <a:gd name="adj" fmla="val 5074"/>
            </a:avLst>
          </a:prstGeom>
          <a:solidFill>
            <a:srgbClr val="173F35"/>
          </a:solidFill>
          <a:ln w="12700">
            <a:solidFill>
              <a:srgbClr val="FFFFFF">
                <a:alpha val="0"/>
              </a:srgbClr>
            </a:solidFill>
            <a:prstDash val="solid"/>
          </a:ln>
        </p:spPr>
      </p:sp>
      <p:sp>
        <p:nvSpPr>
          <p:cNvPr id="9" name="Text 6"/>
          <p:cNvSpPr txBox="1"/>
          <p:nvPr/>
        </p:nvSpPr>
        <p:spPr>
          <a:xfrm>
            <a:off x="1024128" y="1901952"/>
            <a:ext cx="1234440" cy="365760"/>
          </a:xfrm>
          <a:prstGeom prst="rect">
            <a:avLst/>
          </a:prstGeom>
          <a:noFill/>
          <a:ln/>
        </p:spPr>
        <p:txBody>
          <a:bodyPr wrap="square" lIns="0" tIns="0" rIns="0" bIns="0" rtlCol="0" anchor="ctr">
            <a:normAutofit/>
          </a:bodyPr>
          <a:lstStyle/>
          <a:p>
            <a:pPr algn="l" indent="0" marL="0">
              <a:buNone/>
            </a:pPr>
            <a:r>
              <a:rPr lang="en-US" sz="2400" b="1" dirty="0">
                <a:solidFill>
                  <a:srgbClr val="BAC879"/>
                </a:solidFill>
                <a:latin typeface="Manrope" pitchFamily="34" charset="0"/>
                <a:ea typeface="Manrope" pitchFamily="34" charset="-122"/>
                <a:cs typeface="Manrope" pitchFamily="34" charset="-120"/>
              </a:rPr>
              <a:t>Growth</a:t>
            </a:r>
            <a:endParaRPr lang="en-US" sz="2400" dirty="0"/>
          </a:p>
        </p:txBody>
      </p:sp>
      <p:sp>
        <p:nvSpPr>
          <p:cNvPr id="10" name="Text 7"/>
          <p:cNvSpPr txBox="1"/>
          <p:nvPr/>
        </p:nvSpPr>
        <p:spPr>
          <a:xfrm>
            <a:off x="1024128" y="2450592"/>
            <a:ext cx="3456432" cy="640080"/>
          </a:xfrm>
          <a:prstGeom prst="rect">
            <a:avLst/>
          </a:prstGeom>
          <a:noFill/>
          <a:ln/>
        </p:spPr>
        <p:txBody>
          <a:bodyPr wrap="square" lIns="0" tIns="0" rIns="0" bIns="0" rtlCol="0" anchor="ctr">
            <a:normAutofit/>
          </a:bodyPr>
          <a:lstStyle/>
          <a:p>
            <a:pPr algn="l" indent="0" marL="0">
              <a:buNone/>
            </a:pPr>
            <a:r>
              <a:rPr lang="en-US" sz="4000" b="1" dirty="0">
                <a:solidFill>
                  <a:srgbClr val="FFFFFF"/>
                </a:solidFill>
                <a:latin typeface="Manrope" pitchFamily="34" charset="0"/>
                <a:ea typeface="Manrope" pitchFamily="34" charset="-122"/>
                <a:cs typeface="Manrope" pitchFamily="34" charset="-120"/>
              </a:rPr>
              <a:t>EGP 1,499</a:t>
            </a:r>
            <a:endParaRPr lang="en-US" sz="4000" dirty="0"/>
          </a:p>
        </p:txBody>
      </p:sp>
      <p:sp>
        <p:nvSpPr>
          <p:cNvPr id="11" name="Text 8"/>
          <p:cNvSpPr txBox="1"/>
          <p:nvPr/>
        </p:nvSpPr>
        <p:spPr>
          <a:xfrm>
            <a:off x="1051560" y="3081528"/>
            <a:ext cx="3310128" cy="274320"/>
          </a:xfrm>
          <a:prstGeom prst="rect">
            <a:avLst/>
          </a:prstGeom>
          <a:noFill/>
          <a:ln/>
        </p:spPr>
        <p:txBody>
          <a:bodyPr wrap="square" lIns="0" tIns="0" rIns="0" bIns="0" rtlCol="0" anchor="ctr">
            <a:normAutofit/>
          </a:bodyPr>
          <a:lstStyle/>
          <a:p>
            <a:pPr algn="l" indent="0" marL="0">
              <a:buNone/>
            </a:pPr>
            <a:r>
              <a:rPr lang="en-US" sz="1300" dirty="0">
                <a:solidFill>
                  <a:srgbClr val="D7E4DA"/>
                </a:solidFill>
                <a:latin typeface="Manrope" pitchFamily="34" charset="0"/>
                <a:ea typeface="Manrope" pitchFamily="34" charset="-122"/>
                <a:cs typeface="Manrope" pitchFamily="34" charset="-120"/>
              </a:rPr>
              <a:t>per branch / month · before tax</a:t>
            </a:r>
            <a:endParaRPr lang="en-US" sz="1300" dirty="0"/>
          </a:p>
        </p:txBody>
      </p:sp>
      <p:sp>
        <p:nvSpPr>
          <p:cNvPr id="12" name="Text 9"/>
          <p:cNvSpPr txBox="1"/>
          <p:nvPr/>
        </p:nvSpPr>
        <p:spPr>
          <a:xfrm>
            <a:off x="1051560" y="3721608"/>
            <a:ext cx="1005840" cy="246888"/>
          </a:xfrm>
          <a:prstGeom prst="rect">
            <a:avLst/>
          </a:prstGeom>
          <a:noFill/>
          <a:ln/>
        </p:spPr>
        <p:txBody>
          <a:bodyPr wrap="square" lIns="0" tIns="0" rIns="0" bIns="0" rtlCol="0" anchor="ctr">
            <a:normAutofit/>
          </a:bodyPr>
          <a:lstStyle/>
          <a:p>
            <a:pPr algn="l" indent="0" marL="0">
              <a:buNone/>
            </a:pPr>
            <a:r>
              <a:rPr lang="en-US" sz="1200" b="1" dirty="0">
                <a:solidFill>
                  <a:srgbClr val="BAC879"/>
                </a:solidFill>
                <a:latin typeface="Manrope" pitchFamily="34" charset="0"/>
                <a:ea typeface="Manrope" pitchFamily="34" charset="-122"/>
                <a:cs typeface="Manrope" pitchFamily="34" charset="-120"/>
              </a:rPr>
              <a:t>Includes</a:t>
            </a:r>
            <a:endParaRPr lang="en-US" sz="1200" dirty="0"/>
          </a:p>
        </p:txBody>
      </p:sp>
      <p:sp>
        <p:nvSpPr>
          <p:cNvPr id="13" name="Text 10"/>
          <p:cNvSpPr txBox="1"/>
          <p:nvPr/>
        </p:nvSpPr>
        <p:spPr>
          <a:xfrm>
            <a:off x="1051560" y="4105656"/>
            <a:ext cx="3584448" cy="960120"/>
          </a:xfrm>
          <a:prstGeom prst="rect">
            <a:avLst/>
          </a:prstGeom>
          <a:noFill/>
          <a:ln/>
        </p:spPr>
        <p:txBody>
          <a:bodyPr wrap="square" lIns="0" tIns="0" rIns="0" bIns="0" rtlCol="0" anchor="t">
            <a:normAutofit/>
          </a:bodyPr>
          <a:lstStyle/>
          <a:p>
            <a:pPr algn="l" indent="0" marL="0">
              <a:buNone/>
            </a:pPr>
            <a:r>
              <a:rPr lang="en-US" sz="1700" b="1" dirty="0">
                <a:solidFill>
                  <a:srgbClr val="FFFFFF"/>
                </a:solidFill>
                <a:latin typeface="Manrope" pitchFamily="34" charset="0"/>
                <a:ea typeface="Manrope" pitchFamily="34" charset="-122"/>
                <a:cs typeface="Manrope" pitchFamily="34" charset="-120"/>
              </a:rPr>
              <a:t>Reservations, tables, QR ordering, kitchen display, split bills, customer data, AI assistant and basic integrations</a:t>
            </a:r>
            <a:endParaRPr lang="en-US" sz="1700" dirty="0"/>
          </a:p>
        </p:txBody>
      </p:sp>
      <p:sp>
        <p:nvSpPr>
          <p:cNvPr id="14" name="Shape 11"/>
          <p:cNvSpPr/>
          <p:nvPr/>
        </p:nvSpPr>
        <p:spPr>
          <a:xfrm>
            <a:off x="1051560" y="5385816"/>
            <a:ext cx="2487168" cy="292608"/>
          </a:xfrm>
          <a:prstGeom prst="roundRect">
            <a:avLst>
              <a:gd name="adj" fmla="val 50000"/>
            </a:avLst>
          </a:prstGeom>
          <a:solidFill>
            <a:srgbClr val="E8763C"/>
          </a:solidFill>
          <a:ln w="12700">
            <a:solidFill>
              <a:srgbClr val="FFFFFF">
                <a:alpha val="0"/>
              </a:srgbClr>
            </a:solidFill>
            <a:prstDash val="solid"/>
          </a:ln>
        </p:spPr>
      </p:sp>
      <p:sp>
        <p:nvSpPr>
          <p:cNvPr id="15" name="Text 12"/>
          <p:cNvSpPr txBox="1"/>
          <p:nvPr/>
        </p:nvSpPr>
        <p:spPr>
          <a:xfrm>
            <a:off x="1124712" y="5394960"/>
            <a:ext cx="2340864" cy="25603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Manrope" pitchFamily="34" charset="0"/>
                <a:ea typeface="Manrope" pitchFamily="34" charset="-122"/>
                <a:cs typeface="Manrope" pitchFamily="34" charset="-120"/>
              </a:rPr>
              <a:t>30-DAY PILOT · NO SETUP FEE</a:t>
            </a:r>
            <a:endParaRPr lang="en-US" sz="1000" dirty="0"/>
          </a:p>
        </p:txBody>
      </p:sp>
      <p:sp>
        <p:nvSpPr>
          <p:cNvPr id="16" name="Text 13"/>
          <p:cNvSpPr txBox="1"/>
          <p:nvPr/>
        </p:nvSpPr>
        <p:spPr>
          <a:xfrm>
            <a:off x="5806440" y="1700784"/>
            <a:ext cx="1188720" cy="283464"/>
          </a:xfrm>
          <a:prstGeom prst="rect">
            <a:avLst/>
          </a:prstGeom>
          <a:noFill/>
          <a:ln/>
        </p:spPr>
        <p:txBody>
          <a:bodyPr wrap="square" lIns="0" tIns="0" rIns="0" bIns="0" rtlCol="0" anchor="ctr">
            <a:normAutofit/>
          </a:bodyPr>
          <a:lstStyle/>
          <a:p>
            <a:pPr algn="l" indent="0" marL="0">
              <a:buNone/>
            </a:pPr>
            <a:r>
              <a:rPr lang="en-US" sz="1200" b="1" dirty="0">
                <a:solidFill>
                  <a:srgbClr val="E8763C"/>
                </a:solidFill>
                <a:latin typeface="Manrope" pitchFamily="34" charset="0"/>
                <a:ea typeface="Manrope" pitchFamily="34" charset="-122"/>
                <a:cs typeface="Manrope" pitchFamily="34" charset="-120"/>
              </a:rPr>
              <a:t>Who pays</a:t>
            </a:r>
            <a:endParaRPr lang="en-US" sz="1200" dirty="0"/>
          </a:p>
        </p:txBody>
      </p:sp>
      <p:sp>
        <p:nvSpPr>
          <p:cNvPr id="17" name="Text 14"/>
          <p:cNvSpPr txBox="1"/>
          <p:nvPr/>
        </p:nvSpPr>
        <p:spPr>
          <a:xfrm>
            <a:off x="7150608" y="1655064"/>
            <a:ext cx="3867912" cy="512064"/>
          </a:xfrm>
          <a:prstGeom prst="rect">
            <a:avLst/>
          </a:prstGeom>
          <a:noFill/>
          <a:ln/>
        </p:spPr>
        <p:txBody>
          <a:bodyPr wrap="square" lIns="0" tIns="0" rIns="0" bIns="0" rtlCol="0" anchor="t">
            <a:normAutofit/>
          </a:bodyPr>
          <a:lstStyle/>
          <a:p>
            <a:pPr algn="l" indent="0" marL="0">
              <a:buNone/>
            </a:pPr>
            <a:r>
              <a:rPr lang="en-US" sz="1700" b="1" dirty="0">
                <a:solidFill>
                  <a:srgbClr val="17231F"/>
                </a:solidFill>
                <a:latin typeface="Manrope" pitchFamily="34" charset="0"/>
                <a:ea typeface="Manrope" pitchFamily="34" charset="-122"/>
                <a:cs typeface="Manrope" pitchFamily="34" charset="-120"/>
              </a:rPr>
              <a:t>The restaurant owner or operator</a:t>
            </a:r>
            <a:endParaRPr lang="en-US" sz="1700" dirty="0"/>
          </a:p>
        </p:txBody>
      </p:sp>
      <p:sp>
        <p:nvSpPr>
          <p:cNvPr id="18" name="Shape 15"/>
          <p:cNvSpPr/>
          <p:nvPr/>
        </p:nvSpPr>
        <p:spPr>
          <a:xfrm>
            <a:off x="5806440" y="2359152"/>
            <a:ext cx="5230368" cy="0"/>
          </a:xfrm>
          <a:prstGeom prst="line">
            <a:avLst/>
          </a:prstGeom>
          <a:noFill/>
          <a:ln w="10160">
            <a:solidFill>
              <a:srgbClr val="D4DCD5"/>
            </a:solidFill>
            <a:prstDash val="solid"/>
          </a:ln>
        </p:spPr>
      </p:sp>
      <p:sp>
        <p:nvSpPr>
          <p:cNvPr id="19" name="Text 16"/>
          <p:cNvSpPr txBox="1"/>
          <p:nvPr/>
        </p:nvSpPr>
        <p:spPr>
          <a:xfrm>
            <a:off x="5806440" y="2734056"/>
            <a:ext cx="1188720" cy="283464"/>
          </a:xfrm>
          <a:prstGeom prst="rect">
            <a:avLst/>
          </a:prstGeom>
          <a:noFill/>
          <a:ln/>
        </p:spPr>
        <p:txBody>
          <a:bodyPr wrap="square" lIns="0" tIns="0" rIns="0" bIns="0" rtlCol="0" anchor="ctr">
            <a:normAutofit/>
          </a:bodyPr>
          <a:lstStyle/>
          <a:p>
            <a:pPr algn="l" indent="0" marL="0">
              <a:buNone/>
            </a:pPr>
            <a:r>
              <a:rPr lang="en-US" sz="1200" b="1" dirty="0">
                <a:solidFill>
                  <a:srgbClr val="E8763C"/>
                </a:solidFill>
                <a:latin typeface="Manrope" pitchFamily="34" charset="0"/>
                <a:ea typeface="Manrope" pitchFamily="34" charset="-122"/>
                <a:cs typeface="Manrope" pitchFamily="34" charset="-120"/>
              </a:rPr>
              <a:t>Why now</a:t>
            </a:r>
            <a:endParaRPr lang="en-US" sz="1200" dirty="0"/>
          </a:p>
        </p:txBody>
      </p:sp>
      <p:sp>
        <p:nvSpPr>
          <p:cNvPr id="20" name="Text 17"/>
          <p:cNvSpPr txBox="1"/>
          <p:nvPr/>
        </p:nvSpPr>
        <p:spPr>
          <a:xfrm>
            <a:off x="7150608" y="2688336"/>
            <a:ext cx="3867912" cy="512064"/>
          </a:xfrm>
          <a:prstGeom prst="rect">
            <a:avLst/>
          </a:prstGeom>
          <a:noFill/>
          <a:ln/>
        </p:spPr>
        <p:txBody>
          <a:bodyPr wrap="square" lIns="0" tIns="0" rIns="0" bIns="0" rtlCol="0" anchor="t">
            <a:normAutofit/>
          </a:bodyPr>
          <a:lstStyle/>
          <a:p>
            <a:pPr algn="l" indent="0" marL="0">
              <a:buNone/>
            </a:pPr>
            <a:r>
              <a:rPr lang="en-US" sz="1700" b="1" dirty="0">
                <a:solidFill>
                  <a:srgbClr val="17231F"/>
                </a:solidFill>
                <a:latin typeface="Manrope" pitchFamily="34" charset="0"/>
                <a:ea typeface="Manrope" pitchFamily="34" charset="-122"/>
                <a:cs typeface="Manrope" pitchFamily="34" charset="-120"/>
              </a:rPr>
              <a:t>Replace repeated handoffs with one measurable flow</a:t>
            </a:r>
            <a:endParaRPr lang="en-US" sz="1700" dirty="0"/>
          </a:p>
        </p:txBody>
      </p:sp>
      <p:sp>
        <p:nvSpPr>
          <p:cNvPr id="21" name="Shape 18"/>
          <p:cNvSpPr/>
          <p:nvPr/>
        </p:nvSpPr>
        <p:spPr>
          <a:xfrm>
            <a:off x="5806440" y="3392424"/>
            <a:ext cx="5230368" cy="0"/>
          </a:xfrm>
          <a:prstGeom prst="line">
            <a:avLst/>
          </a:prstGeom>
          <a:noFill/>
          <a:ln w="10160">
            <a:solidFill>
              <a:srgbClr val="D4DCD5"/>
            </a:solidFill>
            <a:prstDash val="solid"/>
          </a:ln>
        </p:spPr>
      </p:sp>
      <p:sp>
        <p:nvSpPr>
          <p:cNvPr id="22" name="Text 19"/>
          <p:cNvSpPr txBox="1"/>
          <p:nvPr/>
        </p:nvSpPr>
        <p:spPr>
          <a:xfrm>
            <a:off x="5806440" y="3767328"/>
            <a:ext cx="1188720" cy="283464"/>
          </a:xfrm>
          <a:prstGeom prst="rect">
            <a:avLst/>
          </a:prstGeom>
          <a:noFill/>
          <a:ln/>
        </p:spPr>
        <p:txBody>
          <a:bodyPr wrap="square" lIns="0" tIns="0" rIns="0" bIns="0" rtlCol="0" anchor="ctr">
            <a:normAutofit/>
          </a:bodyPr>
          <a:lstStyle/>
          <a:p>
            <a:pPr algn="l" indent="0" marL="0">
              <a:buNone/>
            </a:pPr>
            <a:r>
              <a:rPr lang="en-US" sz="1200" b="1" dirty="0">
                <a:solidFill>
                  <a:srgbClr val="E8763C"/>
                </a:solidFill>
                <a:latin typeface="Manrope" pitchFamily="34" charset="0"/>
                <a:ea typeface="Manrope" pitchFamily="34" charset="-122"/>
                <a:cs typeface="Manrope" pitchFamily="34" charset="-120"/>
              </a:rPr>
              <a:t>How we sell</a:t>
            </a:r>
            <a:endParaRPr lang="en-US" sz="1200" dirty="0"/>
          </a:p>
        </p:txBody>
      </p:sp>
      <p:sp>
        <p:nvSpPr>
          <p:cNvPr id="23" name="Text 20"/>
          <p:cNvSpPr txBox="1"/>
          <p:nvPr/>
        </p:nvSpPr>
        <p:spPr>
          <a:xfrm>
            <a:off x="7150608" y="3721608"/>
            <a:ext cx="3867912" cy="512064"/>
          </a:xfrm>
          <a:prstGeom prst="rect">
            <a:avLst/>
          </a:prstGeom>
          <a:noFill/>
          <a:ln/>
        </p:spPr>
        <p:txBody>
          <a:bodyPr wrap="square" lIns="0" tIns="0" rIns="0" bIns="0" rtlCol="0" anchor="t">
            <a:normAutofit/>
          </a:bodyPr>
          <a:lstStyle/>
          <a:p>
            <a:pPr algn="l" indent="0" marL="0">
              <a:buNone/>
            </a:pPr>
            <a:r>
              <a:rPr lang="en-US" sz="1700" b="1" dirty="0">
                <a:solidFill>
                  <a:srgbClr val="17231F"/>
                </a:solidFill>
                <a:latin typeface="Manrope" pitchFamily="34" charset="0"/>
                <a:ea typeface="Manrope" pitchFamily="34" charset="-122"/>
                <a:cs typeface="Manrope" pitchFamily="34" charset="-120"/>
              </a:rPr>
              <a:t>Founder-led pilots, restaurant advisors and referrals</a:t>
            </a:r>
            <a:endParaRPr lang="en-US" sz="1700" dirty="0"/>
          </a:p>
        </p:txBody>
      </p:sp>
      <p:sp>
        <p:nvSpPr>
          <p:cNvPr id="24" name="Shape 21"/>
          <p:cNvSpPr/>
          <p:nvPr/>
        </p:nvSpPr>
        <p:spPr>
          <a:xfrm>
            <a:off x="5806440" y="4425696"/>
            <a:ext cx="5230368" cy="0"/>
          </a:xfrm>
          <a:prstGeom prst="line">
            <a:avLst/>
          </a:prstGeom>
          <a:noFill/>
          <a:ln w="10160">
            <a:solidFill>
              <a:srgbClr val="D4DCD5"/>
            </a:solidFill>
            <a:prstDash val="solid"/>
          </a:ln>
        </p:spPr>
      </p:sp>
      <p:sp>
        <p:nvSpPr>
          <p:cNvPr id="25" name="Text 22"/>
          <p:cNvSpPr txBox="1"/>
          <p:nvPr/>
        </p:nvSpPr>
        <p:spPr>
          <a:xfrm>
            <a:off x="5806440" y="4800600"/>
            <a:ext cx="1188720" cy="283464"/>
          </a:xfrm>
          <a:prstGeom prst="rect">
            <a:avLst/>
          </a:prstGeom>
          <a:noFill/>
          <a:ln/>
        </p:spPr>
        <p:txBody>
          <a:bodyPr wrap="square" lIns="0" tIns="0" rIns="0" bIns="0" rtlCol="0" anchor="ctr">
            <a:normAutofit/>
          </a:bodyPr>
          <a:lstStyle/>
          <a:p>
            <a:pPr algn="l" indent="0" marL="0">
              <a:buNone/>
            </a:pPr>
            <a:r>
              <a:rPr lang="en-US" sz="1200" b="1" dirty="0">
                <a:solidFill>
                  <a:srgbClr val="E8763C"/>
                </a:solidFill>
                <a:latin typeface="Manrope" pitchFamily="34" charset="0"/>
                <a:ea typeface="Manrope" pitchFamily="34" charset="-122"/>
                <a:cs typeface="Manrope" pitchFamily="34" charset="-120"/>
              </a:rPr>
              <a:t>Expansion gate</a:t>
            </a:r>
            <a:endParaRPr lang="en-US" sz="1200" dirty="0"/>
          </a:p>
        </p:txBody>
      </p:sp>
      <p:sp>
        <p:nvSpPr>
          <p:cNvPr id="26" name="Text 23"/>
          <p:cNvSpPr txBox="1"/>
          <p:nvPr/>
        </p:nvSpPr>
        <p:spPr>
          <a:xfrm>
            <a:off x="7150608" y="4754880"/>
            <a:ext cx="3867912" cy="512064"/>
          </a:xfrm>
          <a:prstGeom prst="rect">
            <a:avLst/>
          </a:prstGeom>
          <a:noFill/>
          <a:ln/>
        </p:spPr>
        <p:txBody>
          <a:bodyPr wrap="square" lIns="0" tIns="0" rIns="0" bIns="0" rtlCol="0" anchor="t">
            <a:normAutofit/>
          </a:bodyPr>
          <a:lstStyle/>
          <a:p>
            <a:pPr algn="l" indent="0" marL="0">
              <a:buNone/>
            </a:pPr>
            <a:r>
              <a:rPr lang="en-US" sz="1700" b="1" dirty="0">
                <a:solidFill>
                  <a:srgbClr val="17231F"/>
                </a:solidFill>
                <a:latin typeface="Manrope" pitchFamily="34" charset="0"/>
                <a:ea typeface="Manrope" pitchFamily="34" charset="-122"/>
                <a:cs typeface="Manrope" pitchFamily="34" charset="-120"/>
              </a:rPr>
              <a:t>Saudi pricing follows ZATCA, VAT and local payment acceptance</a:t>
            </a:r>
            <a:endParaRPr lang="en-US" sz="1700" dirty="0"/>
          </a:p>
        </p:txBody>
      </p:sp>
      <p:sp>
        <p:nvSpPr>
          <p:cNvPr id="27" name="Text 24"/>
          <p:cNvSpPr txBox="1"/>
          <p:nvPr/>
        </p:nvSpPr>
        <p:spPr>
          <a:xfrm>
            <a:off x="5815584" y="5815584"/>
            <a:ext cx="5230368" cy="310896"/>
          </a:xfrm>
          <a:prstGeom prst="rect">
            <a:avLst/>
          </a:prstGeom>
          <a:noFill/>
          <a:ln/>
        </p:spPr>
        <p:txBody>
          <a:bodyPr wrap="square" lIns="0" tIns="0" rIns="0" bIns="0" rtlCol="0" anchor="ctr">
            <a:normAutofit/>
          </a:bodyPr>
          <a:lstStyle/>
          <a:p>
            <a:pPr algn="l" indent="0" marL="0">
              <a:buNone/>
            </a:pPr>
            <a:r>
              <a:rPr lang="en-US" sz="1150" dirty="0">
                <a:solidFill>
                  <a:srgbClr val="B94E4E"/>
                </a:solidFill>
                <a:latin typeface="Manrope" pitchFamily="34" charset="0"/>
                <a:ea typeface="Manrope" pitchFamily="34" charset="-122"/>
                <a:cs typeface="Manrope" pitchFamily="34" charset="-120"/>
              </a:rPr>
              <a:t>Pro and multi-branch features remain gated until implemented and validated.</a:t>
            </a:r>
            <a:endParaRPr lang="en-US" sz="1150" dirty="0"/>
          </a:p>
        </p:txBody>
      </p:sp>
      <p:sp>
        <p:nvSpPr>
          <p:cNvPr id="28" name="Text 25"/>
          <p:cNvSpPr txBox="1"/>
          <p:nvPr/>
        </p:nvSpPr>
        <p:spPr>
          <a:xfrm>
            <a:off x="658368" y="6565392"/>
            <a:ext cx="5303520" cy="118872"/>
          </a:xfrm>
          <a:prstGeom prst="rect">
            <a:avLst/>
          </a:prstGeom>
          <a:noFill/>
          <a:ln/>
        </p:spPr>
        <p:txBody>
          <a:bodyPr wrap="square" lIns="0" tIns="0" rIns="0" bIns="0" rtlCol="0" anchor="t">
            <a:normAutofit/>
          </a:bodyPr>
          <a:lstStyle/>
          <a:p>
            <a:pPr algn="l" indent="0" marL="0">
              <a:buNone/>
            </a:pPr>
            <a:r>
              <a:rPr lang="en-US" sz="850" dirty="0">
                <a:solidFill>
                  <a:srgbClr val="66736A"/>
                </a:solidFill>
                <a:latin typeface="Manrope" pitchFamily="34" charset="0"/>
                <a:ea typeface="Manrope" pitchFamily="34" charset="-122"/>
                <a:cs typeface="Manrope" pitchFamily="34" charset="-120"/>
              </a:rPr>
              <a:t>Proposed pricing · not current revenue or willingness-to-pay evidence</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384048" y="6510528"/>
            <a:ext cx="11402568" cy="0"/>
          </a:xfrm>
          <a:prstGeom prst="line">
            <a:avLst/>
          </a:prstGeom>
          <a:noFill/>
          <a:ln w="8890">
            <a:solidFill>
              <a:srgbClr val="D4DCD5"/>
            </a:solidFill>
            <a:prstDash val="solid"/>
          </a:ln>
        </p:spPr>
      </p:sp>
      <p:pic>
        <p:nvPicPr>
          <p:cNvPr id="3" name="Image 0" descr="/Users/tank/Downloads/Resuto-main/.codex-build/resuto-impactx-pitch/resuto-original-mark.png">    </p:cNvPr>
          <p:cNvPicPr>
            <a:picLocks noChangeAspect="1"/>
          </p:cNvPicPr>
          <p:nvPr/>
        </p:nvPicPr>
        <p:blipFill>
          <a:blip r:embed="rId1"/>
          <a:stretch>
            <a:fillRect/>
          </a:stretch>
        </p:blipFill>
        <p:spPr>
          <a:xfrm>
            <a:off x="384048" y="210312"/>
            <a:ext cx="356616" cy="338328"/>
          </a:xfrm>
          <a:prstGeom prst="rect">
            <a:avLst/>
          </a:prstGeom>
        </p:spPr>
      </p:pic>
      <p:sp>
        <p:nvSpPr>
          <p:cNvPr id="4" name="Text 1"/>
          <p:cNvSpPr txBox="1"/>
          <p:nvPr/>
        </p:nvSpPr>
        <p:spPr>
          <a:xfrm>
            <a:off x="786384" y="283464"/>
            <a:ext cx="914400" cy="164592"/>
          </a:xfrm>
          <a:prstGeom prst="rect">
            <a:avLst/>
          </a:prstGeom>
          <a:noFill/>
          <a:ln/>
        </p:spPr>
        <p:txBody>
          <a:bodyPr wrap="square" lIns="0" tIns="0" rIns="0" bIns="0" rtlCol="0" anchor="t">
            <a:normAutofit/>
          </a:bodyPr>
          <a:lstStyle/>
          <a:p>
            <a:pPr algn="l" indent="0" marL="0">
              <a:buNone/>
            </a:pPr>
            <a:r>
              <a:rPr lang="en-US" sz="900" b="1" dirty="0">
                <a:solidFill>
                  <a:srgbClr val="173F35"/>
                </a:solidFill>
                <a:latin typeface="Manrope" pitchFamily="34" charset="0"/>
                <a:ea typeface="Manrope" pitchFamily="34" charset="-122"/>
                <a:cs typeface="Manrope" pitchFamily="34" charset="-120"/>
              </a:rPr>
              <a:t>RESUTO</a:t>
            </a:r>
            <a:endParaRPr lang="en-US" sz="900" dirty="0"/>
          </a:p>
        </p:txBody>
      </p:sp>
      <p:sp>
        <p:nvSpPr>
          <p:cNvPr id="5" name="Text 2"/>
          <p:cNvSpPr txBox="1"/>
          <p:nvPr/>
        </p:nvSpPr>
        <p:spPr>
          <a:xfrm>
            <a:off x="9829800" y="274320"/>
            <a:ext cx="1691640" cy="146304"/>
          </a:xfrm>
          <a:prstGeom prst="rect">
            <a:avLst/>
          </a:prstGeom>
          <a:noFill/>
          <a:ln/>
        </p:spPr>
        <p:txBody>
          <a:bodyPr wrap="square" lIns="0" tIns="0" rIns="0" bIns="0" rtlCol="0" anchor="ctr">
            <a:normAutofit/>
          </a:bodyPr>
          <a:lstStyle/>
          <a:p>
            <a:pPr algn="r" indent="0" marL="0">
              <a:buNone/>
            </a:pPr>
            <a:r>
              <a:rPr lang="en-US" sz="850" b="1" spc="140" kern="0" dirty="0">
                <a:solidFill>
                  <a:srgbClr val="D89A32"/>
                </a:solidFill>
                <a:latin typeface="Manrope" pitchFamily="34" charset="0"/>
                <a:ea typeface="Manrope" pitchFamily="34" charset="-122"/>
                <a:cs typeface="Manrope" pitchFamily="34" charset="-120"/>
              </a:rPr>
              <a:t>ROI</a:t>
            </a:r>
            <a:endParaRPr lang="en-US" sz="850" dirty="0"/>
          </a:p>
        </p:txBody>
      </p:sp>
      <p:sp>
        <p:nvSpPr>
          <p:cNvPr id="6" name="Text 3"/>
          <p:cNvSpPr txBox="1"/>
          <p:nvPr/>
        </p:nvSpPr>
        <p:spPr>
          <a:xfrm>
            <a:off x="658368" y="557784"/>
            <a:ext cx="10835640" cy="530352"/>
          </a:xfrm>
          <a:prstGeom prst="rect">
            <a:avLst/>
          </a:prstGeom>
          <a:noFill/>
          <a:ln/>
        </p:spPr>
        <p:txBody>
          <a:bodyPr wrap="square" lIns="0" tIns="0" rIns="0" bIns="0" rtlCol="0" anchor="t">
            <a:normAutofit/>
          </a:bodyPr>
          <a:lstStyle/>
          <a:p>
            <a:pPr algn="l" indent="0" marL="0">
              <a:buNone/>
            </a:pPr>
            <a:r>
              <a:rPr lang="en-US" sz="3000" b="1" dirty="0">
                <a:solidFill>
                  <a:srgbClr val="17231F"/>
                </a:solidFill>
                <a:latin typeface="Manrope" pitchFamily="34" charset="0"/>
                <a:ea typeface="Manrope" pitchFamily="34" charset="-122"/>
                <a:cs typeface="Manrope" pitchFamily="34" charset="-120"/>
              </a:rPr>
              <a:t>A testable Egypt Growth scenario produces 240% modeled ROI</a:t>
            </a:r>
            <a:endParaRPr lang="en-US" sz="3000" dirty="0"/>
          </a:p>
        </p:txBody>
      </p:sp>
      <p:sp>
        <p:nvSpPr>
          <p:cNvPr id="7" name="Text 4"/>
          <p:cNvSpPr txBox="1"/>
          <p:nvPr/>
        </p:nvSpPr>
        <p:spPr>
          <a:xfrm>
            <a:off x="676656" y="1097280"/>
            <a:ext cx="10469880" cy="347472"/>
          </a:xfrm>
          <a:prstGeom prst="rect">
            <a:avLst/>
          </a:prstGeom>
          <a:noFill/>
          <a:ln/>
        </p:spPr>
        <p:txBody>
          <a:bodyPr wrap="square" lIns="0" tIns="0" rIns="0" bIns="0" rtlCol="0" anchor="t">
            <a:normAutofit/>
          </a:bodyPr>
          <a:lstStyle/>
          <a:p>
            <a:pPr algn="l" indent="0" marL="0">
              <a:buNone/>
            </a:pPr>
            <a:r>
              <a:rPr lang="en-US" sz="1450" dirty="0">
                <a:solidFill>
                  <a:srgbClr val="66736A"/>
                </a:solidFill>
                <a:latin typeface="Manrope" pitchFamily="34" charset="0"/>
                <a:ea typeface="Manrope" pitchFamily="34" charset="-122"/>
                <a:cs typeface="Manrope" pitchFamily="34" charset="-120"/>
              </a:rPr>
              <a:t>Illustrative scenario, not measured results</a:t>
            </a:r>
            <a:endParaRPr lang="en-US" sz="1450" dirty="0"/>
          </a:p>
        </p:txBody>
      </p:sp>
      <p:sp>
        <p:nvSpPr>
          <p:cNvPr id="8" name="Text 5"/>
          <p:cNvSpPr txBox="1"/>
          <p:nvPr/>
        </p:nvSpPr>
        <p:spPr>
          <a:xfrm>
            <a:off x="749808" y="1920240"/>
            <a:ext cx="2212848" cy="256032"/>
          </a:xfrm>
          <a:prstGeom prst="rect">
            <a:avLst/>
          </a:prstGeom>
          <a:noFill/>
          <a:ln/>
        </p:spPr>
        <p:txBody>
          <a:bodyPr wrap="square" lIns="0" tIns="0" rIns="0" bIns="0" rtlCol="0" anchor="ctr">
            <a:normAutofit/>
          </a:bodyPr>
          <a:lstStyle/>
          <a:p>
            <a:pPr algn="ctr" indent="0" marL="0">
              <a:buNone/>
            </a:pPr>
            <a:r>
              <a:rPr lang="en-US" sz="1300" b="1" dirty="0">
                <a:solidFill>
                  <a:srgbClr val="66736A"/>
                </a:solidFill>
                <a:latin typeface="Manrope" pitchFamily="34" charset="0"/>
                <a:ea typeface="Manrope" pitchFamily="34" charset="-122"/>
                <a:cs typeface="Manrope" pitchFamily="34" charset="-120"/>
              </a:rPr>
              <a:t>Subscription</a:t>
            </a:r>
            <a:endParaRPr lang="en-US" sz="1300" dirty="0"/>
          </a:p>
        </p:txBody>
      </p:sp>
      <p:sp>
        <p:nvSpPr>
          <p:cNvPr id="9" name="Text 6"/>
          <p:cNvSpPr txBox="1"/>
          <p:nvPr/>
        </p:nvSpPr>
        <p:spPr>
          <a:xfrm>
            <a:off x="749808" y="2313432"/>
            <a:ext cx="2212848" cy="667512"/>
          </a:xfrm>
          <a:prstGeom prst="rect">
            <a:avLst/>
          </a:prstGeom>
          <a:noFill/>
          <a:ln/>
        </p:spPr>
        <p:txBody>
          <a:bodyPr wrap="square" lIns="0" tIns="0" rIns="0" bIns="0" rtlCol="0" anchor="ctr">
            <a:normAutofit/>
          </a:bodyPr>
          <a:lstStyle/>
          <a:p>
            <a:pPr algn="ctr" indent="0" marL="0">
              <a:buNone/>
            </a:pPr>
            <a:r>
              <a:rPr lang="en-US" sz="3900" b="1" dirty="0">
                <a:solidFill>
                  <a:srgbClr val="B94E4E"/>
                </a:solidFill>
                <a:latin typeface="Manrope" pitchFamily="34" charset="0"/>
                <a:ea typeface="Manrope" pitchFamily="34" charset="-122"/>
                <a:cs typeface="Manrope" pitchFamily="34" charset="-120"/>
              </a:rPr>
              <a:t>1,499</a:t>
            </a:r>
            <a:endParaRPr lang="en-US" sz="3900" dirty="0"/>
          </a:p>
        </p:txBody>
      </p:sp>
      <p:sp>
        <p:nvSpPr>
          <p:cNvPr id="10" name="Text 7"/>
          <p:cNvSpPr txBox="1"/>
          <p:nvPr/>
        </p:nvSpPr>
        <p:spPr>
          <a:xfrm>
            <a:off x="749808" y="2971800"/>
            <a:ext cx="2212848" cy="228600"/>
          </a:xfrm>
          <a:prstGeom prst="rect">
            <a:avLst/>
          </a:prstGeom>
          <a:noFill/>
          <a:ln/>
        </p:spPr>
        <p:txBody>
          <a:bodyPr wrap="square" lIns="0" tIns="0" rIns="0" bIns="0" rtlCol="0" anchor="ctr">
            <a:normAutofit/>
          </a:bodyPr>
          <a:lstStyle/>
          <a:p>
            <a:pPr algn="ctr" indent="0" marL="0">
              <a:buNone/>
            </a:pPr>
            <a:r>
              <a:rPr lang="en-US" sz="1100" dirty="0">
                <a:solidFill>
                  <a:srgbClr val="66736A"/>
                </a:solidFill>
                <a:latin typeface="Manrope" pitchFamily="34" charset="0"/>
                <a:ea typeface="Manrope" pitchFamily="34" charset="-122"/>
                <a:cs typeface="Manrope" pitchFamily="34" charset="-120"/>
              </a:rPr>
              <a:t>EGP / month</a:t>
            </a:r>
            <a:endParaRPr lang="en-US" sz="1100" dirty="0"/>
          </a:p>
        </p:txBody>
      </p:sp>
      <p:sp>
        <p:nvSpPr>
          <p:cNvPr id="11" name="Text 8"/>
          <p:cNvSpPr txBox="1"/>
          <p:nvPr/>
        </p:nvSpPr>
        <p:spPr>
          <a:xfrm>
            <a:off x="3108960" y="2496312"/>
            <a:ext cx="438912" cy="329184"/>
          </a:xfrm>
          <a:prstGeom prst="rect">
            <a:avLst/>
          </a:prstGeom>
          <a:noFill/>
          <a:ln/>
        </p:spPr>
        <p:txBody>
          <a:bodyPr wrap="square" lIns="0" tIns="0" rIns="0" bIns="0" rtlCol="0" anchor="ctr">
            <a:normAutofit/>
          </a:bodyPr>
          <a:lstStyle/>
          <a:p>
            <a:pPr algn="ctr" indent="0" marL="0">
              <a:buNone/>
            </a:pPr>
            <a:r>
              <a:rPr lang="en-US" sz="1800" b="1" dirty="0">
                <a:solidFill>
                  <a:srgbClr val="E8763C"/>
                </a:solidFill>
                <a:latin typeface="Manrope" pitchFamily="34" charset="0"/>
                <a:ea typeface="Manrope" pitchFamily="34" charset="-122"/>
                <a:cs typeface="Manrope" pitchFamily="34" charset="-120"/>
              </a:rPr>
              <a:t>vs</a:t>
            </a:r>
            <a:endParaRPr lang="en-US" sz="1800" dirty="0"/>
          </a:p>
        </p:txBody>
      </p:sp>
      <p:sp>
        <p:nvSpPr>
          <p:cNvPr id="12" name="Text 9"/>
          <p:cNvSpPr txBox="1"/>
          <p:nvPr/>
        </p:nvSpPr>
        <p:spPr>
          <a:xfrm>
            <a:off x="3675888" y="1920240"/>
            <a:ext cx="2212848" cy="256032"/>
          </a:xfrm>
          <a:prstGeom prst="rect">
            <a:avLst/>
          </a:prstGeom>
          <a:noFill/>
          <a:ln/>
        </p:spPr>
        <p:txBody>
          <a:bodyPr wrap="square" lIns="0" tIns="0" rIns="0" bIns="0" rtlCol="0" anchor="ctr">
            <a:normAutofit/>
          </a:bodyPr>
          <a:lstStyle/>
          <a:p>
            <a:pPr algn="ctr" indent="0" marL="0">
              <a:buNone/>
            </a:pPr>
            <a:r>
              <a:rPr lang="en-US" sz="1300" b="1" dirty="0">
                <a:solidFill>
                  <a:srgbClr val="66736A"/>
                </a:solidFill>
                <a:latin typeface="Manrope" pitchFamily="34" charset="0"/>
                <a:ea typeface="Manrope" pitchFamily="34" charset="-122"/>
                <a:cs typeface="Manrope" pitchFamily="34" charset="-120"/>
              </a:rPr>
              <a:t>Measurable benefit</a:t>
            </a:r>
            <a:endParaRPr lang="en-US" sz="1300" dirty="0"/>
          </a:p>
        </p:txBody>
      </p:sp>
      <p:sp>
        <p:nvSpPr>
          <p:cNvPr id="13" name="Text 10"/>
          <p:cNvSpPr txBox="1"/>
          <p:nvPr/>
        </p:nvSpPr>
        <p:spPr>
          <a:xfrm>
            <a:off x="3675888" y="2313432"/>
            <a:ext cx="2212848" cy="667512"/>
          </a:xfrm>
          <a:prstGeom prst="rect">
            <a:avLst/>
          </a:prstGeom>
          <a:noFill/>
          <a:ln/>
        </p:spPr>
        <p:txBody>
          <a:bodyPr wrap="square" lIns="0" tIns="0" rIns="0" bIns="0" rtlCol="0" anchor="ctr">
            <a:normAutofit/>
          </a:bodyPr>
          <a:lstStyle/>
          <a:p>
            <a:pPr algn="ctr" indent="0" marL="0">
              <a:buNone/>
            </a:pPr>
            <a:r>
              <a:rPr lang="en-US" sz="3900" b="1" dirty="0">
                <a:solidFill>
                  <a:srgbClr val="2F7667"/>
                </a:solidFill>
                <a:latin typeface="Manrope" pitchFamily="34" charset="0"/>
                <a:ea typeface="Manrope" pitchFamily="34" charset="-122"/>
                <a:cs typeface="Manrope" pitchFamily="34" charset="-120"/>
              </a:rPr>
              <a:t>5,100</a:t>
            </a:r>
            <a:endParaRPr lang="en-US" sz="3900" dirty="0"/>
          </a:p>
        </p:txBody>
      </p:sp>
      <p:sp>
        <p:nvSpPr>
          <p:cNvPr id="14" name="Text 11"/>
          <p:cNvSpPr txBox="1"/>
          <p:nvPr/>
        </p:nvSpPr>
        <p:spPr>
          <a:xfrm>
            <a:off x="3675888" y="2971800"/>
            <a:ext cx="2212848" cy="228600"/>
          </a:xfrm>
          <a:prstGeom prst="rect">
            <a:avLst/>
          </a:prstGeom>
          <a:noFill/>
          <a:ln/>
        </p:spPr>
        <p:txBody>
          <a:bodyPr wrap="square" lIns="0" tIns="0" rIns="0" bIns="0" rtlCol="0" anchor="ctr">
            <a:normAutofit/>
          </a:bodyPr>
          <a:lstStyle/>
          <a:p>
            <a:pPr algn="ctr" indent="0" marL="0">
              <a:buNone/>
            </a:pPr>
            <a:r>
              <a:rPr lang="en-US" sz="1100" dirty="0">
                <a:solidFill>
                  <a:srgbClr val="66736A"/>
                </a:solidFill>
                <a:latin typeface="Manrope" pitchFamily="34" charset="0"/>
                <a:ea typeface="Manrope" pitchFamily="34" charset="-122"/>
                <a:cs typeface="Manrope" pitchFamily="34" charset="-120"/>
              </a:rPr>
              <a:t>EGP / month</a:t>
            </a:r>
            <a:endParaRPr lang="en-US" sz="1100" dirty="0"/>
          </a:p>
        </p:txBody>
      </p:sp>
      <p:sp>
        <p:nvSpPr>
          <p:cNvPr id="15" name="Text 12"/>
          <p:cNvSpPr txBox="1"/>
          <p:nvPr/>
        </p:nvSpPr>
        <p:spPr>
          <a:xfrm>
            <a:off x="6035040" y="2496312"/>
            <a:ext cx="438912" cy="329184"/>
          </a:xfrm>
          <a:prstGeom prst="rect">
            <a:avLst/>
          </a:prstGeom>
          <a:noFill/>
          <a:ln/>
        </p:spPr>
        <p:txBody>
          <a:bodyPr wrap="square" lIns="0" tIns="0" rIns="0" bIns="0" rtlCol="0" anchor="ctr">
            <a:normAutofit/>
          </a:bodyPr>
          <a:lstStyle/>
          <a:p>
            <a:pPr algn="ctr" indent="0" marL="0">
              <a:buNone/>
            </a:pPr>
            <a:r>
              <a:rPr lang="en-US" sz="1800" b="1" dirty="0">
                <a:solidFill>
                  <a:srgbClr val="E8763C"/>
                </a:solidFill>
                <a:latin typeface="Manrope" pitchFamily="34" charset="0"/>
                <a:ea typeface="Manrope" pitchFamily="34" charset="-122"/>
                <a:cs typeface="Manrope" pitchFamily="34" charset="-120"/>
              </a:rPr>
              <a:t>=</a:t>
            </a:r>
            <a:endParaRPr lang="en-US" sz="1800" dirty="0"/>
          </a:p>
        </p:txBody>
      </p:sp>
      <p:sp>
        <p:nvSpPr>
          <p:cNvPr id="16" name="Text 13"/>
          <p:cNvSpPr txBox="1"/>
          <p:nvPr/>
        </p:nvSpPr>
        <p:spPr>
          <a:xfrm>
            <a:off x="6601968" y="1920240"/>
            <a:ext cx="2212848" cy="256032"/>
          </a:xfrm>
          <a:prstGeom prst="rect">
            <a:avLst/>
          </a:prstGeom>
          <a:noFill/>
          <a:ln/>
        </p:spPr>
        <p:txBody>
          <a:bodyPr wrap="square" lIns="0" tIns="0" rIns="0" bIns="0" rtlCol="0" anchor="ctr">
            <a:normAutofit/>
          </a:bodyPr>
          <a:lstStyle/>
          <a:p>
            <a:pPr algn="ctr" indent="0" marL="0">
              <a:buNone/>
            </a:pPr>
            <a:r>
              <a:rPr lang="en-US" sz="1300" b="1" dirty="0">
                <a:solidFill>
                  <a:srgbClr val="66736A"/>
                </a:solidFill>
                <a:latin typeface="Manrope" pitchFamily="34" charset="0"/>
                <a:ea typeface="Manrope" pitchFamily="34" charset="-122"/>
                <a:cs typeface="Manrope" pitchFamily="34" charset="-120"/>
              </a:rPr>
              <a:t>Net benefit</a:t>
            </a:r>
            <a:endParaRPr lang="en-US" sz="1300" dirty="0"/>
          </a:p>
        </p:txBody>
      </p:sp>
      <p:sp>
        <p:nvSpPr>
          <p:cNvPr id="17" name="Text 14"/>
          <p:cNvSpPr txBox="1"/>
          <p:nvPr/>
        </p:nvSpPr>
        <p:spPr>
          <a:xfrm>
            <a:off x="6601968" y="2313432"/>
            <a:ext cx="2212848" cy="667512"/>
          </a:xfrm>
          <a:prstGeom prst="rect">
            <a:avLst/>
          </a:prstGeom>
          <a:noFill/>
          <a:ln/>
        </p:spPr>
        <p:txBody>
          <a:bodyPr wrap="square" lIns="0" tIns="0" rIns="0" bIns="0" rtlCol="0" anchor="ctr">
            <a:normAutofit/>
          </a:bodyPr>
          <a:lstStyle/>
          <a:p>
            <a:pPr algn="ctr" indent="0" marL="0">
              <a:buNone/>
            </a:pPr>
            <a:r>
              <a:rPr lang="en-US" sz="3900" b="1" dirty="0">
                <a:solidFill>
                  <a:srgbClr val="173F35"/>
                </a:solidFill>
                <a:latin typeface="Manrope" pitchFamily="34" charset="0"/>
                <a:ea typeface="Manrope" pitchFamily="34" charset="-122"/>
                <a:cs typeface="Manrope" pitchFamily="34" charset="-120"/>
              </a:rPr>
              <a:t>3,601</a:t>
            </a:r>
            <a:endParaRPr lang="en-US" sz="3900" dirty="0"/>
          </a:p>
        </p:txBody>
      </p:sp>
      <p:sp>
        <p:nvSpPr>
          <p:cNvPr id="18" name="Text 15"/>
          <p:cNvSpPr txBox="1"/>
          <p:nvPr/>
        </p:nvSpPr>
        <p:spPr>
          <a:xfrm>
            <a:off x="6601968" y="2971800"/>
            <a:ext cx="2212848" cy="228600"/>
          </a:xfrm>
          <a:prstGeom prst="rect">
            <a:avLst/>
          </a:prstGeom>
          <a:noFill/>
          <a:ln/>
        </p:spPr>
        <p:txBody>
          <a:bodyPr wrap="square" lIns="0" tIns="0" rIns="0" bIns="0" rtlCol="0" anchor="ctr">
            <a:normAutofit/>
          </a:bodyPr>
          <a:lstStyle/>
          <a:p>
            <a:pPr algn="ctr" indent="0" marL="0">
              <a:buNone/>
            </a:pPr>
            <a:r>
              <a:rPr lang="en-US" sz="1100" dirty="0">
                <a:solidFill>
                  <a:srgbClr val="66736A"/>
                </a:solidFill>
                <a:latin typeface="Manrope" pitchFamily="34" charset="0"/>
                <a:ea typeface="Manrope" pitchFamily="34" charset="-122"/>
                <a:cs typeface="Manrope" pitchFamily="34" charset="-120"/>
              </a:rPr>
              <a:t>EGP / month</a:t>
            </a:r>
            <a:endParaRPr lang="en-US" sz="1100" dirty="0"/>
          </a:p>
        </p:txBody>
      </p:sp>
      <p:sp>
        <p:nvSpPr>
          <p:cNvPr id="19" name="Shape 16"/>
          <p:cNvSpPr/>
          <p:nvPr/>
        </p:nvSpPr>
        <p:spPr>
          <a:xfrm>
            <a:off x="9546336" y="1783080"/>
            <a:ext cx="1737360" cy="1554480"/>
          </a:xfrm>
          <a:prstGeom prst="roundRect">
            <a:avLst>
              <a:gd name="adj" fmla="val 15294"/>
            </a:avLst>
          </a:prstGeom>
          <a:solidFill>
            <a:srgbClr val="173F35"/>
          </a:solidFill>
          <a:ln w="12700">
            <a:solidFill>
              <a:srgbClr val="FFFFFF">
                <a:alpha val="0"/>
              </a:srgbClr>
            </a:solidFill>
            <a:prstDash val="solid"/>
          </a:ln>
        </p:spPr>
      </p:sp>
      <p:sp>
        <p:nvSpPr>
          <p:cNvPr id="20" name="Text 17"/>
          <p:cNvSpPr txBox="1"/>
          <p:nvPr/>
        </p:nvSpPr>
        <p:spPr>
          <a:xfrm>
            <a:off x="9692640" y="2075688"/>
            <a:ext cx="1435608" cy="566928"/>
          </a:xfrm>
          <a:prstGeom prst="rect">
            <a:avLst/>
          </a:prstGeom>
          <a:noFill/>
          <a:ln/>
        </p:spPr>
        <p:txBody>
          <a:bodyPr wrap="square" lIns="0" tIns="0" rIns="0" bIns="0" rtlCol="0" anchor="ctr">
            <a:normAutofit/>
          </a:bodyPr>
          <a:lstStyle/>
          <a:p>
            <a:pPr algn="ctr" indent="0" marL="0">
              <a:buNone/>
            </a:pPr>
            <a:r>
              <a:rPr lang="en-US" sz="3600" b="1" dirty="0">
                <a:solidFill>
                  <a:srgbClr val="BAC879"/>
                </a:solidFill>
                <a:latin typeface="Manrope" pitchFamily="34" charset="0"/>
                <a:ea typeface="Manrope" pitchFamily="34" charset="-122"/>
                <a:cs typeface="Manrope" pitchFamily="34" charset="-120"/>
              </a:rPr>
              <a:t>240%</a:t>
            </a:r>
            <a:endParaRPr lang="en-US" sz="3600" dirty="0"/>
          </a:p>
        </p:txBody>
      </p:sp>
      <p:sp>
        <p:nvSpPr>
          <p:cNvPr id="21" name="Text 18"/>
          <p:cNvSpPr txBox="1"/>
          <p:nvPr/>
        </p:nvSpPr>
        <p:spPr>
          <a:xfrm>
            <a:off x="9747504" y="2724912"/>
            <a:ext cx="1325880" cy="228600"/>
          </a:xfrm>
          <a:prstGeom prst="rect">
            <a:avLst/>
          </a:prstGeom>
          <a:noFill/>
          <a:ln/>
        </p:spPr>
        <p:txBody>
          <a:bodyPr wrap="square" lIns="0" tIns="0" rIns="0" bIns="0" rtlCol="0" anchor="ctr">
            <a:normAutofit/>
          </a:bodyPr>
          <a:lstStyle/>
          <a:p>
            <a:pPr algn="ctr" indent="0" marL="0">
              <a:buNone/>
            </a:pPr>
            <a:r>
              <a:rPr lang="en-US" sz="1000" b="1" spc="100" kern="0" dirty="0">
                <a:solidFill>
                  <a:srgbClr val="FFFFFF"/>
                </a:solidFill>
                <a:latin typeface="Manrope" pitchFamily="34" charset="0"/>
                <a:ea typeface="Manrope" pitchFamily="34" charset="-122"/>
                <a:cs typeface="Manrope" pitchFamily="34" charset="-120"/>
              </a:rPr>
              <a:t>MODELED ROI</a:t>
            </a:r>
            <a:endParaRPr lang="en-US" sz="1000" dirty="0"/>
          </a:p>
        </p:txBody>
      </p:sp>
      <p:sp>
        <p:nvSpPr>
          <p:cNvPr id="22" name="Shape 19"/>
          <p:cNvSpPr/>
          <p:nvPr/>
        </p:nvSpPr>
        <p:spPr>
          <a:xfrm>
            <a:off x="749808" y="3803904"/>
            <a:ext cx="10533888" cy="1188720"/>
          </a:xfrm>
          <a:prstGeom prst="roundRect">
            <a:avLst>
              <a:gd name="adj" fmla="val 13846"/>
            </a:avLst>
          </a:prstGeom>
          <a:solidFill>
            <a:srgbClr val="E6EFE8"/>
          </a:solidFill>
          <a:ln w="12700">
            <a:solidFill>
              <a:srgbClr val="FFFFFF">
                <a:alpha val="0"/>
              </a:srgbClr>
            </a:solidFill>
            <a:prstDash val="solid"/>
          </a:ln>
        </p:spPr>
      </p:sp>
      <p:sp>
        <p:nvSpPr>
          <p:cNvPr id="23" name="Text 20"/>
          <p:cNvSpPr txBox="1"/>
          <p:nvPr/>
        </p:nvSpPr>
        <p:spPr>
          <a:xfrm>
            <a:off x="987552" y="4096512"/>
            <a:ext cx="1618488" cy="256032"/>
          </a:xfrm>
          <a:prstGeom prst="rect">
            <a:avLst/>
          </a:prstGeom>
          <a:noFill/>
          <a:ln/>
        </p:spPr>
        <p:txBody>
          <a:bodyPr wrap="square" lIns="0" tIns="0" rIns="0" bIns="0" rtlCol="0" anchor="ctr">
            <a:normAutofit/>
          </a:bodyPr>
          <a:lstStyle/>
          <a:p>
            <a:pPr algn="l" indent="0" marL="0">
              <a:buNone/>
            </a:pPr>
            <a:r>
              <a:rPr lang="en-US" sz="1700" b="1" dirty="0">
                <a:solidFill>
                  <a:srgbClr val="173F35"/>
                </a:solidFill>
                <a:latin typeface="Manrope" pitchFamily="34" charset="0"/>
                <a:ea typeface="Manrope" pitchFamily="34" charset="-122"/>
                <a:cs typeface="Manrope" pitchFamily="34" charset="-120"/>
              </a:rPr>
              <a:t>Benefit assumptions</a:t>
            </a:r>
            <a:endParaRPr lang="en-US" sz="1700" dirty="0"/>
          </a:p>
        </p:txBody>
      </p:sp>
      <p:sp>
        <p:nvSpPr>
          <p:cNvPr id="24" name="Text 21"/>
          <p:cNvSpPr txBox="1"/>
          <p:nvPr/>
        </p:nvSpPr>
        <p:spPr>
          <a:xfrm>
            <a:off x="2852928" y="4014216"/>
            <a:ext cx="2148840" cy="457200"/>
          </a:xfrm>
          <a:prstGeom prst="rect">
            <a:avLst/>
          </a:prstGeom>
          <a:noFill/>
          <a:ln/>
        </p:spPr>
        <p:txBody>
          <a:bodyPr wrap="square" lIns="0" tIns="0" rIns="0" bIns="0" rtlCol="0" anchor="ctr">
            <a:normAutofit/>
          </a:bodyPr>
          <a:lstStyle/>
          <a:p>
            <a:pPr algn="ctr" indent="0" marL="0">
              <a:buNone/>
            </a:pPr>
            <a:r>
              <a:rPr lang="en-US" sz="1350" b="1" dirty="0">
                <a:solidFill>
                  <a:srgbClr val="17231F"/>
                </a:solidFill>
                <a:latin typeface="Manrope" pitchFamily="34" charset="0"/>
                <a:ea typeface="Manrope" pitchFamily="34" charset="-122"/>
                <a:cs typeface="Manrope" pitchFamily="34" charset="-120"/>
              </a:rPr>
              <a:t>20 admin hours × EGP 75 = 1,500</a:t>
            </a:r>
            <a:endParaRPr lang="en-US" sz="1350" dirty="0"/>
          </a:p>
        </p:txBody>
      </p:sp>
      <p:sp>
        <p:nvSpPr>
          <p:cNvPr id="25" name="Text 22"/>
          <p:cNvSpPr txBox="1"/>
          <p:nvPr/>
        </p:nvSpPr>
        <p:spPr>
          <a:xfrm>
            <a:off x="5285232" y="4014216"/>
            <a:ext cx="2404872" cy="457200"/>
          </a:xfrm>
          <a:prstGeom prst="rect">
            <a:avLst/>
          </a:prstGeom>
          <a:noFill/>
          <a:ln/>
        </p:spPr>
        <p:txBody>
          <a:bodyPr wrap="square" lIns="0" tIns="0" rIns="0" bIns="0" rtlCol="0" anchor="ctr">
            <a:normAutofit/>
          </a:bodyPr>
          <a:lstStyle/>
          <a:p>
            <a:pPr algn="ctr" indent="0" marL="0">
              <a:buNone/>
            </a:pPr>
            <a:r>
              <a:rPr lang="en-US" sz="1350" b="1" dirty="0">
                <a:solidFill>
                  <a:srgbClr val="17231F"/>
                </a:solidFill>
                <a:latin typeface="Manrope" pitchFamily="34" charset="0"/>
                <a:ea typeface="Manrope" pitchFamily="34" charset="-122"/>
                <a:cs typeface="Manrope" pitchFamily="34" charset="-120"/>
              </a:rPr>
              <a:t>0.4% × EGP 600k sales = 2,400</a:t>
            </a:r>
            <a:endParaRPr lang="en-US" sz="1350" dirty="0"/>
          </a:p>
        </p:txBody>
      </p:sp>
      <p:sp>
        <p:nvSpPr>
          <p:cNvPr id="26" name="Text 23"/>
          <p:cNvSpPr txBox="1"/>
          <p:nvPr/>
        </p:nvSpPr>
        <p:spPr>
          <a:xfrm>
            <a:off x="7955280" y="4014216"/>
            <a:ext cx="2651760" cy="457200"/>
          </a:xfrm>
          <a:prstGeom prst="rect">
            <a:avLst/>
          </a:prstGeom>
          <a:noFill/>
          <a:ln/>
        </p:spPr>
        <p:txBody>
          <a:bodyPr wrap="square" lIns="0" tIns="0" rIns="0" bIns="0" rtlCol="0" anchor="ctr">
            <a:normAutofit/>
          </a:bodyPr>
          <a:lstStyle/>
          <a:p>
            <a:pPr algn="ctr" indent="0" marL="0">
              <a:buNone/>
            </a:pPr>
            <a:r>
              <a:rPr lang="en-US" sz="1350" b="1" dirty="0">
                <a:solidFill>
                  <a:srgbClr val="17231F"/>
                </a:solidFill>
                <a:latin typeface="Manrope" pitchFamily="34" charset="0"/>
                <a:ea typeface="Manrope" pitchFamily="34" charset="-122"/>
                <a:cs typeface="Manrope" pitchFamily="34" charset="-120"/>
              </a:rPr>
              <a:t>8 checks × EGP 500 × 30% = 1,200</a:t>
            </a:r>
            <a:endParaRPr lang="en-US" sz="1350" dirty="0"/>
          </a:p>
        </p:txBody>
      </p:sp>
      <p:sp>
        <p:nvSpPr>
          <p:cNvPr id="27" name="Text 24"/>
          <p:cNvSpPr txBox="1"/>
          <p:nvPr/>
        </p:nvSpPr>
        <p:spPr>
          <a:xfrm>
            <a:off x="950976" y="5394960"/>
            <a:ext cx="7635240" cy="320040"/>
          </a:xfrm>
          <a:prstGeom prst="rect">
            <a:avLst/>
          </a:prstGeom>
          <a:noFill/>
          <a:ln/>
        </p:spPr>
        <p:txBody>
          <a:bodyPr wrap="square" lIns="0" tIns="0" rIns="0" bIns="0" rtlCol="0" anchor="ctr">
            <a:normAutofit/>
          </a:bodyPr>
          <a:lstStyle/>
          <a:p>
            <a:pPr algn="l" indent="0" marL="0">
              <a:buNone/>
            </a:pPr>
            <a:r>
              <a:rPr lang="en-US" sz="1600" b="1" dirty="0">
                <a:solidFill>
                  <a:srgbClr val="173F35"/>
                </a:solidFill>
                <a:latin typeface="Manrope" pitchFamily="34" charset="0"/>
                <a:ea typeface="Manrope" pitchFamily="34" charset="-122"/>
                <a:cs typeface="Manrope" pitchFamily="34" charset="-120"/>
              </a:rPr>
              <a:t>ROI = (5,100 − 1,499) ÷ 1,499 × 100 = 240.2%, rounded to 240%</a:t>
            </a:r>
            <a:endParaRPr lang="en-US" sz="1600" dirty="0"/>
          </a:p>
        </p:txBody>
      </p:sp>
      <p:sp>
        <p:nvSpPr>
          <p:cNvPr id="28" name="Text 25"/>
          <p:cNvSpPr txBox="1"/>
          <p:nvPr/>
        </p:nvSpPr>
        <p:spPr>
          <a:xfrm>
            <a:off x="8613648" y="5340096"/>
            <a:ext cx="2404872" cy="466344"/>
          </a:xfrm>
          <a:prstGeom prst="rect">
            <a:avLst/>
          </a:prstGeom>
          <a:noFill/>
          <a:ln/>
        </p:spPr>
        <p:txBody>
          <a:bodyPr wrap="square" lIns="0" tIns="0" rIns="0" bIns="0" rtlCol="0" anchor="ctr">
            <a:normAutofit/>
          </a:bodyPr>
          <a:lstStyle/>
          <a:p>
            <a:pPr algn="r" indent="0" marL="0">
              <a:buNone/>
            </a:pPr>
            <a:r>
              <a:rPr lang="en-US" sz="1080" dirty="0">
                <a:solidFill>
                  <a:srgbClr val="B94E4E"/>
                </a:solidFill>
                <a:latin typeface="Manrope" pitchFamily="34" charset="0"/>
                <a:ea typeface="Manrope" pitchFamily="34" charset="-122"/>
                <a:cs typeface="Manrope" pitchFamily="34" charset="-120"/>
              </a:rPr>
              <a:t>Excludes hardware, gateway fees, tax and setup fees if any.</a:t>
            </a:r>
            <a:endParaRPr lang="en-US" sz="1080" dirty="0"/>
          </a:p>
        </p:txBody>
      </p:sp>
      <p:sp>
        <p:nvSpPr>
          <p:cNvPr id="29" name="Text 26"/>
          <p:cNvSpPr txBox="1"/>
          <p:nvPr/>
        </p:nvSpPr>
        <p:spPr>
          <a:xfrm>
            <a:off x="658368" y="6565392"/>
            <a:ext cx="5303520" cy="118872"/>
          </a:xfrm>
          <a:prstGeom prst="rect">
            <a:avLst/>
          </a:prstGeom>
          <a:noFill/>
          <a:ln/>
        </p:spPr>
        <p:txBody>
          <a:bodyPr wrap="square" lIns="0" tIns="0" rIns="0" bIns="0" rtlCol="0" anchor="t">
            <a:normAutofit/>
          </a:bodyPr>
          <a:lstStyle/>
          <a:p>
            <a:pPr algn="l" indent="0" marL="0">
              <a:buNone/>
            </a:pPr>
            <a:r>
              <a:rPr lang="en-US" sz="850" dirty="0">
                <a:solidFill>
                  <a:srgbClr val="66736A"/>
                </a:solidFill>
                <a:latin typeface="Manrope" pitchFamily="34" charset="0"/>
                <a:ea typeface="Manrope" pitchFamily="34" charset="-122"/>
                <a:cs typeface="Manrope" pitchFamily="34" charset="-120"/>
              </a:rPr>
              <a:t>Replace every assumption with pilot data before a purchase decision</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384048" y="6510528"/>
            <a:ext cx="11402568" cy="0"/>
          </a:xfrm>
          <a:prstGeom prst="line">
            <a:avLst/>
          </a:prstGeom>
          <a:noFill/>
          <a:ln w="8890">
            <a:solidFill>
              <a:srgbClr val="D4DCD5"/>
            </a:solidFill>
            <a:prstDash val="solid"/>
          </a:ln>
        </p:spPr>
      </p:sp>
      <p:pic>
        <p:nvPicPr>
          <p:cNvPr id="3" name="Image 0" descr="/Users/tank/Downloads/Resuto-main/.codex-build/resuto-impactx-pitch/resuto-original-mark.png">    </p:cNvPr>
          <p:cNvPicPr>
            <a:picLocks noChangeAspect="1"/>
          </p:cNvPicPr>
          <p:nvPr/>
        </p:nvPicPr>
        <p:blipFill>
          <a:blip r:embed="rId1"/>
          <a:stretch>
            <a:fillRect/>
          </a:stretch>
        </p:blipFill>
        <p:spPr>
          <a:xfrm>
            <a:off x="384048" y="210312"/>
            <a:ext cx="356616" cy="338328"/>
          </a:xfrm>
          <a:prstGeom prst="rect">
            <a:avLst/>
          </a:prstGeom>
        </p:spPr>
      </p:pic>
      <p:sp>
        <p:nvSpPr>
          <p:cNvPr id="4" name="Text 1"/>
          <p:cNvSpPr txBox="1"/>
          <p:nvPr/>
        </p:nvSpPr>
        <p:spPr>
          <a:xfrm>
            <a:off x="786384" y="283464"/>
            <a:ext cx="914400" cy="164592"/>
          </a:xfrm>
          <a:prstGeom prst="rect">
            <a:avLst/>
          </a:prstGeom>
          <a:noFill/>
          <a:ln/>
        </p:spPr>
        <p:txBody>
          <a:bodyPr wrap="square" lIns="0" tIns="0" rIns="0" bIns="0" rtlCol="0" anchor="t">
            <a:normAutofit/>
          </a:bodyPr>
          <a:lstStyle/>
          <a:p>
            <a:pPr algn="l" indent="0" marL="0">
              <a:buNone/>
            </a:pPr>
            <a:r>
              <a:rPr lang="en-US" sz="900" b="1" dirty="0">
                <a:solidFill>
                  <a:srgbClr val="173F35"/>
                </a:solidFill>
                <a:latin typeface="Manrope" pitchFamily="34" charset="0"/>
                <a:ea typeface="Manrope" pitchFamily="34" charset="-122"/>
                <a:cs typeface="Manrope" pitchFamily="34" charset="-120"/>
              </a:rPr>
              <a:t>RESUTO</a:t>
            </a:r>
            <a:endParaRPr lang="en-US" sz="900" dirty="0"/>
          </a:p>
        </p:txBody>
      </p:sp>
      <p:sp>
        <p:nvSpPr>
          <p:cNvPr id="5" name="Text 2"/>
          <p:cNvSpPr txBox="1"/>
          <p:nvPr/>
        </p:nvSpPr>
        <p:spPr>
          <a:xfrm>
            <a:off x="9829800" y="274320"/>
            <a:ext cx="1691640" cy="146304"/>
          </a:xfrm>
          <a:prstGeom prst="rect">
            <a:avLst/>
          </a:prstGeom>
          <a:noFill/>
          <a:ln/>
        </p:spPr>
        <p:txBody>
          <a:bodyPr wrap="square" lIns="0" tIns="0" rIns="0" bIns="0" rtlCol="0" anchor="ctr">
            <a:normAutofit/>
          </a:bodyPr>
          <a:lstStyle/>
          <a:p>
            <a:pPr algn="r" indent="0" marL="0">
              <a:buNone/>
            </a:pPr>
            <a:r>
              <a:rPr lang="en-US" sz="850" b="1" spc="140" kern="0" dirty="0">
                <a:solidFill>
                  <a:srgbClr val="D89A32"/>
                </a:solidFill>
                <a:latin typeface="Manrope" pitchFamily="34" charset="0"/>
                <a:ea typeface="Manrope" pitchFamily="34" charset="-122"/>
                <a:cs typeface="Manrope" pitchFamily="34" charset="-120"/>
              </a:rPr>
              <a:t>EXECUTION</a:t>
            </a:r>
            <a:endParaRPr lang="en-US" sz="850" dirty="0"/>
          </a:p>
        </p:txBody>
      </p:sp>
      <p:sp>
        <p:nvSpPr>
          <p:cNvPr id="6" name="Text 3"/>
          <p:cNvSpPr txBox="1"/>
          <p:nvPr/>
        </p:nvSpPr>
        <p:spPr>
          <a:xfrm>
            <a:off x="658368" y="557784"/>
            <a:ext cx="10835640" cy="530352"/>
          </a:xfrm>
          <a:prstGeom prst="rect">
            <a:avLst/>
          </a:prstGeom>
          <a:noFill/>
          <a:ln/>
        </p:spPr>
        <p:txBody>
          <a:bodyPr wrap="square" lIns="0" tIns="0" rIns="0" bIns="0" rtlCol="0" anchor="t">
            <a:normAutofit/>
          </a:bodyPr>
          <a:lstStyle/>
          <a:p>
            <a:pPr algn="l" indent="0" marL="0">
              <a:buNone/>
            </a:pPr>
            <a:r>
              <a:rPr lang="en-US" sz="3000" b="1" dirty="0">
                <a:solidFill>
                  <a:srgbClr val="17231F"/>
                </a:solidFill>
                <a:latin typeface="Manrope" pitchFamily="34" charset="0"/>
                <a:ea typeface="Manrope" pitchFamily="34" charset="-122"/>
                <a:cs typeface="Manrope" pitchFamily="34" charset="-120"/>
              </a:rPr>
              <a:t>The next 90 days turn working software into a sellable service</a:t>
            </a:r>
            <a:endParaRPr lang="en-US" sz="3000" dirty="0"/>
          </a:p>
        </p:txBody>
      </p:sp>
      <p:sp>
        <p:nvSpPr>
          <p:cNvPr id="7" name="Text 4"/>
          <p:cNvSpPr txBox="1"/>
          <p:nvPr/>
        </p:nvSpPr>
        <p:spPr>
          <a:xfrm>
            <a:off x="676656" y="1097280"/>
            <a:ext cx="10469880" cy="347472"/>
          </a:xfrm>
          <a:prstGeom prst="rect">
            <a:avLst/>
          </a:prstGeom>
          <a:noFill/>
          <a:ln/>
        </p:spPr>
        <p:txBody>
          <a:bodyPr wrap="square" lIns="0" tIns="0" rIns="0" bIns="0" rtlCol="0" anchor="t">
            <a:normAutofit/>
          </a:bodyPr>
          <a:lstStyle/>
          <a:p>
            <a:pPr algn="l" indent="0" marL="0">
              <a:buNone/>
            </a:pPr>
            <a:r>
              <a:rPr lang="en-US" sz="1450" dirty="0">
                <a:solidFill>
                  <a:srgbClr val="66736A"/>
                </a:solidFill>
                <a:latin typeface="Manrope" pitchFamily="34" charset="0"/>
                <a:ea typeface="Manrope" pitchFamily="34" charset="-122"/>
                <a:cs typeface="Manrope" pitchFamily="34" charset="-120"/>
              </a:rPr>
              <a:t>Current progress narrows the plan; production gates remain explicit</a:t>
            </a:r>
            <a:endParaRPr lang="en-US" sz="1450" dirty="0"/>
          </a:p>
        </p:txBody>
      </p:sp>
      <p:sp>
        <p:nvSpPr>
          <p:cNvPr id="8" name="Text 5"/>
          <p:cNvSpPr txBox="1"/>
          <p:nvPr/>
        </p:nvSpPr>
        <p:spPr>
          <a:xfrm>
            <a:off x="685800" y="1636776"/>
            <a:ext cx="2231136" cy="256032"/>
          </a:xfrm>
          <a:prstGeom prst="rect">
            <a:avLst/>
          </a:prstGeom>
          <a:noFill/>
          <a:ln/>
        </p:spPr>
        <p:txBody>
          <a:bodyPr wrap="square" lIns="0" tIns="0" rIns="0" bIns="0" rtlCol="0" anchor="ctr">
            <a:normAutofit/>
          </a:bodyPr>
          <a:lstStyle/>
          <a:p>
            <a:pPr algn="l" indent="0" marL="0">
              <a:buNone/>
            </a:pPr>
            <a:r>
              <a:rPr lang="en-US" sz="1000" b="1" spc="120" kern="0" dirty="0">
                <a:solidFill>
                  <a:srgbClr val="173F35"/>
                </a:solidFill>
                <a:latin typeface="Manrope" pitchFamily="34" charset="0"/>
                <a:ea typeface="Manrope" pitchFamily="34" charset="-122"/>
                <a:cs typeface="Manrope" pitchFamily="34" charset="-120"/>
              </a:rPr>
              <a:t>NOW</a:t>
            </a:r>
            <a:endParaRPr lang="en-US" sz="1000" dirty="0"/>
          </a:p>
        </p:txBody>
      </p:sp>
      <p:sp>
        <p:nvSpPr>
          <p:cNvPr id="9" name="Text 6"/>
          <p:cNvSpPr txBox="1"/>
          <p:nvPr/>
        </p:nvSpPr>
        <p:spPr>
          <a:xfrm>
            <a:off x="685800" y="2039112"/>
            <a:ext cx="2249424" cy="566928"/>
          </a:xfrm>
          <a:prstGeom prst="rect">
            <a:avLst/>
          </a:prstGeom>
          <a:noFill/>
          <a:ln/>
        </p:spPr>
        <p:txBody>
          <a:bodyPr wrap="square" lIns="0" tIns="0" rIns="0" bIns="0" rtlCol="0" anchor="t">
            <a:normAutofit/>
          </a:bodyPr>
          <a:lstStyle/>
          <a:p>
            <a:pPr algn="l" indent="0" marL="0">
              <a:buNone/>
            </a:pPr>
            <a:r>
              <a:rPr lang="en-US" sz="2300" b="1" dirty="0">
                <a:solidFill>
                  <a:srgbClr val="17231F"/>
                </a:solidFill>
                <a:latin typeface="Manrope" pitchFamily="34" charset="0"/>
                <a:ea typeface="Manrope" pitchFamily="34" charset="-122"/>
                <a:cs typeface="Manrope" pitchFamily="34" charset="-120"/>
              </a:rPr>
              <a:t>Working MVP</a:t>
            </a:r>
            <a:endParaRPr lang="en-US" sz="2300" dirty="0"/>
          </a:p>
        </p:txBody>
      </p:sp>
      <p:sp>
        <p:nvSpPr>
          <p:cNvPr id="10" name="Shape 7"/>
          <p:cNvSpPr/>
          <p:nvPr/>
        </p:nvSpPr>
        <p:spPr>
          <a:xfrm>
            <a:off x="685800" y="2843784"/>
            <a:ext cx="2249424" cy="2066544"/>
          </a:xfrm>
          <a:prstGeom prst="roundRect">
            <a:avLst>
              <a:gd name="adj" fmla="val 8850"/>
            </a:avLst>
          </a:prstGeom>
          <a:solidFill>
            <a:srgbClr val="173F35"/>
          </a:solidFill>
          <a:ln w="12700">
            <a:solidFill>
              <a:srgbClr val="FFFFFF">
                <a:alpha val="0"/>
              </a:srgbClr>
            </a:solidFill>
            <a:prstDash val="solid"/>
          </a:ln>
        </p:spPr>
      </p:sp>
      <p:sp>
        <p:nvSpPr>
          <p:cNvPr id="11" name="Text 8"/>
          <p:cNvSpPr txBox="1"/>
          <p:nvPr/>
        </p:nvSpPr>
        <p:spPr>
          <a:xfrm>
            <a:off x="886968" y="3136392"/>
            <a:ext cx="1847088" cy="1298448"/>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Manrope" pitchFamily="34" charset="0"/>
                <a:ea typeface="Manrope" pitchFamily="34" charset="-122"/>
                <a:cs typeface="Manrope" pitchFamily="34" charset="-120"/>
              </a:rPr>
              <a:t>Build passes</a:t>
            </a:r>
            <a:endParaRPr lang="en-US" sz="1500" dirty="0"/>
          </a:p>
          <a:p>
            <a:pPr algn="ctr" indent="0" marL="0">
              <a:buNone/>
            </a:pPr>
            <a:r>
              <a:rPr lang="en-US" sz="1500" b="1" dirty="0">
                <a:solidFill>
                  <a:srgbClr val="FFFFFF"/>
                </a:solidFill>
                <a:latin typeface="Manrope" pitchFamily="34" charset="0"/>
                <a:ea typeface="Manrope" pitchFamily="34" charset="-122"/>
                <a:cs typeface="Manrope" pitchFamily="34" charset="-120"/>
              </a:rPr>
              <a:t>76 tests pass</a:t>
            </a:r>
            <a:endParaRPr lang="en-US" sz="1500" dirty="0"/>
          </a:p>
          <a:p>
            <a:pPr algn="ctr" indent="0" marL="0">
              <a:buNone/>
            </a:pPr>
            <a:r>
              <a:rPr lang="en-US" sz="1500" b="1" dirty="0">
                <a:solidFill>
                  <a:srgbClr val="FFFFFF"/>
                </a:solidFill>
                <a:latin typeface="Manrope" pitchFamily="34" charset="0"/>
                <a:ea typeface="Manrope" pitchFamily="34" charset="-122"/>
                <a:cs typeface="Manrope" pitchFamily="34" charset="-120"/>
              </a:rPr>
              <a:t>Live Gemini verified</a:t>
            </a:r>
            <a:endParaRPr lang="en-US" sz="1500" dirty="0"/>
          </a:p>
        </p:txBody>
      </p:sp>
      <p:sp>
        <p:nvSpPr>
          <p:cNvPr id="12" name="Shape 9"/>
          <p:cNvSpPr/>
          <p:nvPr/>
        </p:nvSpPr>
        <p:spPr>
          <a:xfrm>
            <a:off x="2990088" y="3840480"/>
            <a:ext cx="384048" cy="0"/>
          </a:xfrm>
          <a:prstGeom prst="line">
            <a:avLst/>
          </a:prstGeom>
          <a:noFill/>
          <a:ln w="25400">
            <a:solidFill>
              <a:srgbClr val="E8763C"/>
            </a:solidFill>
            <a:prstDash val="solid"/>
            <a:tailEnd type="triangle"/>
          </a:ln>
        </p:spPr>
      </p:sp>
      <p:sp>
        <p:nvSpPr>
          <p:cNvPr id="13" name="Text 10"/>
          <p:cNvSpPr txBox="1"/>
          <p:nvPr/>
        </p:nvSpPr>
        <p:spPr>
          <a:xfrm>
            <a:off x="3447288" y="1636776"/>
            <a:ext cx="2231136" cy="256032"/>
          </a:xfrm>
          <a:prstGeom prst="rect">
            <a:avLst/>
          </a:prstGeom>
          <a:noFill/>
          <a:ln/>
        </p:spPr>
        <p:txBody>
          <a:bodyPr wrap="square" lIns="0" tIns="0" rIns="0" bIns="0" rtlCol="0" anchor="ctr">
            <a:normAutofit/>
          </a:bodyPr>
          <a:lstStyle/>
          <a:p>
            <a:pPr algn="l" indent="0" marL="0">
              <a:buNone/>
            </a:pPr>
            <a:r>
              <a:rPr lang="en-US" sz="1000" b="1" spc="120" kern="0" dirty="0">
                <a:solidFill>
                  <a:srgbClr val="E8763C"/>
                </a:solidFill>
                <a:latin typeface="Manrope" pitchFamily="34" charset="0"/>
                <a:ea typeface="Manrope" pitchFamily="34" charset="-122"/>
                <a:cs typeface="Manrope" pitchFamily="34" charset="-120"/>
              </a:rPr>
              <a:t>0–30 DAYS</a:t>
            </a:r>
            <a:endParaRPr lang="en-US" sz="1000" dirty="0"/>
          </a:p>
        </p:txBody>
      </p:sp>
      <p:sp>
        <p:nvSpPr>
          <p:cNvPr id="14" name="Text 11"/>
          <p:cNvSpPr txBox="1"/>
          <p:nvPr/>
        </p:nvSpPr>
        <p:spPr>
          <a:xfrm>
            <a:off x="3447288" y="2039112"/>
            <a:ext cx="2249424" cy="566928"/>
          </a:xfrm>
          <a:prstGeom prst="rect">
            <a:avLst/>
          </a:prstGeom>
          <a:noFill/>
          <a:ln/>
        </p:spPr>
        <p:txBody>
          <a:bodyPr wrap="square" lIns="0" tIns="0" rIns="0" bIns="0" rtlCol="0" anchor="t">
            <a:normAutofit/>
          </a:bodyPr>
          <a:lstStyle/>
          <a:p>
            <a:pPr algn="l" indent="0" marL="0">
              <a:buNone/>
            </a:pPr>
            <a:r>
              <a:rPr lang="en-US" sz="2300" b="1" dirty="0">
                <a:solidFill>
                  <a:srgbClr val="17231F"/>
                </a:solidFill>
                <a:latin typeface="Manrope" pitchFamily="34" charset="0"/>
                <a:ea typeface="Manrope" pitchFamily="34" charset="-122"/>
                <a:cs typeface="Manrope" pitchFamily="34" charset="-120"/>
              </a:rPr>
              <a:t>Egypt pilot</a:t>
            </a:r>
            <a:endParaRPr lang="en-US" sz="2300" dirty="0"/>
          </a:p>
        </p:txBody>
      </p:sp>
      <p:sp>
        <p:nvSpPr>
          <p:cNvPr id="15" name="Shape 12"/>
          <p:cNvSpPr/>
          <p:nvPr/>
        </p:nvSpPr>
        <p:spPr>
          <a:xfrm>
            <a:off x="3447288" y="2843784"/>
            <a:ext cx="2249424" cy="2066544"/>
          </a:xfrm>
          <a:prstGeom prst="roundRect">
            <a:avLst>
              <a:gd name="adj" fmla="val 8850"/>
            </a:avLst>
          </a:prstGeom>
          <a:solidFill>
            <a:srgbClr val="FFFFFF"/>
          </a:solidFill>
          <a:ln w="12700">
            <a:solidFill>
              <a:srgbClr val="D4DCD5"/>
            </a:solidFill>
            <a:prstDash val="solid"/>
          </a:ln>
        </p:spPr>
      </p:sp>
      <p:sp>
        <p:nvSpPr>
          <p:cNvPr id="16" name="Text 13"/>
          <p:cNvSpPr txBox="1"/>
          <p:nvPr/>
        </p:nvSpPr>
        <p:spPr>
          <a:xfrm>
            <a:off x="3648456" y="3136392"/>
            <a:ext cx="1847088" cy="1298448"/>
          </a:xfrm>
          <a:prstGeom prst="rect">
            <a:avLst/>
          </a:prstGeom>
          <a:noFill/>
          <a:ln/>
        </p:spPr>
        <p:txBody>
          <a:bodyPr wrap="square" lIns="0" tIns="0" rIns="0" bIns="0" rtlCol="0" anchor="ctr">
            <a:normAutofit/>
          </a:bodyPr>
          <a:lstStyle/>
          <a:p>
            <a:pPr algn="ctr" indent="0" marL="0">
              <a:buNone/>
            </a:pPr>
            <a:r>
              <a:rPr lang="en-US" sz="1500" b="1" dirty="0">
                <a:solidFill>
                  <a:srgbClr val="17231F"/>
                </a:solidFill>
                <a:latin typeface="Manrope" pitchFamily="34" charset="0"/>
                <a:ea typeface="Manrope" pitchFamily="34" charset="-122"/>
                <a:cs typeface="Manrope" pitchFamily="34" charset="-120"/>
              </a:rPr>
              <a:t>3 restaurants</a:t>
            </a:r>
            <a:endParaRPr lang="en-US" sz="1500" dirty="0"/>
          </a:p>
          <a:p>
            <a:pPr algn="ctr" indent="0" marL="0">
              <a:buNone/>
            </a:pPr>
            <a:r>
              <a:rPr lang="en-US" sz="1500" b="1" dirty="0">
                <a:solidFill>
                  <a:srgbClr val="17231F"/>
                </a:solidFill>
                <a:latin typeface="Manrope" pitchFamily="34" charset="0"/>
                <a:ea typeface="Manrope" pitchFamily="34" charset="-122"/>
                <a:cs typeface="Manrope" pitchFamily="34" charset="-120"/>
              </a:rPr>
              <a:t>7-day baseline</a:t>
            </a:r>
            <a:endParaRPr lang="en-US" sz="1500" dirty="0"/>
          </a:p>
          <a:p>
            <a:pPr algn="ctr" indent="0" marL="0">
              <a:buNone/>
            </a:pPr>
            <a:r>
              <a:rPr lang="en-US" sz="1500" b="1" dirty="0">
                <a:solidFill>
                  <a:srgbClr val="17231F"/>
                </a:solidFill>
                <a:latin typeface="Manrope" pitchFamily="34" charset="0"/>
                <a:ea typeface="Manrope" pitchFamily="34" charset="-122"/>
                <a:cs typeface="Manrope" pitchFamily="34" charset="-120"/>
              </a:rPr>
              <a:t>Measured adoption + ROI</a:t>
            </a:r>
            <a:endParaRPr lang="en-US" sz="1500" dirty="0"/>
          </a:p>
        </p:txBody>
      </p:sp>
      <p:sp>
        <p:nvSpPr>
          <p:cNvPr id="17" name="Shape 14"/>
          <p:cNvSpPr/>
          <p:nvPr/>
        </p:nvSpPr>
        <p:spPr>
          <a:xfrm>
            <a:off x="5751576" y="3840480"/>
            <a:ext cx="384048" cy="0"/>
          </a:xfrm>
          <a:prstGeom prst="line">
            <a:avLst/>
          </a:prstGeom>
          <a:noFill/>
          <a:ln w="25400">
            <a:solidFill>
              <a:srgbClr val="E8763C"/>
            </a:solidFill>
            <a:prstDash val="solid"/>
            <a:tailEnd type="triangle"/>
          </a:ln>
        </p:spPr>
      </p:sp>
      <p:sp>
        <p:nvSpPr>
          <p:cNvPr id="18" name="Text 15"/>
          <p:cNvSpPr txBox="1"/>
          <p:nvPr/>
        </p:nvSpPr>
        <p:spPr>
          <a:xfrm>
            <a:off x="6208776" y="1636776"/>
            <a:ext cx="2231136" cy="256032"/>
          </a:xfrm>
          <a:prstGeom prst="rect">
            <a:avLst/>
          </a:prstGeom>
          <a:noFill/>
          <a:ln/>
        </p:spPr>
        <p:txBody>
          <a:bodyPr wrap="square" lIns="0" tIns="0" rIns="0" bIns="0" rtlCol="0" anchor="ctr">
            <a:normAutofit/>
          </a:bodyPr>
          <a:lstStyle/>
          <a:p>
            <a:pPr algn="l" indent="0" marL="0">
              <a:buNone/>
            </a:pPr>
            <a:r>
              <a:rPr lang="en-US" sz="1000" b="1" spc="120" kern="0" dirty="0">
                <a:solidFill>
                  <a:srgbClr val="2F7667"/>
                </a:solidFill>
                <a:latin typeface="Manrope" pitchFamily="34" charset="0"/>
                <a:ea typeface="Manrope" pitchFamily="34" charset="-122"/>
                <a:cs typeface="Manrope" pitchFamily="34" charset="-120"/>
              </a:rPr>
              <a:t>31–60 DAYS</a:t>
            </a:r>
            <a:endParaRPr lang="en-US" sz="1000" dirty="0"/>
          </a:p>
        </p:txBody>
      </p:sp>
      <p:sp>
        <p:nvSpPr>
          <p:cNvPr id="19" name="Text 16"/>
          <p:cNvSpPr txBox="1"/>
          <p:nvPr/>
        </p:nvSpPr>
        <p:spPr>
          <a:xfrm>
            <a:off x="6208776" y="2039112"/>
            <a:ext cx="2249424" cy="566928"/>
          </a:xfrm>
          <a:prstGeom prst="rect">
            <a:avLst/>
          </a:prstGeom>
          <a:noFill/>
          <a:ln/>
        </p:spPr>
        <p:txBody>
          <a:bodyPr wrap="square" lIns="0" tIns="0" rIns="0" bIns="0" rtlCol="0" anchor="t">
            <a:normAutofit/>
          </a:bodyPr>
          <a:lstStyle/>
          <a:p>
            <a:pPr algn="l" indent="0" marL="0">
              <a:buNone/>
            </a:pPr>
            <a:r>
              <a:rPr lang="en-US" sz="2300" b="1" dirty="0">
                <a:solidFill>
                  <a:srgbClr val="17231F"/>
                </a:solidFill>
                <a:latin typeface="Manrope" pitchFamily="34" charset="0"/>
                <a:ea typeface="Manrope" pitchFamily="34" charset="-122"/>
                <a:cs typeface="Manrope" pitchFamily="34" charset="-120"/>
              </a:rPr>
              <a:t>Production hardening</a:t>
            </a:r>
            <a:endParaRPr lang="en-US" sz="2300" dirty="0"/>
          </a:p>
        </p:txBody>
      </p:sp>
      <p:sp>
        <p:nvSpPr>
          <p:cNvPr id="20" name="Shape 17"/>
          <p:cNvSpPr/>
          <p:nvPr/>
        </p:nvSpPr>
        <p:spPr>
          <a:xfrm>
            <a:off x="6208776" y="2843784"/>
            <a:ext cx="2249424" cy="2066544"/>
          </a:xfrm>
          <a:prstGeom prst="roundRect">
            <a:avLst>
              <a:gd name="adj" fmla="val 8850"/>
            </a:avLst>
          </a:prstGeom>
          <a:solidFill>
            <a:srgbClr val="FFFFFF"/>
          </a:solidFill>
          <a:ln w="12700">
            <a:solidFill>
              <a:srgbClr val="D4DCD5"/>
            </a:solidFill>
            <a:prstDash val="solid"/>
          </a:ln>
        </p:spPr>
      </p:sp>
      <p:sp>
        <p:nvSpPr>
          <p:cNvPr id="21" name="Text 18"/>
          <p:cNvSpPr txBox="1"/>
          <p:nvPr/>
        </p:nvSpPr>
        <p:spPr>
          <a:xfrm>
            <a:off x="6409944" y="3136392"/>
            <a:ext cx="1847088" cy="1298448"/>
          </a:xfrm>
          <a:prstGeom prst="rect">
            <a:avLst/>
          </a:prstGeom>
          <a:noFill/>
          <a:ln/>
        </p:spPr>
        <p:txBody>
          <a:bodyPr wrap="square" lIns="0" tIns="0" rIns="0" bIns="0" rtlCol="0" anchor="ctr">
            <a:normAutofit/>
          </a:bodyPr>
          <a:lstStyle/>
          <a:p>
            <a:pPr algn="ctr" indent="0" marL="0">
              <a:buNone/>
            </a:pPr>
            <a:r>
              <a:rPr lang="en-US" sz="1500" b="1" dirty="0">
                <a:solidFill>
                  <a:srgbClr val="17231F"/>
                </a:solidFill>
                <a:latin typeface="Manrope" pitchFamily="34" charset="0"/>
                <a:ea typeface="Manrope" pitchFamily="34" charset="-122"/>
                <a:cs typeface="Manrope" pitchFamily="34" charset="-120"/>
              </a:rPr>
              <a:t>Firebase emulator isolation</a:t>
            </a:r>
            <a:endParaRPr lang="en-US" sz="1500" dirty="0"/>
          </a:p>
          <a:p>
            <a:pPr algn="ctr" indent="0" marL="0">
              <a:buNone/>
            </a:pPr>
            <a:r>
              <a:rPr lang="en-US" sz="1500" b="1" dirty="0">
                <a:solidFill>
                  <a:srgbClr val="17231F"/>
                </a:solidFill>
                <a:latin typeface="Manrope" pitchFamily="34" charset="0"/>
                <a:ea typeface="Manrope" pitchFamily="34" charset="-122"/>
                <a:cs typeface="Manrope" pitchFamily="34" charset="-120"/>
              </a:rPr>
              <a:t>Subscription billing</a:t>
            </a:r>
            <a:endParaRPr lang="en-US" sz="1500" dirty="0"/>
          </a:p>
          <a:p>
            <a:pPr algn="ctr" indent="0" marL="0">
              <a:buNone/>
            </a:pPr>
            <a:r>
              <a:rPr lang="en-US" sz="1500" b="1" dirty="0">
                <a:solidFill>
                  <a:srgbClr val="17231F"/>
                </a:solidFill>
                <a:latin typeface="Manrope" pitchFamily="34" charset="0"/>
                <a:ea typeface="Manrope" pitchFamily="34" charset="-122"/>
                <a:cs typeface="Manrope" pitchFamily="34" charset="-120"/>
              </a:rPr>
              <a:t>Monitoring + recovery</a:t>
            </a:r>
            <a:endParaRPr lang="en-US" sz="1500" dirty="0"/>
          </a:p>
        </p:txBody>
      </p:sp>
      <p:sp>
        <p:nvSpPr>
          <p:cNvPr id="22" name="Shape 19"/>
          <p:cNvSpPr/>
          <p:nvPr/>
        </p:nvSpPr>
        <p:spPr>
          <a:xfrm>
            <a:off x="8513064" y="3840480"/>
            <a:ext cx="384048" cy="0"/>
          </a:xfrm>
          <a:prstGeom prst="line">
            <a:avLst/>
          </a:prstGeom>
          <a:noFill/>
          <a:ln w="25400">
            <a:solidFill>
              <a:srgbClr val="E8763C"/>
            </a:solidFill>
            <a:prstDash val="solid"/>
            <a:tailEnd type="triangle"/>
          </a:ln>
        </p:spPr>
      </p:sp>
      <p:sp>
        <p:nvSpPr>
          <p:cNvPr id="23" name="Text 20"/>
          <p:cNvSpPr txBox="1"/>
          <p:nvPr/>
        </p:nvSpPr>
        <p:spPr>
          <a:xfrm>
            <a:off x="8970264" y="1636776"/>
            <a:ext cx="2231136" cy="256032"/>
          </a:xfrm>
          <a:prstGeom prst="rect">
            <a:avLst/>
          </a:prstGeom>
          <a:noFill/>
          <a:ln/>
        </p:spPr>
        <p:txBody>
          <a:bodyPr wrap="square" lIns="0" tIns="0" rIns="0" bIns="0" rtlCol="0" anchor="ctr">
            <a:normAutofit/>
          </a:bodyPr>
          <a:lstStyle/>
          <a:p>
            <a:pPr algn="l" indent="0" marL="0">
              <a:buNone/>
            </a:pPr>
            <a:r>
              <a:rPr lang="en-US" sz="1000" b="1" spc="120" kern="0" dirty="0">
                <a:solidFill>
                  <a:srgbClr val="445D45"/>
                </a:solidFill>
                <a:latin typeface="Manrope" pitchFamily="34" charset="0"/>
                <a:ea typeface="Manrope" pitchFamily="34" charset="-122"/>
                <a:cs typeface="Manrope" pitchFamily="34" charset="-120"/>
              </a:rPr>
              <a:t>61–90 DAYS</a:t>
            </a:r>
            <a:endParaRPr lang="en-US" sz="1000" dirty="0"/>
          </a:p>
        </p:txBody>
      </p:sp>
      <p:sp>
        <p:nvSpPr>
          <p:cNvPr id="24" name="Text 21"/>
          <p:cNvSpPr txBox="1"/>
          <p:nvPr/>
        </p:nvSpPr>
        <p:spPr>
          <a:xfrm>
            <a:off x="8970264" y="2039112"/>
            <a:ext cx="2249424" cy="566928"/>
          </a:xfrm>
          <a:prstGeom prst="rect">
            <a:avLst/>
          </a:prstGeom>
          <a:noFill/>
          <a:ln/>
        </p:spPr>
        <p:txBody>
          <a:bodyPr wrap="square" lIns="0" tIns="0" rIns="0" bIns="0" rtlCol="0" anchor="t">
            <a:normAutofit/>
          </a:bodyPr>
          <a:lstStyle/>
          <a:p>
            <a:pPr algn="l" indent="0" marL="0">
              <a:buNone/>
            </a:pPr>
            <a:r>
              <a:rPr lang="en-US" sz="2300" b="1" dirty="0">
                <a:solidFill>
                  <a:srgbClr val="17231F"/>
                </a:solidFill>
                <a:latin typeface="Manrope" pitchFamily="34" charset="0"/>
                <a:ea typeface="Manrope" pitchFamily="34" charset="-122"/>
                <a:cs typeface="Manrope" pitchFamily="34" charset="-120"/>
              </a:rPr>
              <a:t>Saudi gate</a:t>
            </a:r>
            <a:endParaRPr lang="en-US" sz="2300" dirty="0"/>
          </a:p>
        </p:txBody>
      </p:sp>
      <p:sp>
        <p:nvSpPr>
          <p:cNvPr id="25" name="Shape 22"/>
          <p:cNvSpPr/>
          <p:nvPr/>
        </p:nvSpPr>
        <p:spPr>
          <a:xfrm>
            <a:off x="8970264" y="2843784"/>
            <a:ext cx="2249424" cy="2066544"/>
          </a:xfrm>
          <a:prstGeom prst="roundRect">
            <a:avLst>
              <a:gd name="adj" fmla="val 8850"/>
            </a:avLst>
          </a:prstGeom>
          <a:solidFill>
            <a:srgbClr val="FFFFFF"/>
          </a:solidFill>
          <a:ln w="12700">
            <a:solidFill>
              <a:srgbClr val="D4DCD5"/>
            </a:solidFill>
            <a:prstDash val="solid"/>
          </a:ln>
        </p:spPr>
      </p:sp>
      <p:sp>
        <p:nvSpPr>
          <p:cNvPr id="26" name="Text 23"/>
          <p:cNvSpPr txBox="1"/>
          <p:nvPr/>
        </p:nvSpPr>
        <p:spPr>
          <a:xfrm>
            <a:off x="9171432" y="3136392"/>
            <a:ext cx="1847088" cy="1298448"/>
          </a:xfrm>
          <a:prstGeom prst="rect">
            <a:avLst/>
          </a:prstGeom>
          <a:noFill/>
          <a:ln/>
        </p:spPr>
        <p:txBody>
          <a:bodyPr wrap="square" lIns="0" tIns="0" rIns="0" bIns="0" rtlCol="0" anchor="ctr">
            <a:normAutofit/>
          </a:bodyPr>
          <a:lstStyle/>
          <a:p>
            <a:pPr algn="ctr" indent="0" marL="0">
              <a:buNone/>
            </a:pPr>
            <a:r>
              <a:rPr lang="en-US" sz="1500" b="1" dirty="0">
                <a:solidFill>
                  <a:srgbClr val="17231F"/>
                </a:solidFill>
                <a:latin typeface="Manrope" pitchFamily="34" charset="0"/>
                <a:ea typeface="Manrope" pitchFamily="34" charset="-122"/>
                <a:cs typeface="Manrope" pitchFamily="34" charset="-120"/>
              </a:rPr>
              <a:t>Local tax review</a:t>
            </a:r>
            <a:endParaRPr lang="en-US" sz="1500" dirty="0"/>
          </a:p>
          <a:p>
            <a:pPr algn="ctr" indent="0" marL="0">
              <a:buNone/>
            </a:pPr>
            <a:r>
              <a:rPr lang="en-US" sz="1500" b="1" dirty="0">
                <a:solidFill>
                  <a:srgbClr val="17231F"/>
                </a:solidFill>
                <a:latin typeface="Manrope" pitchFamily="34" charset="0"/>
                <a:ea typeface="Manrope" pitchFamily="34" charset="-122"/>
                <a:cs typeface="Manrope" pitchFamily="34" charset="-120"/>
              </a:rPr>
              <a:t>ZATCA integration</a:t>
            </a:r>
            <a:endParaRPr lang="en-US" sz="1500" dirty="0"/>
          </a:p>
          <a:p>
            <a:pPr algn="ctr" indent="0" marL="0">
              <a:buNone/>
            </a:pPr>
            <a:r>
              <a:rPr lang="en-US" sz="1500" b="1" dirty="0">
                <a:solidFill>
                  <a:srgbClr val="17231F"/>
                </a:solidFill>
                <a:latin typeface="Manrope" pitchFamily="34" charset="0"/>
                <a:ea typeface="Manrope" pitchFamily="34" charset="-122"/>
                <a:cs typeface="Manrope" pitchFamily="34" charset="-120"/>
              </a:rPr>
              <a:t>Payment acceptance</a:t>
            </a:r>
            <a:endParaRPr lang="en-US" sz="1500" dirty="0"/>
          </a:p>
        </p:txBody>
      </p:sp>
      <p:sp>
        <p:nvSpPr>
          <p:cNvPr id="27" name="Shape 24"/>
          <p:cNvSpPr/>
          <p:nvPr/>
        </p:nvSpPr>
        <p:spPr>
          <a:xfrm>
            <a:off x="704088" y="5394960"/>
            <a:ext cx="10625328" cy="603504"/>
          </a:xfrm>
          <a:prstGeom prst="roundRect">
            <a:avLst>
              <a:gd name="adj" fmla="val 24242"/>
            </a:avLst>
          </a:prstGeom>
          <a:solidFill>
            <a:srgbClr val="EEE9DE"/>
          </a:solidFill>
          <a:ln w="12700">
            <a:solidFill>
              <a:srgbClr val="FFFFFF">
                <a:alpha val="0"/>
              </a:srgbClr>
            </a:solidFill>
            <a:prstDash val="solid"/>
          </a:ln>
        </p:spPr>
      </p:sp>
      <p:sp>
        <p:nvSpPr>
          <p:cNvPr id="28" name="Text 25"/>
          <p:cNvSpPr txBox="1"/>
          <p:nvPr/>
        </p:nvSpPr>
        <p:spPr>
          <a:xfrm>
            <a:off x="932688" y="5568696"/>
            <a:ext cx="1234440" cy="228600"/>
          </a:xfrm>
          <a:prstGeom prst="rect">
            <a:avLst/>
          </a:prstGeom>
          <a:noFill/>
          <a:ln/>
        </p:spPr>
        <p:txBody>
          <a:bodyPr wrap="square" lIns="0" tIns="0" rIns="0" bIns="0" rtlCol="0" anchor="ctr">
            <a:normAutofit/>
          </a:bodyPr>
          <a:lstStyle/>
          <a:p>
            <a:pPr algn="l" indent="0" marL="0">
              <a:buNone/>
            </a:pPr>
            <a:r>
              <a:rPr lang="en-US" sz="1300" b="1" dirty="0">
                <a:solidFill>
                  <a:srgbClr val="173F35"/>
                </a:solidFill>
                <a:latin typeface="Manrope" pitchFamily="34" charset="0"/>
                <a:ea typeface="Manrope" pitchFamily="34" charset="-122"/>
                <a:cs typeface="Manrope" pitchFamily="34" charset="-120"/>
              </a:rPr>
              <a:t>Sustainability</a:t>
            </a:r>
            <a:endParaRPr lang="en-US" sz="1300" dirty="0"/>
          </a:p>
        </p:txBody>
      </p:sp>
      <p:sp>
        <p:nvSpPr>
          <p:cNvPr id="29" name="Text 26"/>
          <p:cNvSpPr txBox="1"/>
          <p:nvPr/>
        </p:nvSpPr>
        <p:spPr>
          <a:xfrm>
            <a:off x="2331720" y="5522976"/>
            <a:ext cx="8412480" cy="301752"/>
          </a:xfrm>
          <a:prstGeom prst="rect">
            <a:avLst/>
          </a:prstGeom>
          <a:noFill/>
          <a:ln/>
        </p:spPr>
        <p:txBody>
          <a:bodyPr wrap="square" lIns="0" tIns="0" rIns="0" bIns="0" rtlCol="0" anchor="ctr">
            <a:normAutofit/>
          </a:bodyPr>
          <a:lstStyle/>
          <a:p>
            <a:pPr algn="l" indent="0" marL="0">
              <a:buNone/>
            </a:pPr>
            <a:r>
              <a:rPr lang="en-US" sz="1320" dirty="0">
                <a:solidFill>
                  <a:srgbClr val="17231F"/>
                </a:solidFill>
                <a:latin typeface="Manrope" pitchFamily="34" charset="0"/>
                <a:ea typeface="Manrope" pitchFamily="34" charset="-122"/>
                <a:cs typeface="Manrope" pitchFamily="34" charset="-120"/>
              </a:rPr>
              <a:t>Per-branch subscriptions fund maintenance; AI usage limits, caching, monitoring and a manual fallback control operating cost.</a:t>
            </a:r>
            <a:endParaRPr lang="en-US" sz="1320" dirty="0"/>
          </a:p>
        </p:txBody>
      </p:sp>
      <p:sp>
        <p:nvSpPr>
          <p:cNvPr id="30" name="Text 27"/>
          <p:cNvSpPr txBox="1"/>
          <p:nvPr/>
        </p:nvSpPr>
        <p:spPr>
          <a:xfrm>
            <a:off x="658368" y="6565392"/>
            <a:ext cx="5303520" cy="118872"/>
          </a:xfrm>
          <a:prstGeom prst="rect">
            <a:avLst/>
          </a:prstGeom>
          <a:noFill/>
          <a:ln/>
        </p:spPr>
        <p:txBody>
          <a:bodyPr wrap="square" lIns="0" tIns="0" rIns="0" bIns="0" rtlCol="0" anchor="t">
            <a:normAutofit/>
          </a:bodyPr>
          <a:lstStyle/>
          <a:p>
            <a:pPr algn="l" indent="0" marL="0">
              <a:buNone/>
            </a:pPr>
            <a:r>
              <a:rPr lang="en-US" sz="850" dirty="0">
                <a:solidFill>
                  <a:srgbClr val="66736A"/>
                </a:solidFill>
                <a:latin typeface="Manrope" pitchFamily="34" charset="0"/>
                <a:ea typeface="Manrope" pitchFamily="34" charset="-122"/>
                <a:cs typeface="Manrope" pitchFamily="34" charset="-120"/>
              </a:rPr>
              <a:t>Roadmap gates: evidence, reliability, compliance, then expansion</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814"/>
        </a:solidFill>
      </p:bgPr>
    </p:bg>
    <p:spTree>
      <p:nvGrpSpPr>
        <p:cNvPr id="1" name=""/>
        <p:cNvGrpSpPr/>
        <p:nvPr/>
      </p:nvGrpSpPr>
      <p:grpSpPr>
        <a:xfrm>
          <a:off x="0" y="0"/>
          <a:ext cx="0" cy="0"/>
          <a:chOff x="0" y="0"/>
          <a:chExt cx="0" cy="0"/>
        </a:xfrm>
      </p:grpSpPr>
      <p:pic>
        <p:nvPicPr>
          <p:cNvPr id="2" name="Image 0" descr="/Users/tank/Downloads/Resuto-main/.codex-build/resuto-impactx-pitch/floor.png">    </p:cNvPr>
          <p:cNvPicPr>
            <a:picLocks noChangeAspect="1"/>
          </p:cNvPicPr>
          <p:nvPr/>
        </p:nvPicPr>
        <p:blipFill>
          <a:blip r:embed="rId1"/>
          <a:stretch>
            <a:fillRect/>
          </a:stretch>
        </p:blipFill>
        <p:spPr>
          <a:xfrm>
            <a:off x="6748272" y="0"/>
            <a:ext cx="5440680" cy="6858000"/>
          </a:xfrm>
          <a:prstGeom prst="rect">
            <a:avLst/>
          </a:prstGeom>
        </p:spPr>
      </p:pic>
      <p:sp>
        <p:nvSpPr>
          <p:cNvPr id="3" name="Shape 0"/>
          <p:cNvSpPr/>
          <p:nvPr/>
        </p:nvSpPr>
        <p:spPr>
          <a:xfrm>
            <a:off x="6053328" y="0"/>
            <a:ext cx="1645920" cy="6858000"/>
          </a:xfrm>
          <a:prstGeom prst="rect">
            <a:avLst/>
          </a:prstGeom>
          <a:solidFill>
            <a:srgbClr val="0D1814"/>
          </a:solidFill>
          <a:ln w="12700">
            <a:solidFill>
              <a:srgbClr val="FFFFFF">
                <a:alpha val="0"/>
              </a:srgbClr>
            </a:solidFill>
            <a:prstDash val="solid"/>
          </a:ln>
        </p:spPr>
      </p:sp>
      <p:pic>
        <p:nvPicPr>
          <p:cNvPr id="4" name="Image 1" descr="/Users/tank/Downloads/Resuto-main/.codex-build/resuto-impactx-pitch/resuto-original-mark.png">    </p:cNvPr>
          <p:cNvPicPr>
            <a:picLocks noChangeAspect="1"/>
          </p:cNvPicPr>
          <p:nvPr/>
        </p:nvPicPr>
        <p:blipFill>
          <a:blip r:embed="rId2"/>
          <a:stretch>
            <a:fillRect/>
          </a:stretch>
        </p:blipFill>
        <p:spPr>
          <a:xfrm>
            <a:off x="566928" y="420624"/>
            <a:ext cx="713232" cy="658368"/>
          </a:xfrm>
          <a:prstGeom prst="rect">
            <a:avLst/>
          </a:prstGeom>
        </p:spPr>
      </p:pic>
      <p:sp>
        <p:nvSpPr>
          <p:cNvPr id="5" name="Text 1"/>
          <p:cNvSpPr txBox="1"/>
          <p:nvPr/>
        </p:nvSpPr>
        <p:spPr>
          <a:xfrm>
            <a:off x="713232" y="1389888"/>
            <a:ext cx="1371600" cy="274320"/>
          </a:xfrm>
          <a:prstGeom prst="rect">
            <a:avLst/>
          </a:prstGeom>
          <a:noFill/>
          <a:ln/>
        </p:spPr>
        <p:txBody>
          <a:bodyPr wrap="square" lIns="0" tIns="0" rIns="0" bIns="0" rtlCol="0" anchor="ctr">
            <a:normAutofit/>
          </a:bodyPr>
          <a:lstStyle/>
          <a:p>
            <a:pPr algn="l" indent="0" marL="0">
              <a:buNone/>
            </a:pPr>
            <a:r>
              <a:rPr lang="en-US" sz="1300" b="1" dirty="0">
                <a:solidFill>
                  <a:srgbClr val="BAC879"/>
                </a:solidFill>
                <a:latin typeface="Manrope" pitchFamily="34" charset="0"/>
                <a:ea typeface="Manrope" pitchFamily="34" charset="-122"/>
                <a:cs typeface="Manrope" pitchFamily="34" charset="-120"/>
              </a:rPr>
              <a:t>The ask</a:t>
            </a:r>
            <a:endParaRPr lang="en-US" sz="1300" dirty="0"/>
          </a:p>
        </p:txBody>
      </p:sp>
      <p:sp>
        <p:nvSpPr>
          <p:cNvPr id="6" name="Text 2"/>
          <p:cNvSpPr txBox="1"/>
          <p:nvPr/>
        </p:nvSpPr>
        <p:spPr>
          <a:xfrm>
            <a:off x="685800" y="1847088"/>
            <a:ext cx="5870448" cy="1938528"/>
          </a:xfrm>
          <a:prstGeom prst="rect">
            <a:avLst/>
          </a:prstGeom>
          <a:noFill/>
          <a:ln/>
        </p:spPr>
        <p:txBody>
          <a:bodyPr wrap="square" lIns="0" tIns="0" rIns="0" bIns="0" rtlCol="0" anchor="t">
            <a:normAutofit/>
          </a:bodyPr>
          <a:lstStyle/>
          <a:p>
            <a:pPr algn="l" indent="0" marL="0">
              <a:buNone/>
            </a:pPr>
            <a:r>
              <a:rPr lang="en-US" sz="3800" b="1" dirty="0">
                <a:solidFill>
                  <a:srgbClr val="FFFFFF"/>
                </a:solidFill>
                <a:latin typeface="Manrope" pitchFamily="34" charset="0"/>
                <a:ea typeface="Manrope" pitchFamily="34" charset="-122"/>
                <a:cs typeface="Manrope" pitchFamily="34" charset="-120"/>
              </a:rPr>
              <a:t>Three restaurants.</a:t>
            </a:r>
            <a:endParaRPr lang="en-US" sz="3800" dirty="0"/>
          </a:p>
          <a:p>
            <a:pPr algn="l" indent="0" marL="0">
              <a:buNone/>
            </a:pPr>
            <a:r>
              <a:rPr lang="en-US" sz="3800" b="1" dirty="0">
                <a:solidFill>
                  <a:srgbClr val="FFFFFF"/>
                </a:solidFill>
                <a:latin typeface="Manrope" pitchFamily="34" charset="0"/>
                <a:ea typeface="Manrope" pitchFamily="34" charset="-122"/>
                <a:cs typeface="Manrope" pitchFamily="34" charset="-120"/>
              </a:rPr>
              <a:t>Thirty days.</a:t>
            </a:r>
            <a:endParaRPr lang="en-US" sz="3800" dirty="0"/>
          </a:p>
          <a:p>
            <a:pPr algn="l" indent="0" marL="0">
              <a:buNone/>
            </a:pPr>
            <a:r>
              <a:rPr lang="en-US" sz="3800" b="1" dirty="0">
                <a:solidFill>
                  <a:srgbClr val="FFFFFF"/>
                </a:solidFill>
                <a:latin typeface="Manrope" pitchFamily="34" charset="0"/>
                <a:ea typeface="Manrope" pitchFamily="34" charset="-122"/>
                <a:cs typeface="Manrope" pitchFamily="34" charset="-120"/>
              </a:rPr>
              <a:t>Measured impact.</a:t>
            </a:r>
            <a:endParaRPr lang="en-US" sz="3800" dirty="0"/>
          </a:p>
        </p:txBody>
      </p:sp>
      <p:sp>
        <p:nvSpPr>
          <p:cNvPr id="7" name="Text 3"/>
          <p:cNvSpPr txBox="1"/>
          <p:nvPr/>
        </p:nvSpPr>
        <p:spPr>
          <a:xfrm>
            <a:off x="713232" y="4233672"/>
            <a:ext cx="5330952" cy="841248"/>
          </a:xfrm>
          <a:prstGeom prst="rect">
            <a:avLst/>
          </a:prstGeom>
          <a:noFill/>
          <a:ln/>
        </p:spPr>
        <p:txBody>
          <a:bodyPr wrap="square" lIns="0" tIns="0" rIns="0" bIns="0" rtlCol="0" anchor="t">
            <a:normAutofit/>
          </a:bodyPr>
          <a:lstStyle/>
          <a:p>
            <a:pPr algn="l" indent="0" marL="0">
              <a:buNone/>
            </a:pPr>
            <a:r>
              <a:rPr lang="en-US" sz="1800" dirty="0">
                <a:solidFill>
                  <a:srgbClr val="D8E4D9"/>
                </a:solidFill>
                <a:latin typeface="Manrope" pitchFamily="34" charset="0"/>
                <a:ea typeface="Manrope" pitchFamily="34" charset="-122"/>
                <a:cs typeface="Manrope" pitchFamily="34" charset="-120"/>
              </a:rPr>
              <a:t>Support a 30-day Egypt pilot to turn a connected working product into verified operating improvement and a commercial decision.</a:t>
            </a:r>
            <a:endParaRPr lang="en-US" sz="1800" dirty="0"/>
          </a:p>
        </p:txBody>
      </p:sp>
      <p:sp>
        <p:nvSpPr>
          <p:cNvPr id="8" name="Shape 4"/>
          <p:cNvSpPr/>
          <p:nvPr/>
        </p:nvSpPr>
        <p:spPr>
          <a:xfrm>
            <a:off x="713232" y="5404104"/>
            <a:ext cx="4224528" cy="612648"/>
          </a:xfrm>
          <a:prstGeom prst="roundRect">
            <a:avLst>
              <a:gd name="adj" fmla="val 26866"/>
            </a:avLst>
          </a:prstGeom>
          <a:solidFill>
            <a:srgbClr val="E8763C"/>
          </a:solidFill>
          <a:ln w="12700">
            <a:solidFill>
              <a:srgbClr val="FFFFFF">
                <a:alpha val="0"/>
              </a:srgbClr>
            </a:solidFill>
            <a:prstDash val="solid"/>
          </a:ln>
        </p:spPr>
      </p:sp>
      <p:sp>
        <p:nvSpPr>
          <p:cNvPr id="9" name="Text 5"/>
          <p:cNvSpPr txBox="1"/>
          <p:nvPr/>
        </p:nvSpPr>
        <p:spPr>
          <a:xfrm>
            <a:off x="932688" y="5586984"/>
            <a:ext cx="3785616" cy="237744"/>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Manrope" pitchFamily="34" charset="0"/>
                <a:ea typeface="Manrope" pitchFamily="34" charset="-122"/>
                <a:cs typeface="Manrope" pitchFamily="34" charset="-120"/>
              </a:rPr>
              <a:t>Baseline → adoption → ROI → purchase decision</a:t>
            </a:r>
            <a:endParaRPr lang="en-US" sz="1400" dirty="0"/>
          </a:p>
        </p:txBody>
      </p:sp>
      <p:sp>
        <p:nvSpPr>
          <p:cNvPr id="10" name="Text 6"/>
          <p:cNvSpPr txBox="1"/>
          <p:nvPr/>
        </p:nvSpPr>
        <p:spPr>
          <a:xfrm>
            <a:off x="713232" y="6327648"/>
            <a:ext cx="4114800" cy="192024"/>
          </a:xfrm>
          <a:prstGeom prst="rect">
            <a:avLst/>
          </a:prstGeom>
          <a:noFill/>
          <a:ln/>
        </p:spPr>
        <p:txBody>
          <a:bodyPr wrap="square" lIns="0" tIns="0" rIns="0" bIns="0" rtlCol="0" anchor="ctr">
            <a:normAutofit/>
          </a:bodyPr>
          <a:lstStyle/>
          <a:p>
            <a:pPr algn="l" indent="0" marL="0">
              <a:buNone/>
            </a:pPr>
            <a:r>
              <a:rPr lang="en-US" sz="1050" b="1" dirty="0">
                <a:solidFill>
                  <a:srgbClr val="E8DDCC"/>
                </a:solidFill>
                <a:latin typeface="Manrope" pitchFamily="34" charset="0"/>
                <a:ea typeface="Manrope" pitchFamily="34" charset="-122"/>
                <a:cs typeface="Manrope" pitchFamily="34" charset="-120"/>
              </a:rPr>
              <a:t>Resuto · restaurant operations connected</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384048" y="6510528"/>
            <a:ext cx="11402568" cy="0"/>
          </a:xfrm>
          <a:prstGeom prst="line">
            <a:avLst/>
          </a:prstGeom>
          <a:noFill/>
          <a:ln w="8890">
            <a:solidFill>
              <a:srgbClr val="D4DCD5"/>
            </a:solidFill>
            <a:prstDash val="solid"/>
          </a:ln>
        </p:spPr>
      </p:sp>
      <p:pic>
        <p:nvPicPr>
          <p:cNvPr id="3" name="Image 0" descr="/Users/tank/Downloads/Resuto-main/.codex-build/resuto-impactx-pitch/resuto-original-mark.png">    </p:cNvPr>
          <p:cNvPicPr>
            <a:picLocks noChangeAspect="1"/>
          </p:cNvPicPr>
          <p:nvPr/>
        </p:nvPicPr>
        <p:blipFill>
          <a:blip r:embed="rId1"/>
          <a:stretch>
            <a:fillRect/>
          </a:stretch>
        </p:blipFill>
        <p:spPr>
          <a:xfrm>
            <a:off x="384048" y="210312"/>
            <a:ext cx="356616" cy="338328"/>
          </a:xfrm>
          <a:prstGeom prst="rect">
            <a:avLst/>
          </a:prstGeom>
        </p:spPr>
      </p:pic>
      <p:sp>
        <p:nvSpPr>
          <p:cNvPr id="4" name="Text 1"/>
          <p:cNvSpPr txBox="1"/>
          <p:nvPr/>
        </p:nvSpPr>
        <p:spPr>
          <a:xfrm>
            <a:off x="786384" y="283464"/>
            <a:ext cx="914400" cy="164592"/>
          </a:xfrm>
          <a:prstGeom prst="rect">
            <a:avLst/>
          </a:prstGeom>
          <a:noFill/>
          <a:ln/>
        </p:spPr>
        <p:txBody>
          <a:bodyPr wrap="square" lIns="0" tIns="0" rIns="0" bIns="0" rtlCol="0" anchor="t">
            <a:normAutofit/>
          </a:bodyPr>
          <a:lstStyle/>
          <a:p>
            <a:pPr algn="l" indent="0" marL="0">
              <a:buNone/>
            </a:pPr>
            <a:r>
              <a:rPr lang="en-US" sz="900" b="1" dirty="0">
                <a:solidFill>
                  <a:srgbClr val="173F35"/>
                </a:solidFill>
                <a:latin typeface="Manrope" pitchFamily="34" charset="0"/>
                <a:ea typeface="Manrope" pitchFamily="34" charset="-122"/>
                <a:cs typeface="Manrope" pitchFamily="34" charset="-120"/>
              </a:rPr>
              <a:t>RESUTO</a:t>
            </a:r>
            <a:endParaRPr lang="en-US" sz="900" dirty="0"/>
          </a:p>
        </p:txBody>
      </p:sp>
      <p:sp>
        <p:nvSpPr>
          <p:cNvPr id="5" name="Text 2"/>
          <p:cNvSpPr txBox="1"/>
          <p:nvPr/>
        </p:nvSpPr>
        <p:spPr>
          <a:xfrm>
            <a:off x="9829800" y="274320"/>
            <a:ext cx="1691640" cy="146304"/>
          </a:xfrm>
          <a:prstGeom prst="rect">
            <a:avLst/>
          </a:prstGeom>
          <a:noFill/>
          <a:ln/>
        </p:spPr>
        <p:txBody>
          <a:bodyPr wrap="square" lIns="0" tIns="0" rIns="0" bIns="0" rtlCol="0" anchor="ctr">
            <a:normAutofit/>
          </a:bodyPr>
          <a:lstStyle/>
          <a:p>
            <a:pPr algn="r" indent="0" marL="0">
              <a:buNone/>
            </a:pPr>
            <a:r>
              <a:rPr lang="en-US" sz="850" b="1" spc="140" kern="0" dirty="0">
                <a:solidFill>
                  <a:srgbClr val="D89A32"/>
                </a:solidFill>
                <a:latin typeface="Manrope" pitchFamily="34" charset="0"/>
                <a:ea typeface="Manrope" pitchFamily="34" charset="-122"/>
                <a:cs typeface="Manrope" pitchFamily="34" charset="-120"/>
              </a:rPr>
              <a:t>APPENDIX</a:t>
            </a:r>
            <a:endParaRPr lang="en-US" sz="850" dirty="0"/>
          </a:p>
        </p:txBody>
      </p:sp>
      <p:sp>
        <p:nvSpPr>
          <p:cNvPr id="6" name="Text 3"/>
          <p:cNvSpPr txBox="1"/>
          <p:nvPr/>
        </p:nvSpPr>
        <p:spPr>
          <a:xfrm>
            <a:off x="658368" y="557784"/>
            <a:ext cx="10835640" cy="530352"/>
          </a:xfrm>
          <a:prstGeom prst="rect">
            <a:avLst/>
          </a:prstGeom>
          <a:noFill/>
          <a:ln/>
        </p:spPr>
        <p:txBody>
          <a:bodyPr wrap="square" lIns="0" tIns="0" rIns="0" bIns="0" rtlCol="0" anchor="t">
            <a:normAutofit/>
          </a:bodyPr>
          <a:lstStyle/>
          <a:p>
            <a:pPr algn="l" indent="0" marL="0">
              <a:buNone/>
            </a:pPr>
            <a:r>
              <a:rPr lang="en-US" sz="2800" b="1" dirty="0">
                <a:solidFill>
                  <a:srgbClr val="17231F"/>
                </a:solidFill>
                <a:latin typeface="Manrope" pitchFamily="34" charset="0"/>
                <a:ea typeface="Manrope" pitchFamily="34" charset="-122"/>
                <a:cs typeface="Manrope" pitchFamily="34" charset="-120"/>
              </a:rPr>
              <a:t>Verified feature map</a:t>
            </a:r>
            <a:endParaRPr lang="en-US" sz="2800" dirty="0"/>
          </a:p>
        </p:txBody>
      </p:sp>
      <p:sp>
        <p:nvSpPr>
          <p:cNvPr id="7" name="Text 4"/>
          <p:cNvSpPr txBox="1"/>
          <p:nvPr/>
        </p:nvSpPr>
        <p:spPr>
          <a:xfrm>
            <a:off x="676656" y="1097280"/>
            <a:ext cx="10469880" cy="347472"/>
          </a:xfrm>
          <a:prstGeom prst="rect">
            <a:avLst/>
          </a:prstGeom>
          <a:noFill/>
          <a:ln/>
        </p:spPr>
        <p:txBody>
          <a:bodyPr wrap="square" lIns="0" tIns="0" rIns="0" bIns="0" rtlCol="0" anchor="t">
            <a:normAutofit/>
          </a:bodyPr>
          <a:lstStyle/>
          <a:p>
            <a:pPr algn="l" indent="0" marL="0">
              <a:buNone/>
            </a:pPr>
            <a:r>
              <a:rPr lang="en-US" sz="1450" dirty="0">
                <a:solidFill>
                  <a:srgbClr val="66736A"/>
                </a:solidFill>
                <a:latin typeface="Manrope" pitchFamily="34" charset="0"/>
                <a:ea typeface="Manrope" pitchFamily="34" charset="-122"/>
                <a:cs typeface="Manrope" pitchFamily="34" charset="-120"/>
              </a:rPr>
              <a:t>Working, demo/sandbox and gated status are separated explicitly</a:t>
            </a:r>
            <a:endParaRPr lang="en-US" sz="14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7512" y="1572768"/>
          <a:ext cx="10863072" cy="4297680"/>
        </p:xfrm>
        <a:graphic>
          <a:graphicData uri="http://schemas.openxmlformats.org/drawingml/2006/table">
            <a:tbl>
              <a:tblPr/>
              <a:tblGrid>
                <a:gridCol w="1353312"/>
                <a:gridCol w="3255264"/>
                <a:gridCol w="2770632"/>
                <a:gridCol w="3483864"/>
              </a:tblGrid>
              <a:tr h="658368">
                <a:tc>
                  <a:txBody>
                    <a:bodyPr/>
                    <a:lstStyle/>
                    <a:p>
                      <a:pPr indent="0" marL="0">
                        <a:buNone/>
                      </a:pPr>
                      <a:r>
                        <a:rPr lang="en-US" sz="1130" dirty="0">
                          <a:solidFill>
                            <a:srgbClr val="17231F"/>
                          </a:solidFill>
                          <a:latin typeface="Manrope" pitchFamily="34" charset="0"/>
                          <a:ea typeface="Manrope" pitchFamily="34" charset="-122"/>
                          <a:cs typeface="Manrope" pitchFamily="34" charset="-120"/>
                        </a:rPr>
                        <a:t>Role / area</a:t>
                      </a:r>
                      <a:endParaRPr lang="en-US" sz="113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30" dirty="0">
                          <a:solidFill>
                            <a:srgbClr val="17231F"/>
                          </a:solidFill>
                          <a:latin typeface="Manrope" pitchFamily="34" charset="0"/>
                          <a:ea typeface="Manrope" pitchFamily="34" charset="-122"/>
                          <a:cs typeface="Manrope" pitchFamily="34" charset="-120"/>
                        </a:rPr>
                        <a:t>Working now</a:t>
                      </a:r>
                      <a:endParaRPr lang="en-US" sz="113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30" dirty="0">
                          <a:solidFill>
                            <a:srgbClr val="17231F"/>
                          </a:solidFill>
                          <a:latin typeface="Manrope" pitchFamily="34" charset="0"/>
                          <a:ea typeface="Manrope" pitchFamily="34" charset="-122"/>
                          <a:cs typeface="Manrope" pitchFamily="34" charset="-120"/>
                        </a:rPr>
                        <a:t>Demo or sandbox</a:t>
                      </a:r>
                      <a:endParaRPr lang="en-US" sz="113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30" dirty="0">
                          <a:solidFill>
                            <a:srgbClr val="17231F"/>
                          </a:solidFill>
                          <a:latin typeface="Manrope" pitchFamily="34" charset="0"/>
                          <a:ea typeface="Manrope" pitchFamily="34" charset="-122"/>
                          <a:cs typeface="Manrope" pitchFamily="34" charset="-120"/>
                        </a:rPr>
                        <a:t>Production gate</a:t>
                      </a:r>
                      <a:endParaRPr lang="en-US" sz="113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r>
              <a:tr h="658368">
                <a:tc>
                  <a:txBody>
                    <a:bodyPr/>
                    <a:lstStyle/>
                    <a:p>
                      <a:pPr indent="0" marL="0">
                        <a:buNone/>
                      </a:pPr>
                      <a:r>
                        <a:rPr lang="en-US" sz="1130" dirty="0">
                          <a:solidFill>
                            <a:srgbClr val="17231F"/>
                          </a:solidFill>
                          <a:latin typeface="Manrope" pitchFamily="34" charset="0"/>
                          <a:ea typeface="Manrope" pitchFamily="34" charset="-122"/>
                          <a:cs typeface="Manrope" pitchFamily="34" charset="-120"/>
                        </a:rPr>
                        <a:t>Guest</a:t>
                      </a:r>
                      <a:endParaRPr lang="en-US" sz="113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30" dirty="0">
                          <a:solidFill>
                            <a:srgbClr val="17231F"/>
                          </a:solidFill>
                          <a:latin typeface="Manrope" pitchFamily="34" charset="0"/>
                          <a:ea typeface="Manrope" pitchFamily="34" charset="-122"/>
                          <a:cs typeface="Manrope" pitchFamily="34" charset="-120"/>
                        </a:rPr>
                        <a:t>Reservations, exact table choice, QR menu, cart, order tracking, Arabic/English</a:t>
                      </a:r>
                      <a:endParaRPr lang="en-US" sz="113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30" dirty="0">
                          <a:solidFill>
                            <a:srgbClr val="17231F"/>
                          </a:solidFill>
                          <a:latin typeface="Manrope" pitchFamily="34" charset="0"/>
                          <a:ea typeface="Manrope" pitchFamily="34" charset="-122"/>
                          <a:cs typeface="Manrope" pitchFamily="34" charset="-120"/>
                        </a:rPr>
                        <a:t>Live Gemini recommendation; demo restaurant content</a:t>
                      </a:r>
                      <a:endParaRPr lang="en-US" sz="113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30" dirty="0">
                          <a:solidFill>
                            <a:srgbClr val="17231F"/>
                          </a:solidFill>
                          <a:latin typeface="Manrope" pitchFamily="34" charset="0"/>
                          <a:ea typeface="Manrope" pitchFamily="34" charset="-122"/>
                          <a:cs typeface="Manrope" pitchFamily="34" charset="-120"/>
                        </a:rPr>
                        <a:t>Real device and accessibility audit</a:t>
                      </a:r>
                      <a:endParaRPr lang="en-US" sz="113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r>
              <a:tr h="658368">
                <a:tc>
                  <a:txBody>
                    <a:bodyPr/>
                    <a:lstStyle/>
                    <a:p>
                      <a:pPr indent="0" marL="0">
                        <a:buNone/>
                      </a:pPr>
                      <a:r>
                        <a:rPr lang="en-US" sz="1130" dirty="0">
                          <a:solidFill>
                            <a:srgbClr val="17231F"/>
                          </a:solidFill>
                          <a:latin typeface="Manrope" pitchFamily="34" charset="0"/>
                          <a:ea typeface="Manrope" pitchFamily="34" charset="-122"/>
                          <a:cs typeface="Manrope" pitchFamily="34" charset="-120"/>
                        </a:rPr>
                        <a:t>Kitchen</a:t>
                      </a:r>
                      <a:endParaRPr lang="en-US" sz="113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30" dirty="0">
                          <a:solidFill>
                            <a:srgbClr val="17231F"/>
                          </a:solidFill>
                          <a:latin typeface="Manrope" pitchFamily="34" charset="0"/>
                          <a:ea typeface="Manrope" pitchFamily="34" charset="-122"/>
                          <a:cs typeface="Manrope" pitchFamily="34" charset="-120"/>
                        </a:rPr>
                        <a:t>Station routing, guarded order transitions, pickup/delivery and live polling</a:t>
                      </a:r>
                      <a:endParaRPr lang="en-US" sz="113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30" dirty="0">
                          <a:solidFill>
                            <a:srgbClr val="17231F"/>
                          </a:solidFill>
                          <a:latin typeface="Manrope" pitchFamily="34" charset="0"/>
                          <a:ea typeface="Manrope" pitchFamily="34" charset="-122"/>
                          <a:cs typeface="Manrope" pitchFamily="34" charset="-120"/>
                        </a:rPr>
                        <a:t>Synthetic service data</a:t>
                      </a:r>
                      <a:endParaRPr lang="en-US" sz="113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30" dirty="0">
                          <a:solidFill>
                            <a:srgbClr val="17231F"/>
                          </a:solidFill>
                          <a:latin typeface="Manrope" pitchFamily="34" charset="0"/>
                          <a:ea typeface="Manrope" pitchFamily="34" charset="-122"/>
                          <a:cs typeface="Manrope" pitchFamily="34" charset="-120"/>
                        </a:rPr>
                        <a:t>Offline queue, printer and drawer integration</a:t>
                      </a:r>
                      <a:endParaRPr lang="en-US" sz="113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r>
              <a:tr h="658368">
                <a:tc>
                  <a:txBody>
                    <a:bodyPr/>
                    <a:lstStyle/>
                    <a:p>
                      <a:pPr indent="0" marL="0">
                        <a:buNone/>
                      </a:pPr>
                      <a:r>
                        <a:rPr lang="en-US" sz="1130" dirty="0">
                          <a:solidFill>
                            <a:srgbClr val="17231F"/>
                          </a:solidFill>
                          <a:latin typeface="Manrope" pitchFamily="34" charset="0"/>
                          <a:ea typeface="Manrope" pitchFamily="34" charset="-122"/>
                          <a:cs typeface="Manrope" pitchFamily="34" charset="-120"/>
                        </a:rPr>
                        <a:t>Manager</a:t>
                      </a:r>
                      <a:endParaRPr lang="en-US" sz="113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30" dirty="0">
                          <a:solidFill>
                            <a:srgbClr val="17231F"/>
                          </a:solidFill>
                          <a:latin typeface="Manrope" pitchFamily="34" charset="0"/>
                          <a:ea typeface="Manrope" pitchFamily="34" charset="-122"/>
                          <a:cs typeface="Manrope" pitchFamily="34" charset="-120"/>
                        </a:rPr>
                        <a:t>Floor editor, menu, stock, reservations, data import/export, insights</a:t>
                      </a:r>
                      <a:endParaRPr lang="en-US" sz="113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30" dirty="0">
                          <a:solidFill>
                            <a:srgbClr val="17231F"/>
                          </a:solidFill>
                          <a:latin typeface="Manrope" pitchFamily="34" charset="0"/>
                          <a:ea typeface="Manrope" pitchFamily="34" charset="-122"/>
                          <a:cs typeface="Manrope" pitchFamily="34" charset="-120"/>
                        </a:rPr>
                        <a:t>Live Gemini draft; AI image capability depends on model configuration</a:t>
                      </a:r>
                      <a:endParaRPr lang="en-US" sz="113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30" dirty="0">
                          <a:solidFill>
                            <a:srgbClr val="17231F"/>
                          </a:solidFill>
                          <a:latin typeface="Manrope" pitchFamily="34" charset="0"/>
                          <a:ea typeface="Manrope" pitchFamily="34" charset="-122"/>
                          <a:cs typeface="Manrope" pitchFamily="34" charset="-120"/>
                        </a:rPr>
                        <a:t>Monitoring, recovery and operational runbook</a:t>
                      </a:r>
                      <a:endParaRPr lang="en-US" sz="113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r>
              <a:tr h="658368">
                <a:tc>
                  <a:txBody>
                    <a:bodyPr/>
                    <a:lstStyle/>
                    <a:p>
                      <a:pPr indent="0" marL="0">
                        <a:buNone/>
                      </a:pPr>
                      <a:r>
                        <a:rPr lang="en-US" sz="1130" dirty="0">
                          <a:solidFill>
                            <a:srgbClr val="17231F"/>
                          </a:solidFill>
                          <a:latin typeface="Manrope" pitchFamily="34" charset="0"/>
                          <a:ea typeface="Manrope" pitchFamily="34" charset="-122"/>
                          <a:cs typeface="Manrope" pitchFamily="34" charset="-120"/>
                        </a:rPr>
                        <a:t>Owner / SaaS</a:t>
                      </a:r>
                      <a:endParaRPr lang="en-US" sz="113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30" dirty="0">
                          <a:solidFill>
                            <a:srgbClr val="17231F"/>
                          </a:solidFill>
                          <a:latin typeface="Manrope" pitchFamily="34" charset="0"/>
                          <a:ea typeface="Manrope" pitchFamily="34" charset="-122"/>
                          <a:cs typeface="Manrope" pitchFamily="34" charset="-120"/>
                        </a:rPr>
                        <a:t>Firebase account, membership and tenant code; branch and trial records</a:t>
                      </a:r>
                      <a:endParaRPr lang="en-US" sz="113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30" dirty="0">
                          <a:solidFill>
                            <a:srgbClr val="17231F"/>
                          </a:solidFill>
                          <a:latin typeface="Manrope" pitchFamily="34" charset="0"/>
                          <a:ea typeface="Manrope" pitchFamily="34" charset="-122"/>
                          <a:cs typeface="Manrope" pitchFamily="34" charset="-120"/>
                        </a:rPr>
                        <a:t>Local demo is a single restaurant installation</a:t>
                      </a:r>
                      <a:endParaRPr lang="en-US" sz="113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30" dirty="0">
                          <a:solidFill>
                            <a:srgbClr val="17231F"/>
                          </a:solidFill>
                          <a:latin typeface="Manrope" pitchFamily="34" charset="0"/>
                          <a:ea typeface="Manrope" pitchFamily="34" charset="-122"/>
                          <a:cs typeface="Manrope" pitchFamily="34" charset="-120"/>
                        </a:rPr>
                        <a:t>Emulator isolation pass, subscription lifecycle and acceptance testing</a:t>
                      </a:r>
                      <a:endParaRPr lang="en-US" sz="113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r>
              <a:tr h="658368">
                <a:tc>
                  <a:txBody>
                    <a:bodyPr/>
                    <a:lstStyle/>
                    <a:p>
                      <a:pPr indent="0" marL="0">
                        <a:buNone/>
                      </a:pPr>
                      <a:r>
                        <a:rPr lang="en-US" sz="1130" dirty="0">
                          <a:solidFill>
                            <a:srgbClr val="17231F"/>
                          </a:solidFill>
                          <a:latin typeface="Manrope" pitchFamily="34" charset="0"/>
                          <a:ea typeface="Manrope" pitchFamily="34" charset="-122"/>
                          <a:cs typeface="Manrope" pitchFamily="34" charset="-120"/>
                        </a:rPr>
                        <a:t>Payments</a:t>
                      </a:r>
                      <a:endParaRPr lang="en-US" sz="113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30" dirty="0">
                          <a:solidFill>
                            <a:srgbClr val="17231F"/>
                          </a:solidFill>
                          <a:latin typeface="Manrope" pitchFamily="34" charset="0"/>
                          <a:ea typeface="Manrope" pitchFamily="34" charset="-122"/>
                          <a:cs typeface="Manrope" pitchFamily="34" charset="-120"/>
                        </a:rPr>
                        <a:t>Test ledger, splits, receipts, Stripe/Paymob adapters and signed callbacks</a:t>
                      </a:r>
                      <a:endParaRPr lang="en-US" sz="113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30" dirty="0">
                          <a:solidFill>
                            <a:srgbClr val="17231F"/>
                          </a:solidFill>
                          <a:latin typeface="Manrope" pitchFamily="34" charset="0"/>
                          <a:ea typeface="Manrope" pitchFamily="34" charset="-122"/>
                          <a:cs typeface="Manrope" pitchFamily="34" charset="-120"/>
                        </a:rPr>
                        <a:t>No real charge in the captured flow</a:t>
                      </a:r>
                      <a:endParaRPr lang="en-US" sz="113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30" dirty="0">
                          <a:solidFill>
                            <a:srgbClr val="17231F"/>
                          </a:solidFill>
                          <a:latin typeface="Manrope" pitchFamily="34" charset="0"/>
                          <a:ea typeface="Manrope" pitchFamily="34" charset="-122"/>
                          <a:cs typeface="Manrope" pitchFamily="34" charset="-120"/>
                        </a:rPr>
                        <a:t>Merchant credentials, settlement and refund acceptance</a:t>
                      </a:r>
                      <a:endParaRPr lang="en-US" sz="113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r>
            </a:tbl>
          </a:graphicData>
        </a:graphic>
      </p:graphicFrame>
      <p:sp>
        <p:nvSpPr>
          <p:cNvPr id="9" name="Shape 5"/>
          <p:cNvSpPr/>
          <p:nvPr/>
        </p:nvSpPr>
        <p:spPr>
          <a:xfrm>
            <a:off x="667512" y="1572768"/>
            <a:ext cx="10863072" cy="557784"/>
          </a:xfrm>
          <a:prstGeom prst="rect">
            <a:avLst/>
          </a:prstGeom>
          <a:solidFill>
            <a:srgbClr val="173F35"/>
          </a:solidFill>
          <a:ln w="12700">
            <a:solidFill>
              <a:srgbClr val="FFFFFF">
                <a:alpha val="0"/>
              </a:srgbClr>
            </a:solidFill>
            <a:prstDash val="solid"/>
          </a:ln>
        </p:spPr>
      </p:sp>
      <p:sp>
        <p:nvSpPr>
          <p:cNvPr id="10" name="Text 6"/>
          <p:cNvSpPr txBox="1"/>
          <p:nvPr/>
        </p:nvSpPr>
        <p:spPr>
          <a:xfrm>
            <a:off x="804672" y="1719072"/>
            <a:ext cx="1069848" cy="210312"/>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Manrope" pitchFamily="34" charset="0"/>
                <a:ea typeface="Manrope" pitchFamily="34" charset="-122"/>
                <a:cs typeface="Manrope" pitchFamily="34" charset="-120"/>
              </a:rPr>
              <a:t>Role / area</a:t>
            </a:r>
            <a:endParaRPr lang="en-US" sz="1100" dirty="0"/>
          </a:p>
        </p:txBody>
      </p:sp>
      <p:sp>
        <p:nvSpPr>
          <p:cNvPr id="11" name="Text 7"/>
          <p:cNvSpPr txBox="1"/>
          <p:nvPr/>
        </p:nvSpPr>
        <p:spPr>
          <a:xfrm>
            <a:off x="2039112" y="1719072"/>
            <a:ext cx="2651760" cy="210312"/>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Manrope" pitchFamily="34" charset="0"/>
                <a:ea typeface="Manrope" pitchFamily="34" charset="-122"/>
                <a:cs typeface="Manrope" pitchFamily="34" charset="-120"/>
              </a:rPr>
              <a:t>Working now</a:t>
            </a:r>
            <a:endParaRPr lang="en-US" sz="1100" dirty="0"/>
          </a:p>
        </p:txBody>
      </p:sp>
      <p:sp>
        <p:nvSpPr>
          <p:cNvPr id="12" name="Text 8"/>
          <p:cNvSpPr txBox="1"/>
          <p:nvPr/>
        </p:nvSpPr>
        <p:spPr>
          <a:xfrm>
            <a:off x="5303520" y="1719072"/>
            <a:ext cx="2258568" cy="210312"/>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Manrope" pitchFamily="34" charset="0"/>
                <a:ea typeface="Manrope" pitchFamily="34" charset="-122"/>
                <a:cs typeface="Manrope" pitchFamily="34" charset="-120"/>
              </a:rPr>
              <a:t>Demo or sandbox</a:t>
            </a:r>
            <a:endParaRPr lang="en-US" sz="1100" dirty="0"/>
          </a:p>
        </p:txBody>
      </p:sp>
      <p:sp>
        <p:nvSpPr>
          <p:cNvPr id="13" name="Text 9"/>
          <p:cNvSpPr txBox="1"/>
          <p:nvPr/>
        </p:nvSpPr>
        <p:spPr>
          <a:xfrm>
            <a:off x="8074152" y="1719072"/>
            <a:ext cx="2743200" cy="210312"/>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Manrope" pitchFamily="34" charset="0"/>
                <a:ea typeface="Manrope" pitchFamily="34" charset="-122"/>
                <a:cs typeface="Manrope" pitchFamily="34" charset="-120"/>
              </a:rPr>
              <a:t>Production gate</a:t>
            </a:r>
            <a:endParaRPr lang="en-US" sz="1100" dirty="0"/>
          </a:p>
        </p:txBody>
      </p:sp>
      <p:sp>
        <p:nvSpPr>
          <p:cNvPr id="14" name="Text 10"/>
          <p:cNvSpPr txBox="1"/>
          <p:nvPr/>
        </p:nvSpPr>
        <p:spPr>
          <a:xfrm>
            <a:off x="658368" y="6565392"/>
            <a:ext cx="5303520" cy="118872"/>
          </a:xfrm>
          <a:prstGeom prst="rect">
            <a:avLst/>
          </a:prstGeom>
          <a:noFill/>
          <a:ln/>
        </p:spPr>
        <p:txBody>
          <a:bodyPr wrap="square" lIns="0" tIns="0" rIns="0" bIns="0" rtlCol="0" anchor="t">
            <a:normAutofit/>
          </a:bodyPr>
          <a:lstStyle/>
          <a:p>
            <a:pPr algn="l" indent="0" marL="0">
              <a:buNone/>
            </a:pPr>
            <a:r>
              <a:rPr lang="en-US" sz="850" dirty="0">
                <a:solidFill>
                  <a:srgbClr val="66736A"/>
                </a:solidFill>
                <a:latin typeface="Manrope" pitchFamily="34" charset="0"/>
                <a:ea typeface="Manrope" pitchFamily="34" charset="-122"/>
                <a:cs typeface="Manrope" pitchFamily="34" charset="-120"/>
              </a:rPr>
              <a:t>Status reflects code, test results and the 2026-09-10 runtime review</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384048" y="6510528"/>
            <a:ext cx="11402568" cy="0"/>
          </a:xfrm>
          <a:prstGeom prst="line">
            <a:avLst/>
          </a:prstGeom>
          <a:noFill/>
          <a:ln w="8890">
            <a:solidFill>
              <a:srgbClr val="D4DCD5"/>
            </a:solidFill>
            <a:prstDash val="solid"/>
          </a:ln>
        </p:spPr>
      </p:sp>
      <p:pic>
        <p:nvPicPr>
          <p:cNvPr id="3" name="Image 0" descr="/Users/tank/Downloads/Resuto-main/.codex-build/resuto-impactx-pitch/resuto-original-mark.png">    </p:cNvPr>
          <p:cNvPicPr>
            <a:picLocks noChangeAspect="1"/>
          </p:cNvPicPr>
          <p:nvPr/>
        </p:nvPicPr>
        <p:blipFill>
          <a:blip r:embed="rId1"/>
          <a:stretch>
            <a:fillRect/>
          </a:stretch>
        </p:blipFill>
        <p:spPr>
          <a:xfrm>
            <a:off x="384048" y="210312"/>
            <a:ext cx="356616" cy="338328"/>
          </a:xfrm>
          <a:prstGeom prst="rect">
            <a:avLst/>
          </a:prstGeom>
        </p:spPr>
      </p:pic>
      <p:sp>
        <p:nvSpPr>
          <p:cNvPr id="4" name="Text 1"/>
          <p:cNvSpPr txBox="1"/>
          <p:nvPr/>
        </p:nvSpPr>
        <p:spPr>
          <a:xfrm>
            <a:off x="786384" y="283464"/>
            <a:ext cx="914400" cy="164592"/>
          </a:xfrm>
          <a:prstGeom prst="rect">
            <a:avLst/>
          </a:prstGeom>
          <a:noFill/>
          <a:ln/>
        </p:spPr>
        <p:txBody>
          <a:bodyPr wrap="square" lIns="0" tIns="0" rIns="0" bIns="0" rtlCol="0" anchor="t">
            <a:normAutofit/>
          </a:bodyPr>
          <a:lstStyle/>
          <a:p>
            <a:pPr algn="l" indent="0" marL="0">
              <a:buNone/>
            </a:pPr>
            <a:r>
              <a:rPr lang="en-US" sz="900" b="1" dirty="0">
                <a:solidFill>
                  <a:srgbClr val="173F35"/>
                </a:solidFill>
                <a:latin typeface="Manrope" pitchFamily="34" charset="0"/>
                <a:ea typeface="Manrope" pitchFamily="34" charset="-122"/>
                <a:cs typeface="Manrope" pitchFamily="34" charset="-120"/>
              </a:rPr>
              <a:t>RESUTO</a:t>
            </a:r>
            <a:endParaRPr lang="en-US" sz="900" dirty="0"/>
          </a:p>
        </p:txBody>
      </p:sp>
      <p:sp>
        <p:nvSpPr>
          <p:cNvPr id="5" name="Text 2"/>
          <p:cNvSpPr txBox="1"/>
          <p:nvPr/>
        </p:nvSpPr>
        <p:spPr>
          <a:xfrm>
            <a:off x="9829800" y="274320"/>
            <a:ext cx="1691640" cy="146304"/>
          </a:xfrm>
          <a:prstGeom prst="rect">
            <a:avLst/>
          </a:prstGeom>
          <a:noFill/>
          <a:ln/>
        </p:spPr>
        <p:txBody>
          <a:bodyPr wrap="square" lIns="0" tIns="0" rIns="0" bIns="0" rtlCol="0" anchor="ctr">
            <a:normAutofit/>
          </a:bodyPr>
          <a:lstStyle/>
          <a:p>
            <a:pPr algn="r" indent="0" marL="0">
              <a:buNone/>
            </a:pPr>
            <a:r>
              <a:rPr lang="en-US" sz="850" b="1" spc="140" kern="0" dirty="0">
                <a:solidFill>
                  <a:srgbClr val="D89A32"/>
                </a:solidFill>
                <a:latin typeface="Manrope" pitchFamily="34" charset="0"/>
                <a:ea typeface="Manrope" pitchFamily="34" charset="-122"/>
                <a:cs typeface="Manrope" pitchFamily="34" charset="-120"/>
              </a:rPr>
              <a:t>APPENDIX · PRODUCT</a:t>
            </a:r>
            <a:endParaRPr lang="en-US" sz="850" dirty="0"/>
          </a:p>
        </p:txBody>
      </p:sp>
      <p:sp>
        <p:nvSpPr>
          <p:cNvPr id="6" name="Text 3"/>
          <p:cNvSpPr txBox="1"/>
          <p:nvPr/>
        </p:nvSpPr>
        <p:spPr>
          <a:xfrm>
            <a:off x="658368" y="557784"/>
            <a:ext cx="10835640" cy="530352"/>
          </a:xfrm>
          <a:prstGeom prst="rect">
            <a:avLst/>
          </a:prstGeom>
          <a:noFill/>
          <a:ln/>
        </p:spPr>
        <p:txBody>
          <a:bodyPr wrap="square" lIns="0" tIns="0" rIns="0" bIns="0" rtlCol="0" anchor="t">
            <a:normAutofit/>
          </a:bodyPr>
          <a:lstStyle/>
          <a:p>
            <a:pPr algn="l" indent="0" marL="0">
              <a:buNone/>
            </a:pPr>
            <a:r>
              <a:rPr lang="en-US" sz="2800" b="1" dirty="0">
                <a:solidFill>
                  <a:srgbClr val="17231F"/>
                </a:solidFill>
                <a:latin typeface="Manrope" pitchFamily="34" charset="0"/>
                <a:ea typeface="Manrope" pitchFamily="34" charset="-122"/>
                <a:cs typeface="Manrope" pitchFamily="34" charset="-120"/>
              </a:rPr>
              <a:t>One platform, restaurant-specific presentation</a:t>
            </a:r>
            <a:endParaRPr lang="en-US" sz="2800" dirty="0"/>
          </a:p>
        </p:txBody>
      </p:sp>
      <p:sp>
        <p:nvSpPr>
          <p:cNvPr id="7" name="Text 4"/>
          <p:cNvSpPr txBox="1"/>
          <p:nvPr/>
        </p:nvSpPr>
        <p:spPr>
          <a:xfrm>
            <a:off x="676656" y="1097280"/>
            <a:ext cx="10469880" cy="347472"/>
          </a:xfrm>
          <a:prstGeom prst="rect">
            <a:avLst/>
          </a:prstGeom>
          <a:noFill/>
          <a:ln/>
        </p:spPr>
        <p:txBody>
          <a:bodyPr wrap="square" lIns="0" tIns="0" rIns="0" bIns="0" rtlCol="0" anchor="t">
            <a:normAutofit/>
          </a:bodyPr>
          <a:lstStyle/>
          <a:p>
            <a:pPr algn="l" indent="0" marL="0">
              <a:buNone/>
            </a:pPr>
            <a:r>
              <a:rPr lang="en-US" sz="1450" dirty="0">
                <a:solidFill>
                  <a:srgbClr val="66736A"/>
                </a:solidFill>
                <a:latin typeface="Manrope" pitchFamily="34" charset="0"/>
                <a:ea typeface="Manrope" pitchFamily="34" charset="-122"/>
                <a:cs typeface="Manrope" pitchFamily="34" charset="-120"/>
              </a:rPr>
              <a:t>The Olive Room and Smash &amp; Co are fictional demo restaurants, not customers</a:t>
            </a:r>
            <a:endParaRPr lang="en-US" sz="1450" dirty="0"/>
          </a:p>
        </p:txBody>
      </p:sp>
      <p:sp>
        <p:nvSpPr>
          <p:cNvPr id="8" name="Shape 5"/>
          <p:cNvSpPr/>
          <p:nvPr/>
        </p:nvSpPr>
        <p:spPr>
          <a:xfrm>
            <a:off x="681228" y="1485900"/>
            <a:ext cx="2862072" cy="4590288"/>
          </a:xfrm>
          <a:prstGeom prst="roundRect">
            <a:avLst>
              <a:gd name="adj" fmla="val 5751"/>
            </a:avLst>
          </a:prstGeom>
          <a:solidFill>
            <a:srgbClr val="FFFFFF"/>
          </a:solidFill>
          <a:ln w="11430">
            <a:solidFill>
              <a:srgbClr val="D4DCD5"/>
            </a:solidFill>
            <a:prstDash val="solid"/>
          </a:ln>
        </p:spPr>
      </p:sp>
      <p:pic>
        <p:nvPicPr>
          <p:cNvPr id="9" name="Image 1" descr="/Users/tank/Downloads/Resuto-main/.codex-build/resuto-impactx-pitch/restaurant.png">    </p:cNvPr>
          <p:cNvPicPr>
            <a:picLocks noChangeAspect="1"/>
          </p:cNvPicPr>
          <p:nvPr/>
        </p:nvPicPr>
        <p:blipFill>
          <a:blip r:embed="rId2"/>
          <a:stretch>
            <a:fillRect/>
          </a:stretch>
        </p:blipFill>
        <p:spPr>
          <a:xfrm>
            <a:off x="713232" y="1517904"/>
            <a:ext cx="2798064" cy="4526280"/>
          </a:xfrm>
          <a:prstGeom prst="rect">
            <a:avLst/>
          </a:prstGeom>
        </p:spPr>
      </p:pic>
      <p:sp>
        <p:nvSpPr>
          <p:cNvPr id="10" name="Shape 6"/>
          <p:cNvSpPr/>
          <p:nvPr/>
        </p:nvSpPr>
        <p:spPr>
          <a:xfrm>
            <a:off x="822960" y="5641848"/>
            <a:ext cx="1051560" cy="292608"/>
          </a:xfrm>
          <a:prstGeom prst="roundRect">
            <a:avLst>
              <a:gd name="adj" fmla="val 50000"/>
            </a:avLst>
          </a:prstGeom>
          <a:solidFill>
            <a:srgbClr val="173F35"/>
          </a:solidFill>
          <a:ln w="12700">
            <a:solidFill>
              <a:srgbClr val="FFFFFF">
                <a:alpha val="0"/>
              </a:srgbClr>
            </a:solidFill>
            <a:prstDash val="solid"/>
          </a:ln>
        </p:spPr>
      </p:sp>
      <p:sp>
        <p:nvSpPr>
          <p:cNvPr id="11" name="Text 7"/>
          <p:cNvSpPr txBox="1"/>
          <p:nvPr/>
        </p:nvSpPr>
        <p:spPr>
          <a:xfrm>
            <a:off x="896112" y="5650992"/>
            <a:ext cx="905256" cy="25603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Manrope" pitchFamily="34" charset="0"/>
                <a:ea typeface="Manrope" pitchFamily="34" charset="-122"/>
                <a:cs typeface="Manrope" pitchFamily="34" charset="-120"/>
              </a:rPr>
              <a:t>OLIVE ROOM</a:t>
            </a:r>
            <a:endParaRPr lang="en-US" sz="1000" dirty="0"/>
          </a:p>
        </p:txBody>
      </p:sp>
      <p:sp>
        <p:nvSpPr>
          <p:cNvPr id="12" name="Shape 8"/>
          <p:cNvSpPr/>
          <p:nvPr/>
        </p:nvSpPr>
        <p:spPr>
          <a:xfrm>
            <a:off x="3790188" y="1485900"/>
            <a:ext cx="2862072" cy="4590288"/>
          </a:xfrm>
          <a:prstGeom prst="roundRect">
            <a:avLst>
              <a:gd name="adj" fmla="val 5751"/>
            </a:avLst>
          </a:prstGeom>
          <a:solidFill>
            <a:srgbClr val="FFFFFF"/>
          </a:solidFill>
          <a:ln w="11430">
            <a:solidFill>
              <a:srgbClr val="D4DCD5"/>
            </a:solidFill>
            <a:prstDash val="solid"/>
          </a:ln>
        </p:spPr>
      </p:sp>
      <p:pic>
        <p:nvPicPr>
          <p:cNvPr id="13" name="Image 2" descr="/Users/tank/Downloads/Resuto-main/.codex-build/resuto-impactx-pitch/smash.png">    </p:cNvPr>
          <p:cNvPicPr>
            <a:picLocks noChangeAspect="1"/>
          </p:cNvPicPr>
          <p:nvPr/>
        </p:nvPicPr>
        <p:blipFill>
          <a:blip r:embed="rId3"/>
          <a:stretch>
            <a:fillRect/>
          </a:stretch>
        </p:blipFill>
        <p:spPr>
          <a:xfrm>
            <a:off x="3822192" y="1517904"/>
            <a:ext cx="2798064" cy="4526280"/>
          </a:xfrm>
          <a:prstGeom prst="rect">
            <a:avLst/>
          </a:prstGeom>
        </p:spPr>
      </p:pic>
      <p:sp>
        <p:nvSpPr>
          <p:cNvPr id="14" name="Shape 9"/>
          <p:cNvSpPr/>
          <p:nvPr/>
        </p:nvSpPr>
        <p:spPr>
          <a:xfrm>
            <a:off x="3931920" y="5641848"/>
            <a:ext cx="1051560" cy="292608"/>
          </a:xfrm>
          <a:prstGeom prst="roundRect">
            <a:avLst>
              <a:gd name="adj" fmla="val 50000"/>
            </a:avLst>
          </a:prstGeom>
          <a:solidFill>
            <a:srgbClr val="173F35"/>
          </a:solidFill>
          <a:ln w="12700">
            <a:solidFill>
              <a:srgbClr val="FFFFFF">
                <a:alpha val="0"/>
              </a:srgbClr>
            </a:solidFill>
            <a:prstDash val="solid"/>
          </a:ln>
        </p:spPr>
      </p:sp>
      <p:sp>
        <p:nvSpPr>
          <p:cNvPr id="15" name="Text 10"/>
          <p:cNvSpPr txBox="1"/>
          <p:nvPr/>
        </p:nvSpPr>
        <p:spPr>
          <a:xfrm>
            <a:off x="4005072" y="5650992"/>
            <a:ext cx="905256" cy="25603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Manrope" pitchFamily="34" charset="0"/>
                <a:ea typeface="Manrope" pitchFamily="34" charset="-122"/>
                <a:cs typeface="Manrope" pitchFamily="34" charset="-120"/>
              </a:rPr>
              <a:t>SMASH &amp; CO</a:t>
            </a:r>
            <a:endParaRPr lang="en-US" sz="1000" dirty="0"/>
          </a:p>
        </p:txBody>
      </p:sp>
      <p:sp>
        <p:nvSpPr>
          <p:cNvPr id="16" name="Shape 11"/>
          <p:cNvSpPr/>
          <p:nvPr/>
        </p:nvSpPr>
        <p:spPr>
          <a:xfrm>
            <a:off x="6899148" y="1485900"/>
            <a:ext cx="2862072" cy="4590288"/>
          </a:xfrm>
          <a:prstGeom prst="roundRect">
            <a:avLst>
              <a:gd name="adj" fmla="val 5751"/>
            </a:avLst>
          </a:prstGeom>
          <a:solidFill>
            <a:srgbClr val="FFFFFF"/>
          </a:solidFill>
          <a:ln w="11430">
            <a:solidFill>
              <a:srgbClr val="D4DCD5"/>
            </a:solidFill>
            <a:prstDash val="solid"/>
          </a:ln>
        </p:spPr>
      </p:sp>
      <p:pic>
        <p:nvPicPr>
          <p:cNvPr id="17" name="Image 3" descr="/Users/tank/Downloads/Resuto-main/.codex-build/resuto-impactx-pitch/arabic.png">    </p:cNvPr>
          <p:cNvPicPr>
            <a:picLocks noChangeAspect="1"/>
          </p:cNvPicPr>
          <p:nvPr/>
        </p:nvPicPr>
        <p:blipFill>
          <a:blip r:embed="rId4"/>
          <a:stretch>
            <a:fillRect/>
          </a:stretch>
        </p:blipFill>
        <p:spPr>
          <a:xfrm>
            <a:off x="6931152" y="1517904"/>
            <a:ext cx="2798064" cy="4526280"/>
          </a:xfrm>
          <a:prstGeom prst="rect">
            <a:avLst/>
          </a:prstGeom>
        </p:spPr>
      </p:pic>
      <p:sp>
        <p:nvSpPr>
          <p:cNvPr id="18" name="Shape 12"/>
          <p:cNvSpPr/>
          <p:nvPr/>
        </p:nvSpPr>
        <p:spPr>
          <a:xfrm>
            <a:off x="7040880" y="5641848"/>
            <a:ext cx="1051560" cy="292608"/>
          </a:xfrm>
          <a:prstGeom prst="roundRect">
            <a:avLst>
              <a:gd name="adj" fmla="val 50000"/>
            </a:avLst>
          </a:prstGeom>
          <a:solidFill>
            <a:srgbClr val="173F35"/>
          </a:solidFill>
          <a:ln w="12700">
            <a:solidFill>
              <a:srgbClr val="FFFFFF">
                <a:alpha val="0"/>
              </a:srgbClr>
            </a:solidFill>
            <a:prstDash val="solid"/>
          </a:ln>
        </p:spPr>
      </p:sp>
      <p:sp>
        <p:nvSpPr>
          <p:cNvPr id="19" name="Text 13"/>
          <p:cNvSpPr txBox="1"/>
          <p:nvPr/>
        </p:nvSpPr>
        <p:spPr>
          <a:xfrm>
            <a:off x="7114032" y="5650992"/>
            <a:ext cx="905256" cy="25603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Manrope" pitchFamily="34" charset="0"/>
                <a:ea typeface="Manrope" pitchFamily="34" charset="-122"/>
                <a:cs typeface="Manrope" pitchFamily="34" charset="-120"/>
              </a:rPr>
              <a:t>ARABIC / RTL</a:t>
            </a:r>
            <a:endParaRPr lang="en-US" sz="1000" dirty="0"/>
          </a:p>
        </p:txBody>
      </p:sp>
      <p:sp>
        <p:nvSpPr>
          <p:cNvPr id="20" name="Shape 14"/>
          <p:cNvSpPr/>
          <p:nvPr/>
        </p:nvSpPr>
        <p:spPr>
          <a:xfrm>
            <a:off x="10021824" y="1517904"/>
            <a:ext cx="1399032" cy="4526280"/>
          </a:xfrm>
          <a:prstGeom prst="roundRect">
            <a:avLst>
              <a:gd name="adj" fmla="val 11765"/>
            </a:avLst>
          </a:prstGeom>
          <a:solidFill>
            <a:srgbClr val="173F35"/>
          </a:solidFill>
          <a:ln w="12700">
            <a:solidFill>
              <a:srgbClr val="FFFFFF">
                <a:alpha val="0"/>
              </a:srgbClr>
            </a:solidFill>
            <a:prstDash val="solid"/>
          </a:ln>
        </p:spPr>
      </p:sp>
      <p:sp>
        <p:nvSpPr>
          <p:cNvPr id="21" name="Text 15"/>
          <p:cNvSpPr txBox="1"/>
          <p:nvPr/>
        </p:nvSpPr>
        <p:spPr>
          <a:xfrm>
            <a:off x="10213848" y="1938528"/>
            <a:ext cx="1005840" cy="1042416"/>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Manrope" pitchFamily="34" charset="0"/>
                <a:ea typeface="Manrope" pitchFamily="34" charset="-122"/>
                <a:cs typeface="Manrope" pitchFamily="34" charset="-120"/>
              </a:rPr>
              <a:t>Resuto stays the platform brand</a:t>
            </a:r>
            <a:endParaRPr lang="en-US" sz="1800" dirty="0"/>
          </a:p>
        </p:txBody>
      </p:sp>
      <p:sp>
        <p:nvSpPr>
          <p:cNvPr id="22" name="Text 16"/>
          <p:cNvSpPr txBox="1"/>
          <p:nvPr/>
        </p:nvSpPr>
        <p:spPr>
          <a:xfrm>
            <a:off x="10213848" y="3749040"/>
            <a:ext cx="1005840" cy="1097280"/>
          </a:xfrm>
          <a:prstGeom prst="rect">
            <a:avLst/>
          </a:prstGeom>
          <a:noFill/>
          <a:ln/>
        </p:spPr>
        <p:txBody>
          <a:bodyPr wrap="square" lIns="0" tIns="0" rIns="0" bIns="0" rtlCol="0" anchor="ctr">
            <a:normAutofit/>
          </a:bodyPr>
          <a:lstStyle/>
          <a:p>
            <a:pPr algn="ctr" indent="0" marL="0">
              <a:buNone/>
            </a:pPr>
            <a:r>
              <a:rPr lang="en-US" sz="1200" dirty="0">
                <a:solidFill>
                  <a:srgbClr val="D8E4D9"/>
                </a:solidFill>
                <a:latin typeface="Manrope" pitchFamily="34" charset="0"/>
                <a:ea typeface="Manrope" pitchFamily="34" charset="-122"/>
                <a:cs typeface="Manrope" pitchFamily="34" charset="-120"/>
              </a:rPr>
              <a:t>Themes can reflect service model and restaurant identity without changing the operating core.</a:t>
            </a:r>
            <a:endParaRPr lang="en-US" sz="1200" dirty="0"/>
          </a:p>
        </p:txBody>
      </p:sp>
      <p:sp>
        <p:nvSpPr>
          <p:cNvPr id="23" name="Text 17"/>
          <p:cNvSpPr txBox="1"/>
          <p:nvPr/>
        </p:nvSpPr>
        <p:spPr>
          <a:xfrm>
            <a:off x="658368" y="6565392"/>
            <a:ext cx="5303520" cy="118872"/>
          </a:xfrm>
          <a:prstGeom prst="rect">
            <a:avLst/>
          </a:prstGeom>
          <a:noFill/>
          <a:ln/>
        </p:spPr>
        <p:txBody>
          <a:bodyPr wrap="square" lIns="0" tIns="0" rIns="0" bIns="0" rtlCol="0" anchor="t">
            <a:normAutofit/>
          </a:bodyPr>
          <a:lstStyle/>
          <a:p>
            <a:pPr algn="l" indent="0" marL="0">
              <a:buNone/>
            </a:pPr>
            <a:r>
              <a:rPr lang="en-US" sz="850" dirty="0">
                <a:solidFill>
                  <a:srgbClr val="66736A"/>
                </a:solidFill>
                <a:latin typeface="Manrope" pitchFamily="34" charset="0"/>
                <a:ea typeface="Manrope" pitchFamily="34" charset="-122"/>
                <a:cs typeface="Manrope" pitchFamily="34" charset="-120"/>
              </a:rPr>
              <a:t>Fresh mobile captures · 390×844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384048" y="6510528"/>
            <a:ext cx="11402568" cy="0"/>
          </a:xfrm>
          <a:prstGeom prst="line">
            <a:avLst/>
          </a:prstGeom>
          <a:noFill/>
          <a:ln w="8890">
            <a:solidFill>
              <a:srgbClr val="D4DCD5"/>
            </a:solidFill>
            <a:prstDash val="solid"/>
          </a:ln>
        </p:spPr>
      </p:sp>
      <p:pic>
        <p:nvPicPr>
          <p:cNvPr id="3" name="Image 0" descr="/Users/tank/Downloads/Resuto-main/.codex-build/resuto-impactx-pitch/resuto-original-mark.png">    </p:cNvPr>
          <p:cNvPicPr>
            <a:picLocks noChangeAspect="1"/>
          </p:cNvPicPr>
          <p:nvPr/>
        </p:nvPicPr>
        <p:blipFill>
          <a:blip r:embed="rId1"/>
          <a:stretch>
            <a:fillRect/>
          </a:stretch>
        </p:blipFill>
        <p:spPr>
          <a:xfrm>
            <a:off x="384048" y="210312"/>
            <a:ext cx="356616" cy="338328"/>
          </a:xfrm>
          <a:prstGeom prst="rect">
            <a:avLst/>
          </a:prstGeom>
        </p:spPr>
      </p:pic>
      <p:sp>
        <p:nvSpPr>
          <p:cNvPr id="4" name="Text 1"/>
          <p:cNvSpPr txBox="1"/>
          <p:nvPr/>
        </p:nvSpPr>
        <p:spPr>
          <a:xfrm>
            <a:off x="786384" y="283464"/>
            <a:ext cx="914400" cy="164592"/>
          </a:xfrm>
          <a:prstGeom prst="rect">
            <a:avLst/>
          </a:prstGeom>
          <a:noFill/>
          <a:ln/>
        </p:spPr>
        <p:txBody>
          <a:bodyPr wrap="square" lIns="0" tIns="0" rIns="0" bIns="0" rtlCol="0" anchor="t">
            <a:normAutofit/>
          </a:bodyPr>
          <a:lstStyle/>
          <a:p>
            <a:pPr algn="l" indent="0" marL="0">
              <a:buNone/>
            </a:pPr>
            <a:r>
              <a:rPr lang="en-US" sz="900" b="1" dirty="0">
                <a:solidFill>
                  <a:srgbClr val="173F35"/>
                </a:solidFill>
                <a:latin typeface="Manrope" pitchFamily="34" charset="0"/>
                <a:ea typeface="Manrope" pitchFamily="34" charset="-122"/>
                <a:cs typeface="Manrope" pitchFamily="34" charset="-120"/>
              </a:rPr>
              <a:t>RESUTO</a:t>
            </a:r>
            <a:endParaRPr lang="en-US" sz="900" dirty="0"/>
          </a:p>
        </p:txBody>
      </p:sp>
      <p:sp>
        <p:nvSpPr>
          <p:cNvPr id="5" name="Text 2"/>
          <p:cNvSpPr txBox="1"/>
          <p:nvPr/>
        </p:nvSpPr>
        <p:spPr>
          <a:xfrm>
            <a:off x="9829800" y="274320"/>
            <a:ext cx="1691640" cy="146304"/>
          </a:xfrm>
          <a:prstGeom prst="rect">
            <a:avLst/>
          </a:prstGeom>
          <a:noFill/>
          <a:ln/>
        </p:spPr>
        <p:txBody>
          <a:bodyPr wrap="square" lIns="0" tIns="0" rIns="0" bIns="0" rtlCol="0" anchor="ctr">
            <a:normAutofit/>
          </a:bodyPr>
          <a:lstStyle/>
          <a:p>
            <a:pPr algn="r" indent="0" marL="0">
              <a:buNone/>
            </a:pPr>
            <a:r>
              <a:rPr lang="en-US" sz="850" b="1" spc="140" kern="0" dirty="0">
                <a:solidFill>
                  <a:srgbClr val="D89A32"/>
                </a:solidFill>
                <a:latin typeface="Manrope" pitchFamily="34" charset="0"/>
                <a:ea typeface="Manrope" pitchFamily="34" charset="-122"/>
                <a:cs typeface="Manrope" pitchFamily="34" charset="-120"/>
              </a:rPr>
              <a:t>APPENDIX · ARCHITECTURE</a:t>
            </a:r>
            <a:endParaRPr lang="en-US" sz="850" dirty="0"/>
          </a:p>
        </p:txBody>
      </p:sp>
      <p:sp>
        <p:nvSpPr>
          <p:cNvPr id="6" name="Text 3"/>
          <p:cNvSpPr txBox="1"/>
          <p:nvPr/>
        </p:nvSpPr>
        <p:spPr>
          <a:xfrm>
            <a:off x="658368" y="557784"/>
            <a:ext cx="10835640" cy="530352"/>
          </a:xfrm>
          <a:prstGeom prst="rect">
            <a:avLst/>
          </a:prstGeom>
          <a:noFill/>
          <a:ln/>
        </p:spPr>
        <p:txBody>
          <a:bodyPr wrap="square" lIns="0" tIns="0" rIns="0" bIns="0" rtlCol="0" anchor="t">
            <a:normAutofit/>
          </a:bodyPr>
          <a:lstStyle/>
          <a:p>
            <a:pPr algn="l" indent="0" marL="0">
              <a:buNone/>
            </a:pPr>
            <a:r>
              <a:rPr lang="en-US" sz="2800" b="1" dirty="0">
                <a:solidFill>
                  <a:srgbClr val="17231F"/>
                </a:solidFill>
                <a:latin typeface="Manrope" pitchFamily="34" charset="0"/>
                <a:ea typeface="Manrope" pitchFamily="34" charset="-122"/>
                <a:cs typeface="Manrope" pitchFamily="34" charset="-120"/>
              </a:rPr>
              <a:t>Authentication, roles and tenant isolation</a:t>
            </a:r>
            <a:endParaRPr lang="en-US" sz="2800" dirty="0"/>
          </a:p>
        </p:txBody>
      </p:sp>
      <p:sp>
        <p:nvSpPr>
          <p:cNvPr id="7" name="Text 4"/>
          <p:cNvSpPr txBox="1"/>
          <p:nvPr/>
        </p:nvSpPr>
        <p:spPr>
          <a:xfrm>
            <a:off x="676656" y="1097280"/>
            <a:ext cx="10469880" cy="347472"/>
          </a:xfrm>
          <a:prstGeom prst="rect">
            <a:avLst/>
          </a:prstGeom>
          <a:noFill/>
          <a:ln/>
        </p:spPr>
        <p:txBody>
          <a:bodyPr wrap="square" lIns="0" tIns="0" rIns="0" bIns="0" rtlCol="0" anchor="t">
            <a:normAutofit/>
          </a:bodyPr>
          <a:lstStyle/>
          <a:p>
            <a:pPr algn="l" indent="0" marL="0">
              <a:buNone/>
            </a:pPr>
            <a:r>
              <a:rPr lang="en-US" sz="1450" dirty="0">
                <a:solidFill>
                  <a:srgbClr val="66736A"/>
                </a:solidFill>
                <a:latin typeface="Manrope" pitchFamily="34" charset="0"/>
                <a:ea typeface="Manrope" pitchFamily="34" charset="-122"/>
                <a:cs typeface="Manrope" pitchFamily="34" charset="-120"/>
              </a:rPr>
              <a:t>The hosted path is implemented in code; production proof remains gated</a:t>
            </a:r>
            <a:endParaRPr lang="en-US" sz="14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13232" y="1536192"/>
          <a:ext cx="10771632" cy="4251960"/>
        </p:xfrm>
        <a:graphic>
          <a:graphicData uri="http://schemas.openxmlformats.org/drawingml/2006/table">
            <a:tbl>
              <a:tblPr/>
              <a:tblGrid>
                <a:gridCol w="1938528"/>
                <a:gridCol w="2331720"/>
                <a:gridCol w="3703320"/>
                <a:gridCol w="2798064"/>
              </a:tblGrid>
              <a:tr h="539496">
                <a:tc>
                  <a:txBody>
                    <a:bodyPr/>
                    <a:lstStyle/>
                    <a:p>
                      <a:pPr indent="0" marL="0">
                        <a:buNone/>
                      </a:pPr>
                      <a:r>
                        <a:rPr lang="en-US" sz="1220" dirty="0">
                          <a:solidFill>
                            <a:srgbClr val="17231F"/>
                          </a:solidFill>
                          <a:latin typeface="Manrope" pitchFamily="34" charset="0"/>
                          <a:ea typeface="Manrope" pitchFamily="34" charset="-122"/>
                          <a:cs typeface="Manrope" pitchFamily="34" charset="-120"/>
                        </a:rPr>
                        <a:t>Concern</a:t>
                      </a:r>
                      <a:endParaRPr lang="en-US" sz="122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20" dirty="0">
                          <a:solidFill>
                            <a:srgbClr val="17231F"/>
                          </a:solidFill>
                          <a:latin typeface="Manrope" pitchFamily="34" charset="0"/>
                          <a:ea typeface="Manrope" pitchFamily="34" charset="-122"/>
                          <a:cs typeface="Manrope" pitchFamily="34" charset="-120"/>
                        </a:rPr>
                        <a:t>Local demo</a:t>
                      </a:r>
                      <a:endParaRPr lang="en-US" sz="122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20" dirty="0">
                          <a:solidFill>
                            <a:srgbClr val="17231F"/>
                          </a:solidFill>
                          <a:latin typeface="Manrope" pitchFamily="34" charset="0"/>
                          <a:ea typeface="Manrope" pitchFamily="34" charset="-122"/>
                          <a:cs typeface="Manrope" pitchFamily="34" charset="-120"/>
                        </a:rPr>
                        <a:t>Firebase tenant mode</a:t>
                      </a:r>
                      <a:endParaRPr lang="en-US" sz="122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20" dirty="0">
                          <a:solidFill>
                            <a:srgbClr val="17231F"/>
                          </a:solidFill>
                          <a:latin typeface="Manrope" pitchFamily="34" charset="0"/>
                          <a:ea typeface="Manrope" pitchFamily="34" charset="-122"/>
                          <a:cs typeface="Manrope" pitchFamily="34" charset="-120"/>
                        </a:rPr>
                        <a:t>Current evidence</a:t>
                      </a:r>
                      <a:endParaRPr lang="en-US" sz="122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r>
              <a:tr h="539496">
                <a:tc>
                  <a:txBody>
                    <a:bodyPr/>
                    <a:lstStyle/>
                    <a:p>
                      <a:pPr indent="0" marL="0">
                        <a:buNone/>
                      </a:pPr>
                      <a:r>
                        <a:rPr lang="en-US" sz="1220" dirty="0">
                          <a:solidFill>
                            <a:srgbClr val="17231F"/>
                          </a:solidFill>
                          <a:latin typeface="Manrope" pitchFamily="34" charset="0"/>
                          <a:ea typeface="Manrope" pitchFamily="34" charset="-122"/>
                          <a:cs typeface="Manrope" pitchFamily="34" charset="-120"/>
                        </a:rPr>
                        <a:t>Authentication</a:t>
                      </a:r>
                      <a:endParaRPr lang="en-US" sz="122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20" dirty="0">
                          <a:solidFill>
                            <a:srgbClr val="17231F"/>
                          </a:solidFill>
                          <a:latin typeface="Manrope" pitchFamily="34" charset="0"/>
                          <a:ea typeface="Manrope" pitchFamily="34" charset="-122"/>
                          <a:cs typeface="Manrope" pitchFamily="34" charset="-120"/>
                        </a:rPr>
                        <a:t>Opaque staff cookie</a:t>
                      </a:r>
                      <a:endParaRPr lang="en-US" sz="122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20" dirty="0">
                          <a:solidFill>
                            <a:srgbClr val="17231F"/>
                          </a:solidFill>
                          <a:latin typeface="Manrope" pitchFamily="34" charset="0"/>
                          <a:ea typeface="Manrope" pitchFamily="34" charset="-122"/>
                          <a:cs typeface="Manrope" pitchFamily="34" charset="-120"/>
                        </a:rPr>
                        <a:t>Firebase ID token</a:t>
                      </a:r>
                      <a:endParaRPr lang="en-US" sz="122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20" dirty="0">
                          <a:solidFill>
                            <a:srgbClr val="17231F"/>
                          </a:solidFill>
                          <a:latin typeface="Manrope" pitchFamily="34" charset="0"/>
                          <a:ea typeface="Manrope" pitchFamily="34" charset="-122"/>
                          <a:cs typeface="Manrope" pitchFamily="34" charset="-120"/>
                        </a:rPr>
                        <a:t>Code + local role tests</a:t>
                      </a:r>
                      <a:endParaRPr lang="en-US" sz="122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r>
              <a:tr h="539496">
                <a:tc>
                  <a:txBody>
                    <a:bodyPr/>
                    <a:lstStyle/>
                    <a:p>
                      <a:pPr indent="0" marL="0">
                        <a:buNone/>
                      </a:pPr>
                      <a:r>
                        <a:rPr lang="en-US" sz="1220" dirty="0">
                          <a:solidFill>
                            <a:srgbClr val="17231F"/>
                          </a:solidFill>
                          <a:latin typeface="Manrope" pitchFamily="34" charset="0"/>
                          <a:ea typeface="Manrope" pitchFamily="34" charset="-122"/>
                          <a:cs typeface="Manrope" pitchFamily="34" charset="-120"/>
                        </a:rPr>
                        <a:t>Roles</a:t>
                      </a:r>
                      <a:endParaRPr lang="en-US" sz="122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20" dirty="0">
                          <a:solidFill>
                            <a:srgbClr val="17231F"/>
                          </a:solidFill>
                          <a:latin typeface="Manrope" pitchFamily="34" charset="0"/>
                          <a:ea typeface="Manrope" pitchFamily="34" charset="-122"/>
                          <a:cs typeface="Manrope" pitchFamily="34" charset="-120"/>
                        </a:rPr>
                        <a:t>Manager, kitchen, host</a:t>
                      </a:r>
                      <a:endParaRPr lang="en-US" sz="122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20" dirty="0">
                          <a:solidFill>
                            <a:srgbClr val="17231F"/>
                          </a:solidFill>
                          <a:latin typeface="Manrope" pitchFamily="34" charset="0"/>
                          <a:ea typeface="Manrope" pitchFamily="34" charset="-122"/>
                          <a:cs typeface="Manrope" pitchFamily="34" charset="-120"/>
                        </a:rPr>
                        <a:t>Owner, manager, kitchen, host memberships</a:t>
                      </a:r>
                      <a:endParaRPr lang="en-US" sz="122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20" dirty="0">
                          <a:solidFill>
                            <a:srgbClr val="17231F"/>
                          </a:solidFill>
                          <a:latin typeface="Manrope" pitchFamily="34" charset="0"/>
                          <a:ea typeface="Manrope" pitchFamily="34" charset="-122"/>
                          <a:cs typeface="Manrope" pitchFamily="34" charset="-120"/>
                        </a:rPr>
                        <a:t>Role restrictions pass</a:t>
                      </a:r>
                      <a:endParaRPr lang="en-US" sz="122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r>
              <a:tr h="539496">
                <a:tc>
                  <a:txBody>
                    <a:bodyPr/>
                    <a:lstStyle/>
                    <a:p>
                      <a:pPr indent="0" marL="0">
                        <a:buNone/>
                      </a:pPr>
                      <a:r>
                        <a:rPr lang="en-US" sz="1220" dirty="0">
                          <a:solidFill>
                            <a:srgbClr val="17231F"/>
                          </a:solidFill>
                          <a:latin typeface="Manrope" pitchFamily="34" charset="0"/>
                          <a:ea typeface="Manrope" pitchFamily="34" charset="-122"/>
                          <a:cs typeface="Manrope" pitchFamily="34" charset="-120"/>
                        </a:rPr>
                        <a:t>Restaurant selection</a:t>
                      </a:r>
                      <a:endParaRPr lang="en-US" sz="122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20" dirty="0">
                          <a:solidFill>
                            <a:srgbClr val="17231F"/>
                          </a:solidFill>
                          <a:latin typeface="Manrope" pitchFamily="34" charset="0"/>
                          <a:ea typeface="Manrope" pitchFamily="34" charset="-122"/>
                          <a:cs typeface="Manrope" pitchFamily="34" charset="-120"/>
                        </a:rPr>
                        <a:t>Single installation</a:t>
                      </a:r>
                      <a:endParaRPr lang="en-US" sz="122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20" dirty="0">
                          <a:solidFill>
                            <a:srgbClr val="17231F"/>
                          </a:solidFill>
                          <a:latin typeface="Manrope" pitchFamily="34" charset="0"/>
                          <a:ea typeface="Manrope" pitchFamily="34" charset="-122"/>
                          <a:cs typeface="Manrope" pitchFamily="34" charset="-120"/>
                        </a:rPr>
                        <a:t>Membership selects exactly one restaurant</a:t>
                      </a:r>
                      <a:endParaRPr lang="en-US" sz="122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20" dirty="0">
                          <a:solidFill>
                            <a:srgbClr val="17231F"/>
                          </a:solidFill>
                          <a:latin typeface="Manrope" pitchFamily="34" charset="0"/>
                          <a:ea typeface="Manrope" pitchFamily="34" charset="-122"/>
                          <a:cs typeface="Manrope" pitchFamily="34" charset="-120"/>
                        </a:rPr>
                        <a:t>Code review</a:t>
                      </a:r>
                      <a:endParaRPr lang="en-US" sz="122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r>
              <a:tr h="539496">
                <a:tc>
                  <a:txBody>
                    <a:bodyPr/>
                    <a:lstStyle/>
                    <a:p>
                      <a:pPr indent="0" marL="0">
                        <a:buNone/>
                      </a:pPr>
                      <a:r>
                        <a:rPr lang="en-US" sz="1220" dirty="0">
                          <a:solidFill>
                            <a:srgbClr val="17231F"/>
                          </a:solidFill>
                          <a:latin typeface="Manrope" pitchFamily="34" charset="0"/>
                          <a:ea typeface="Manrope" pitchFamily="34" charset="-122"/>
                          <a:cs typeface="Manrope" pitchFamily="34" charset="-120"/>
                        </a:rPr>
                        <a:t>State storage</a:t>
                      </a:r>
                      <a:endParaRPr lang="en-US" sz="122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20" dirty="0">
                          <a:solidFill>
                            <a:srgbClr val="17231F"/>
                          </a:solidFill>
                          <a:latin typeface="Manrope" pitchFamily="34" charset="0"/>
                          <a:ea typeface="Manrope" pitchFamily="34" charset="-122"/>
                          <a:cs typeface="Manrope" pitchFamily="34" charset="-120"/>
                        </a:rPr>
                        <a:t>SQLite state document</a:t>
                      </a:r>
                      <a:endParaRPr lang="en-US" sz="122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20" dirty="0">
                          <a:solidFill>
                            <a:srgbClr val="17231F"/>
                          </a:solidFill>
                          <a:latin typeface="Manrope" pitchFamily="34" charset="0"/>
                          <a:ea typeface="Manrope" pitchFamily="34" charset="-122"/>
                          <a:cs typeface="Manrope" pitchFamily="34" charset="-120"/>
                        </a:rPr>
                        <a:t>restaurants/{id}/private/state</a:t>
                      </a:r>
                      <a:endParaRPr lang="en-US" sz="122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20" dirty="0">
                          <a:solidFill>
                            <a:srgbClr val="17231F"/>
                          </a:solidFill>
                          <a:latin typeface="Manrope" pitchFamily="34" charset="0"/>
                          <a:ea typeface="Manrope" pitchFamily="34" charset="-122"/>
                          <a:cs typeface="Manrope" pitchFamily="34" charset="-120"/>
                        </a:rPr>
                        <a:t>Code review</a:t>
                      </a:r>
                      <a:endParaRPr lang="en-US" sz="122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r>
              <a:tr h="539496">
                <a:tc>
                  <a:txBody>
                    <a:bodyPr/>
                    <a:lstStyle/>
                    <a:p>
                      <a:pPr indent="0" marL="0">
                        <a:buNone/>
                      </a:pPr>
                      <a:r>
                        <a:rPr lang="en-US" sz="1220" dirty="0">
                          <a:solidFill>
                            <a:srgbClr val="17231F"/>
                          </a:solidFill>
                          <a:latin typeface="Manrope" pitchFamily="34" charset="0"/>
                          <a:ea typeface="Manrope" pitchFamily="34" charset="-122"/>
                          <a:cs typeface="Manrope" pitchFamily="34" charset="-120"/>
                        </a:rPr>
                        <a:t>Client data access</a:t>
                      </a:r>
                      <a:endParaRPr lang="en-US" sz="122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20" dirty="0">
                          <a:solidFill>
                            <a:srgbClr val="17231F"/>
                          </a:solidFill>
                          <a:latin typeface="Manrope" pitchFamily="34" charset="0"/>
                          <a:ea typeface="Manrope" pitchFamily="34" charset="-122"/>
                          <a:cs typeface="Manrope" pitchFamily="34" charset="-120"/>
                        </a:rPr>
                        <a:t>Server API only</a:t>
                      </a:r>
                      <a:endParaRPr lang="en-US" sz="122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20" dirty="0">
                          <a:solidFill>
                            <a:srgbClr val="17231F"/>
                          </a:solidFill>
                          <a:latin typeface="Manrope" pitchFamily="34" charset="0"/>
                          <a:ea typeface="Manrope" pitchFamily="34" charset="-122"/>
                          <a:cs typeface="Manrope" pitchFamily="34" charset="-120"/>
                        </a:rPr>
                        <a:t>Firestore rules deny operational state</a:t>
                      </a:r>
                      <a:endParaRPr lang="en-US" sz="122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20" dirty="0">
                          <a:solidFill>
                            <a:srgbClr val="17231F"/>
                          </a:solidFill>
                          <a:latin typeface="Manrope" pitchFamily="34" charset="0"/>
                          <a:ea typeface="Manrope" pitchFamily="34" charset="-122"/>
                          <a:cs typeface="Manrope" pitchFamily="34" charset="-120"/>
                        </a:rPr>
                        <a:t>Rules inspected</a:t>
                      </a:r>
                      <a:endParaRPr lang="en-US" sz="122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r>
              <a:tr h="539496">
                <a:tc>
                  <a:txBody>
                    <a:bodyPr/>
                    <a:lstStyle/>
                    <a:p>
                      <a:pPr indent="0" marL="0">
                        <a:buNone/>
                      </a:pPr>
                      <a:r>
                        <a:rPr lang="en-US" sz="1220" dirty="0">
                          <a:solidFill>
                            <a:srgbClr val="17231F"/>
                          </a:solidFill>
                          <a:latin typeface="Manrope" pitchFamily="34" charset="0"/>
                          <a:ea typeface="Manrope" pitchFamily="34" charset="-122"/>
                          <a:cs typeface="Manrope" pitchFamily="34" charset="-120"/>
                        </a:rPr>
                        <a:t>Isolation test</a:t>
                      </a:r>
                      <a:endParaRPr lang="en-US" sz="122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20" dirty="0">
                          <a:solidFill>
                            <a:srgbClr val="17231F"/>
                          </a:solidFill>
                          <a:latin typeface="Manrope" pitchFamily="34" charset="0"/>
                          <a:ea typeface="Manrope" pitchFamily="34" charset="-122"/>
                          <a:cs typeface="Manrope" pitchFamily="34" charset="-120"/>
                        </a:rPr>
                        <a:t>Guest and staff scope tests pass</a:t>
                      </a:r>
                      <a:endParaRPr lang="en-US" sz="122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20" dirty="0">
                          <a:solidFill>
                            <a:srgbClr val="17231F"/>
                          </a:solidFill>
                          <a:latin typeface="Manrope" pitchFamily="34" charset="0"/>
                          <a:ea typeface="Manrope" pitchFamily="34" charset="-122"/>
                          <a:cs typeface="Manrope" pitchFamily="34" charset="-120"/>
                        </a:rPr>
                        <a:t>Emulator test skipped today</a:t>
                      </a:r>
                      <a:endParaRPr lang="en-US" sz="122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20" dirty="0">
                          <a:solidFill>
                            <a:srgbClr val="17231F"/>
                          </a:solidFill>
                          <a:latin typeface="Manrope" pitchFamily="34" charset="0"/>
                          <a:ea typeface="Manrope" pitchFamily="34" charset="-122"/>
                          <a:cs typeface="Manrope" pitchFamily="34" charset="-120"/>
                        </a:rPr>
                        <a:t>Release gate</a:t>
                      </a:r>
                      <a:endParaRPr lang="en-US" sz="122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r>
            </a:tbl>
          </a:graphicData>
        </a:graphic>
      </p:graphicFrame>
      <p:sp>
        <p:nvSpPr>
          <p:cNvPr id="9" name="Shape 5"/>
          <p:cNvSpPr/>
          <p:nvPr/>
        </p:nvSpPr>
        <p:spPr>
          <a:xfrm>
            <a:off x="713232" y="1536192"/>
            <a:ext cx="10771632" cy="530352"/>
          </a:xfrm>
          <a:prstGeom prst="rect">
            <a:avLst/>
          </a:prstGeom>
          <a:solidFill>
            <a:srgbClr val="173F35"/>
          </a:solidFill>
          <a:ln w="12700">
            <a:solidFill>
              <a:srgbClr val="FFFFFF">
                <a:alpha val="0"/>
              </a:srgbClr>
            </a:solidFill>
            <a:prstDash val="solid"/>
          </a:ln>
        </p:spPr>
      </p:sp>
      <p:sp>
        <p:nvSpPr>
          <p:cNvPr id="10" name="Text 6"/>
          <p:cNvSpPr txBox="1"/>
          <p:nvPr/>
        </p:nvSpPr>
        <p:spPr>
          <a:xfrm>
            <a:off x="896112" y="1682496"/>
            <a:ext cx="1463040" cy="201168"/>
          </a:xfrm>
          <a:prstGeom prst="rect">
            <a:avLst/>
          </a:prstGeom>
          <a:noFill/>
          <a:ln/>
        </p:spPr>
        <p:txBody>
          <a:bodyPr wrap="square" lIns="0" tIns="0" rIns="0" bIns="0" rtlCol="0" anchor="ctr">
            <a:normAutofit/>
          </a:bodyPr>
          <a:lstStyle/>
          <a:p>
            <a:pPr algn="l" indent="0" marL="0">
              <a:buNone/>
            </a:pPr>
            <a:r>
              <a:rPr lang="en-US" sz="1120" b="1" dirty="0">
                <a:solidFill>
                  <a:srgbClr val="FFFFFF"/>
                </a:solidFill>
                <a:latin typeface="Manrope" pitchFamily="34" charset="0"/>
                <a:ea typeface="Manrope" pitchFamily="34" charset="-122"/>
                <a:cs typeface="Manrope" pitchFamily="34" charset="-120"/>
              </a:rPr>
              <a:t>Concern</a:t>
            </a:r>
            <a:endParaRPr lang="en-US" sz="1120" dirty="0"/>
          </a:p>
        </p:txBody>
      </p:sp>
      <p:sp>
        <p:nvSpPr>
          <p:cNvPr id="11" name="Text 7"/>
          <p:cNvSpPr txBox="1"/>
          <p:nvPr/>
        </p:nvSpPr>
        <p:spPr>
          <a:xfrm>
            <a:off x="2834640" y="1682496"/>
            <a:ext cx="1828800" cy="201168"/>
          </a:xfrm>
          <a:prstGeom prst="rect">
            <a:avLst/>
          </a:prstGeom>
          <a:noFill/>
          <a:ln/>
        </p:spPr>
        <p:txBody>
          <a:bodyPr wrap="square" lIns="0" tIns="0" rIns="0" bIns="0" rtlCol="0" anchor="ctr">
            <a:normAutofit/>
          </a:bodyPr>
          <a:lstStyle/>
          <a:p>
            <a:pPr algn="l" indent="0" marL="0">
              <a:buNone/>
            </a:pPr>
            <a:r>
              <a:rPr lang="en-US" sz="1120" b="1" dirty="0">
                <a:solidFill>
                  <a:srgbClr val="FFFFFF"/>
                </a:solidFill>
                <a:latin typeface="Manrope" pitchFamily="34" charset="0"/>
                <a:ea typeface="Manrope" pitchFamily="34" charset="-122"/>
                <a:cs typeface="Manrope" pitchFamily="34" charset="-120"/>
              </a:rPr>
              <a:t>Local demo</a:t>
            </a:r>
            <a:endParaRPr lang="en-US" sz="1120" dirty="0"/>
          </a:p>
        </p:txBody>
      </p:sp>
      <p:sp>
        <p:nvSpPr>
          <p:cNvPr id="12" name="Text 8"/>
          <p:cNvSpPr txBox="1"/>
          <p:nvPr/>
        </p:nvSpPr>
        <p:spPr>
          <a:xfrm>
            <a:off x="5184648" y="1682496"/>
            <a:ext cx="3017520" cy="201168"/>
          </a:xfrm>
          <a:prstGeom prst="rect">
            <a:avLst/>
          </a:prstGeom>
          <a:noFill/>
          <a:ln/>
        </p:spPr>
        <p:txBody>
          <a:bodyPr wrap="square" lIns="0" tIns="0" rIns="0" bIns="0" rtlCol="0" anchor="ctr">
            <a:normAutofit/>
          </a:bodyPr>
          <a:lstStyle/>
          <a:p>
            <a:pPr algn="l" indent="0" marL="0">
              <a:buNone/>
            </a:pPr>
            <a:r>
              <a:rPr lang="en-US" sz="1120" b="1" dirty="0">
                <a:solidFill>
                  <a:srgbClr val="FFFFFF"/>
                </a:solidFill>
                <a:latin typeface="Manrope" pitchFamily="34" charset="0"/>
                <a:ea typeface="Manrope" pitchFamily="34" charset="-122"/>
                <a:cs typeface="Manrope" pitchFamily="34" charset="-120"/>
              </a:rPr>
              <a:t>Firebase tenant mode</a:t>
            </a:r>
            <a:endParaRPr lang="en-US" sz="1120" dirty="0"/>
          </a:p>
        </p:txBody>
      </p:sp>
      <p:sp>
        <p:nvSpPr>
          <p:cNvPr id="13" name="Text 9"/>
          <p:cNvSpPr txBox="1"/>
          <p:nvPr/>
        </p:nvSpPr>
        <p:spPr>
          <a:xfrm>
            <a:off x="8897112" y="1682496"/>
            <a:ext cx="2011680" cy="201168"/>
          </a:xfrm>
          <a:prstGeom prst="rect">
            <a:avLst/>
          </a:prstGeom>
          <a:noFill/>
          <a:ln/>
        </p:spPr>
        <p:txBody>
          <a:bodyPr wrap="square" lIns="0" tIns="0" rIns="0" bIns="0" rtlCol="0" anchor="ctr">
            <a:normAutofit/>
          </a:bodyPr>
          <a:lstStyle/>
          <a:p>
            <a:pPr algn="l" indent="0" marL="0">
              <a:buNone/>
            </a:pPr>
            <a:r>
              <a:rPr lang="en-US" sz="1120" b="1" dirty="0">
                <a:solidFill>
                  <a:srgbClr val="FFFFFF"/>
                </a:solidFill>
                <a:latin typeface="Manrope" pitchFamily="34" charset="0"/>
                <a:ea typeface="Manrope" pitchFamily="34" charset="-122"/>
                <a:cs typeface="Manrope" pitchFamily="34" charset="-120"/>
              </a:rPr>
              <a:t>Current evidence</a:t>
            </a:r>
            <a:endParaRPr lang="en-US" sz="1120" dirty="0"/>
          </a:p>
        </p:txBody>
      </p:sp>
      <p:sp>
        <p:nvSpPr>
          <p:cNvPr id="14" name="Text 10"/>
          <p:cNvSpPr txBox="1"/>
          <p:nvPr/>
        </p:nvSpPr>
        <p:spPr>
          <a:xfrm>
            <a:off x="731520" y="5980176"/>
            <a:ext cx="9829800" cy="310896"/>
          </a:xfrm>
          <a:prstGeom prst="rect">
            <a:avLst/>
          </a:prstGeom>
          <a:noFill/>
          <a:ln/>
        </p:spPr>
        <p:txBody>
          <a:bodyPr wrap="square" lIns="0" tIns="0" rIns="0" bIns="0" rtlCol="0" anchor="ctr">
            <a:normAutofit/>
          </a:bodyPr>
          <a:lstStyle/>
          <a:p>
            <a:pPr algn="l" indent="0" marL="0">
              <a:buNone/>
            </a:pPr>
            <a:r>
              <a:rPr lang="en-US" sz="1300" b="1" dirty="0">
                <a:solidFill>
                  <a:srgbClr val="B94E4E"/>
                </a:solidFill>
                <a:latin typeface="Manrope" pitchFamily="34" charset="0"/>
                <a:ea typeface="Manrope" pitchFamily="34" charset="-122"/>
                <a:cs typeface="Manrope" pitchFamily="34" charset="-120"/>
              </a:rPr>
              <a:t>Hosted mode must pass emulator isolation, backup/restore and incident-response rehearsal before production launch.</a:t>
            </a:r>
            <a:endParaRPr lang="en-US" sz="1300" dirty="0"/>
          </a:p>
        </p:txBody>
      </p:sp>
      <p:sp>
        <p:nvSpPr>
          <p:cNvPr id="15" name="Text 11"/>
          <p:cNvSpPr txBox="1"/>
          <p:nvPr/>
        </p:nvSpPr>
        <p:spPr>
          <a:xfrm>
            <a:off x="658368" y="6565392"/>
            <a:ext cx="5303520" cy="118872"/>
          </a:xfrm>
          <a:prstGeom prst="rect">
            <a:avLst/>
          </a:prstGeom>
          <a:noFill/>
          <a:ln/>
        </p:spPr>
        <p:txBody>
          <a:bodyPr wrap="square" lIns="0" tIns="0" rIns="0" bIns="0" rtlCol="0" anchor="t">
            <a:normAutofit/>
          </a:bodyPr>
          <a:lstStyle/>
          <a:p>
            <a:pPr algn="l" indent="0" marL="0">
              <a:buNone/>
            </a:pPr>
            <a:r>
              <a:rPr lang="en-US" sz="850" dirty="0">
                <a:solidFill>
                  <a:srgbClr val="66736A"/>
                </a:solidFill>
                <a:latin typeface="Manrope" pitchFamily="34" charset="0"/>
                <a:ea typeface="Manrope" pitchFamily="34" charset="-122"/>
                <a:cs typeface="Manrope" pitchFamily="34" charset="-120"/>
              </a:rPr>
              <a:t>No claim of completed production certification</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384048" y="6510528"/>
            <a:ext cx="11402568" cy="0"/>
          </a:xfrm>
          <a:prstGeom prst="line">
            <a:avLst/>
          </a:prstGeom>
          <a:noFill/>
          <a:ln w="8890">
            <a:solidFill>
              <a:srgbClr val="D4DCD5"/>
            </a:solidFill>
            <a:prstDash val="solid"/>
          </a:ln>
        </p:spPr>
      </p:sp>
      <p:pic>
        <p:nvPicPr>
          <p:cNvPr id="3" name="Image 0" descr="/Users/tank/Downloads/Resuto-main/.codex-build/resuto-impactx-pitch/resuto-original-mark.png">    </p:cNvPr>
          <p:cNvPicPr>
            <a:picLocks noChangeAspect="1"/>
          </p:cNvPicPr>
          <p:nvPr/>
        </p:nvPicPr>
        <p:blipFill>
          <a:blip r:embed="rId1"/>
          <a:stretch>
            <a:fillRect/>
          </a:stretch>
        </p:blipFill>
        <p:spPr>
          <a:xfrm>
            <a:off x="384048" y="210312"/>
            <a:ext cx="356616" cy="338328"/>
          </a:xfrm>
          <a:prstGeom prst="rect">
            <a:avLst/>
          </a:prstGeom>
        </p:spPr>
      </p:pic>
      <p:sp>
        <p:nvSpPr>
          <p:cNvPr id="4" name="Text 1"/>
          <p:cNvSpPr txBox="1"/>
          <p:nvPr/>
        </p:nvSpPr>
        <p:spPr>
          <a:xfrm>
            <a:off x="786384" y="283464"/>
            <a:ext cx="914400" cy="164592"/>
          </a:xfrm>
          <a:prstGeom prst="rect">
            <a:avLst/>
          </a:prstGeom>
          <a:noFill/>
          <a:ln/>
        </p:spPr>
        <p:txBody>
          <a:bodyPr wrap="square" lIns="0" tIns="0" rIns="0" bIns="0" rtlCol="0" anchor="t">
            <a:normAutofit/>
          </a:bodyPr>
          <a:lstStyle/>
          <a:p>
            <a:pPr algn="l" indent="0" marL="0">
              <a:buNone/>
            </a:pPr>
            <a:r>
              <a:rPr lang="en-US" sz="900" b="1" dirty="0">
                <a:solidFill>
                  <a:srgbClr val="173F35"/>
                </a:solidFill>
                <a:latin typeface="Manrope" pitchFamily="34" charset="0"/>
                <a:ea typeface="Manrope" pitchFamily="34" charset="-122"/>
                <a:cs typeface="Manrope" pitchFamily="34" charset="-120"/>
              </a:rPr>
              <a:t>RESUTO</a:t>
            </a:r>
            <a:endParaRPr lang="en-US" sz="900" dirty="0"/>
          </a:p>
        </p:txBody>
      </p:sp>
      <p:sp>
        <p:nvSpPr>
          <p:cNvPr id="5" name="Text 2"/>
          <p:cNvSpPr txBox="1"/>
          <p:nvPr/>
        </p:nvSpPr>
        <p:spPr>
          <a:xfrm>
            <a:off x="9829800" y="274320"/>
            <a:ext cx="1691640" cy="146304"/>
          </a:xfrm>
          <a:prstGeom prst="rect">
            <a:avLst/>
          </a:prstGeom>
          <a:noFill/>
          <a:ln/>
        </p:spPr>
        <p:txBody>
          <a:bodyPr wrap="square" lIns="0" tIns="0" rIns="0" bIns="0" rtlCol="0" anchor="ctr">
            <a:normAutofit/>
          </a:bodyPr>
          <a:lstStyle/>
          <a:p>
            <a:pPr algn="r" indent="0" marL="0">
              <a:buNone/>
            </a:pPr>
            <a:r>
              <a:rPr lang="en-US" sz="850" b="1" spc="140" kern="0" dirty="0">
                <a:solidFill>
                  <a:srgbClr val="D89A32"/>
                </a:solidFill>
                <a:latin typeface="Manrope" pitchFamily="34" charset="0"/>
                <a:ea typeface="Manrope" pitchFamily="34" charset="-122"/>
                <a:cs typeface="Manrope" pitchFamily="34" charset="-120"/>
              </a:rPr>
              <a:t>APPENDIX · GEMINI</a:t>
            </a:r>
            <a:endParaRPr lang="en-US" sz="850" dirty="0"/>
          </a:p>
        </p:txBody>
      </p:sp>
      <p:sp>
        <p:nvSpPr>
          <p:cNvPr id="6" name="Text 3"/>
          <p:cNvSpPr txBox="1"/>
          <p:nvPr/>
        </p:nvSpPr>
        <p:spPr>
          <a:xfrm>
            <a:off x="658368" y="557784"/>
            <a:ext cx="10835640" cy="530352"/>
          </a:xfrm>
          <a:prstGeom prst="rect">
            <a:avLst/>
          </a:prstGeom>
          <a:noFill/>
          <a:ln/>
        </p:spPr>
        <p:txBody>
          <a:bodyPr wrap="square" lIns="0" tIns="0" rIns="0" bIns="0" rtlCol="0" anchor="t">
            <a:normAutofit/>
          </a:bodyPr>
          <a:lstStyle/>
          <a:p>
            <a:pPr algn="l" indent="0" marL="0">
              <a:buNone/>
            </a:pPr>
            <a:r>
              <a:rPr lang="en-US" sz="2800" b="1" dirty="0">
                <a:solidFill>
                  <a:srgbClr val="17231F"/>
                </a:solidFill>
                <a:latin typeface="Manrope" pitchFamily="34" charset="0"/>
                <a:ea typeface="Manrope" pitchFamily="34" charset="-122"/>
                <a:cs typeface="Manrope" pitchFamily="34" charset="-120"/>
              </a:rPr>
              <a:t>Gemini controls and fallback behavior</a:t>
            </a:r>
            <a:endParaRPr lang="en-US" sz="2800" dirty="0"/>
          </a:p>
        </p:txBody>
      </p:sp>
      <p:sp>
        <p:nvSpPr>
          <p:cNvPr id="7" name="Text 4"/>
          <p:cNvSpPr txBox="1"/>
          <p:nvPr/>
        </p:nvSpPr>
        <p:spPr>
          <a:xfrm>
            <a:off x="676656" y="1097280"/>
            <a:ext cx="10469880" cy="347472"/>
          </a:xfrm>
          <a:prstGeom prst="rect">
            <a:avLst/>
          </a:prstGeom>
          <a:noFill/>
          <a:ln/>
        </p:spPr>
        <p:txBody>
          <a:bodyPr wrap="square" lIns="0" tIns="0" rIns="0" bIns="0" rtlCol="0" anchor="t">
            <a:normAutofit/>
          </a:bodyPr>
          <a:lstStyle/>
          <a:p>
            <a:pPr algn="l" indent="0" marL="0">
              <a:buNone/>
            </a:pPr>
            <a:r>
              <a:rPr lang="en-US" sz="1450" dirty="0">
                <a:solidFill>
                  <a:srgbClr val="66736A"/>
                </a:solidFill>
                <a:latin typeface="Manrope" pitchFamily="34" charset="0"/>
                <a:ea typeface="Manrope" pitchFamily="34" charset="-122"/>
                <a:cs typeface="Manrope" pitchFamily="34" charset="-120"/>
              </a:rPr>
              <a:t>AI output stays bounded by restaurant data and explicit human action</a:t>
            </a:r>
            <a:endParaRPr lang="en-US" sz="1450" dirty="0"/>
          </a:p>
        </p:txBody>
      </p:sp>
      <p:sp>
        <p:nvSpPr>
          <p:cNvPr id="8" name="Text 5"/>
          <p:cNvSpPr txBox="1"/>
          <p:nvPr/>
        </p:nvSpPr>
        <p:spPr>
          <a:xfrm>
            <a:off x="694944" y="1572768"/>
            <a:ext cx="3246120" cy="429768"/>
          </a:xfrm>
          <a:prstGeom prst="rect">
            <a:avLst/>
          </a:prstGeom>
          <a:noFill/>
          <a:ln/>
        </p:spPr>
        <p:txBody>
          <a:bodyPr wrap="square" lIns="0" tIns="0" rIns="0" bIns="0" rtlCol="0" anchor="ctr">
            <a:normAutofit/>
          </a:bodyPr>
          <a:lstStyle/>
          <a:p>
            <a:pPr algn="l" indent="0" marL="0">
              <a:buNone/>
            </a:pPr>
            <a:r>
              <a:rPr lang="en-US" sz="2000" b="1" dirty="0">
                <a:solidFill>
                  <a:srgbClr val="173F35"/>
                </a:solidFill>
                <a:latin typeface="Manrope" pitchFamily="34" charset="0"/>
                <a:ea typeface="Manrope" pitchFamily="34" charset="-122"/>
                <a:cs typeface="Manrope" pitchFamily="34" charset="-120"/>
              </a:rPr>
              <a:t>Guest recommendation</a:t>
            </a:r>
            <a:endParaRPr lang="en-US" sz="2000" dirty="0"/>
          </a:p>
        </p:txBody>
      </p:sp>
      <p:sp>
        <p:nvSpPr>
          <p:cNvPr id="9" name="Text 6"/>
          <p:cNvSpPr txBox="1"/>
          <p:nvPr/>
        </p:nvSpPr>
        <p:spPr>
          <a:xfrm>
            <a:off x="694944" y="2258568"/>
            <a:ext cx="804672" cy="219456"/>
          </a:xfrm>
          <a:prstGeom prst="rect">
            <a:avLst/>
          </a:prstGeom>
          <a:noFill/>
          <a:ln/>
        </p:spPr>
        <p:txBody>
          <a:bodyPr wrap="square" lIns="0" tIns="0" rIns="0" bIns="0" rtlCol="0" anchor="ctr">
            <a:normAutofit/>
          </a:bodyPr>
          <a:lstStyle/>
          <a:p>
            <a:pPr algn="l" indent="0" marL="0">
              <a:buNone/>
            </a:pPr>
            <a:r>
              <a:rPr lang="en-US" sz="1000" b="1" dirty="0">
                <a:solidFill>
                  <a:srgbClr val="E8763C"/>
                </a:solidFill>
                <a:latin typeface="Manrope" pitchFamily="34" charset="0"/>
                <a:ea typeface="Manrope" pitchFamily="34" charset="-122"/>
                <a:cs typeface="Manrope" pitchFamily="34" charset="-120"/>
              </a:rPr>
              <a:t>Input</a:t>
            </a:r>
            <a:endParaRPr lang="en-US" sz="1000" dirty="0"/>
          </a:p>
        </p:txBody>
      </p:sp>
      <p:sp>
        <p:nvSpPr>
          <p:cNvPr id="10" name="Text 7"/>
          <p:cNvSpPr txBox="1"/>
          <p:nvPr/>
        </p:nvSpPr>
        <p:spPr>
          <a:xfrm>
            <a:off x="1591056" y="2194560"/>
            <a:ext cx="2350008" cy="612648"/>
          </a:xfrm>
          <a:prstGeom prst="rect">
            <a:avLst/>
          </a:prstGeom>
          <a:noFill/>
          <a:ln/>
        </p:spPr>
        <p:txBody>
          <a:bodyPr wrap="square" lIns="0" tIns="0" rIns="0" bIns="0" rtlCol="0" anchor="t">
            <a:normAutofit/>
          </a:bodyPr>
          <a:lstStyle/>
          <a:p>
            <a:pPr algn="l" indent="0" marL="0">
              <a:buNone/>
            </a:pPr>
            <a:r>
              <a:rPr lang="en-US" sz="1280" dirty="0">
                <a:solidFill>
                  <a:srgbClr val="17231F"/>
                </a:solidFill>
                <a:latin typeface="Manrope" pitchFamily="34" charset="0"/>
                <a:ea typeface="Manrope" pitchFamily="34" charset="-122"/>
                <a:cs typeface="Manrope" pitchFamily="34" charset="-120"/>
              </a:rPr>
              <a:t>Menu IDs, price, stock, budget, party and exclusions</a:t>
            </a:r>
            <a:endParaRPr lang="en-US" sz="1280" dirty="0"/>
          </a:p>
        </p:txBody>
      </p:sp>
      <p:sp>
        <p:nvSpPr>
          <p:cNvPr id="11" name="Shape 8"/>
          <p:cNvSpPr/>
          <p:nvPr/>
        </p:nvSpPr>
        <p:spPr>
          <a:xfrm>
            <a:off x="694944" y="3026664"/>
            <a:ext cx="3246120" cy="0"/>
          </a:xfrm>
          <a:prstGeom prst="line">
            <a:avLst/>
          </a:prstGeom>
          <a:noFill/>
          <a:ln w="10160">
            <a:solidFill>
              <a:srgbClr val="D4DCD5"/>
            </a:solidFill>
            <a:prstDash val="solid"/>
          </a:ln>
        </p:spPr>
      </p:sp>
      <p:sp>
        <p:nvSpPr>
          <p:cNvPr id="12" name="Text 9"/>
          <p:cNvSpPr txBox="1"/>
          <p:nvPr/>
        </p:nvSpPr>
        <p:spPr>
          <a:xfrm>
            <a:off x="694944" y="3392424"/>
            <a:ext cx="804672" cy="219456"/>
          </a:xfrm>
          <a:prstGeom prst="rect">
            <a:avLst/>
          </a:prstGeom>
          <a:noFill/>
          <a:ln/>
        </p:spPr>
        <p:txBody>
          <a:bodyPr wrap="square" lIns="0" tIns="0" rIns="0" bIns="0" rtlCol="0" anchor="ctr">
            <a:normAutofit/>
          </a:bodyPr>
          <a:lstStyle/>
          <a:p>
            <a:pPr algn="l" indent="0" marL="0">
              <a:buNone/>
            </a:pPr>
            <a:r>
              <a:rPr lang="en-US" sz="1000" b="1" dirty="0">
                <a:solidFill>
                  <a:srgbClr val="E8763C"/>
                </a:solidFill>
                <a:latin typeface="Manrope" pitchFamily="34" charset="0"/>
                <a:ea typeface="Manrope" pitchFamily="34" charset="-122"/>
                <a:cs typeface="Manrope" pitchFamily="34" charset="-120"/>
              </a:rPr>
              <a:t>Validation</a:t>
            </a:r>
            <a:endParaRPr lang="en-US" sz="1000" dirty="0"/>
          </a:p>
        </p:txBody>
      </p:sp>
      <p:sp>
        <p:nvSpPr>
          <p:cNvPr id="13" name="Text 10"/>
          <p:cNvSpPr txBox="1"/>
          <p:nvPr/>
        </p:nvSpPr>
        <p:spPr>
          <a:xfrm>
            <a:off x="1591056" y="3328416"/>
            <a:ext cx="2350008" cy="612648"/>
          </a:xfrm>
          <a:prstGeom prst="rect">
            <a:avLst/>
          </a:prstGeom>
          <a:noFill/>
          <a:ln/>
        </p:spPr>
        <p:txBody>
          <a:bodyPr wrap="square" lIns="0" tIns="0" rIns="0" bIns="0" rtlCol="0" anchor="t">
            <a:normAutofit/>
          </a:bodyPr>
          <a:lstStyle/>
          <a:p>
            <a:pPr algn="l" indent="0" marL="0">
              <a:buNone/>
            </a:pPr>
            <a:r>
              <a:rPr lang="en-US" sz="1280" dirty="0">
                <a:solidFill>
                  <a:srgbClr val="17231F"/>
                </a:solidFill>
                <a:latin typeface="Manrope" pitchFamily="34" charset="0"/>
                <a:ea typeface="Manrope" pitchFamily="34" charset="-122"/>
                <a:cs typeface="Manrope" pitchFamily="34" charset="-120"/>
              </a:rPr>
              <a:t>Known IDs, available quantity and total under budget</a:t>
            </a:r>
            <a:endParaRPr lang="en-US" sz="1280" dirty="0"/>
          </a:p>
        </p:txBody>
      </p:sp>
      <p:sp>
        <p:nvSpPr>
          <p:cNvPr id="14" name="Shape 11"/>
          <p:cNvSpPr/>
          <p:nvPr/>
        </p:nvSpPr>
        <p:spPr>
          <a:xfrm>
            <a:off x="694944" y="4160520"/>
            <a:ext cx="3246120" cy="0"/>
          </a:xfrm>
          <a:prstGeom prst="line">
            <a:avLst/>
          </a:prstGeom>
          <a:noFill/>
          <a:ln w="10160">
            <a:solidFill>
              <a:srgbClr val="D4DCD5"/>
            </a:solidFill>
            <a:prstDash val="solid"/>
          </a:ln>
        </p:spPr>
      </p:sp>
      <p:sp>
        <p:nvSpPr>
          <p:cNvPr id="15" name="Text 12"/>
          <p:cNvSpPr txBox="1"/>
          <p:nvPr/>
        </p:nvSpPr>
        <p:spPr>
          <a:xfrm>
            <a:off x="694944" y="4526280"/>
            <a:ext cx="804672" cy="219456"/>
          </a:xfrm>
          <a:prstGeom prst="rect">
            <a:avLst/>
          </a:prstGeom>
          <a:noFill/>
          <a:ln/>
        </p:spPr>
        <p:txBody>
          <a:bodyPr wrap="square" lIns="0" tIns="0" rIns="0" bIns="0" rtlCol="0" anchor="ctr">
            <a:normAutofit/>
          </a:bodyPr>
          <a:lstStyle/>
          <a:p>
            <a:pPr algn="l" indent="0" marL="0">
              <a:buNone/>
            </a:pPr>
            <a:r>
              <a:rPr lang="en-US" sz="1000" b="1" dirty="0">
                <a:solidFill>
                  <a:srgbClr val="E8763C"/>
                </a:solidFill>
                <a:latin typeface="Manrope" pitchFamily="34" charset="0"/>
                <a:ea typeface="Manrope" pitchFamily="34" charset="-122"/>
                <a:cs typeface="Manrope" pitchFamily="34" charset="-120"/>
              </a:rPr>
              <a:t>Action</a:t>
            </a:r>
            <a:endParaRPr lang="en-US" sz="1000" dirty="0"/>
          </a:p>
        </p:txBody>
      </p:sp>
      <p:sp>
        <p:nvSpPr>
          <p:cNvPr id="16" name="Text 13"/>
          <p:cNvSpPr txBox="1"/>
          <p:nvPr/>
        </p:nvSpPr>
        <p:spPr>
          <a:xfrm>
            <a:off x="1591056" y="4462272"/>
            <a:ext cx="2350008" cy="612648"/>
          </a:xfrm>
          <a:prstGeom prst="rect">
            <a:avLst/>
          </a:prstGeom>
          <a:noFill/>
          <a:ln/>
        </p:spPr>
        <p:txBody>
          <a:bodyPr wrap="square" lIns="0" tIns="0" rIns="0" bIns="0" rtlCol="0" anchor="t">
            <a:normAutofit/>
          </a:bodyPr>
          <a:lstStyle/>
          <a:p>
            <a:pPr algn="l" indent="0" marL="0">
              <a:buNone/>
            </a:pPr>
            <a:r>
              <a:rPr lang="en-US" sz="1280" dirty="0">
                <a:solidFill>
                  <a:srgbClr val="17231F"/>
                </a:solidFill>
                <a:latin typeface="Manrope" pitchFamily="34" charset="0"/>
                <a:ea typeface="Manrope" pitchFamily="34" charset="-122"/>
                <a:cs typeface="Manrope" pitchFamily="34" charset="-120"/>
              </a:rPr>
              <a:t>Guest adds the meal and confirms the order</a:t>
            </a:r>
            <a:endParaRPr lang="en-US" sz="1280" dirty="0"/>
          </a:p>
        </p:txBody>
      </p:sp>
      <p:sp>
        <p:nvSpPr>
          <p:cNvPr id="17" name="Text 14"/>
          <p:cNvSpPr txBox="1"/>
          <p:nvPr/>
        </p:nvSpPr>
        <p:spPr>
          <a:xfrm>
            <a:off x="4425696" y="1572768"/>
            <a:ext cx="3246120" cy="429768"/>
          </a:xfrm>
          <a:prstGeom prst="rect">
            <a:avLst/>
          </a:prstGeom>
          <a:noFill/>
          <a:ln/>
        </p:spPr>
        <p:txBody>
          <a:bodyPr wrap="square" lIns="0" tIns="0" rIns="0" bIns="0" rtlCol="0" anchor="ctr">
            <a:normAutofit/>
          </a:bodyPr>
          <a:lstStyle/>
          <a:p>
            <a:pPr algn="l" indent="0" marL="0">
              <a:buNone/>
            </a:pPr>
            <a:r>
              <a:rPr lang="en-US" sz="2000" b="1" dirty="0">
                <a:solidFill>
                  <a:srgbClr val="173F35"/>
                </a:solidFill>
                <a:latin typeface="Manrope" pitchFamily="34" charset="0"/>
                <a:ea typeface="Manrope" pitchFamily="34" charset="-122"/>
                <a:cs typeface="Manrope" pitchFamily="34" charset="-120"/>
              </a:rPr>
              <a:t>Manager extraction</a:t>
            </a:r>
            <a:endParaRPr lang="en-US" sz="2000" dirty="0"/>
          </a:p>
        </p:txBody>
      </p:sp>
      <p:sp>
        <p:nvSpPr>
          <p:cNvPr id="18" name="Text 15"/>
          <p:cNvSpPr txBox="1"/>
          <p:nvPr/>
        </p:nvSpPr>
        <p:spPr>
          <a:xfrm>
            <a:off x="4425696" y="2258568"/>
            <a:ext cx="804672" cy="219456"/>
          </a:xfrm>
          <a:prstGeom prst="rect">
            <a:avLst/>
          </a:prstGeom>
          <a:noFill/>
          <a:ln/>
        </p:spPr>
        <p:txBody>
          <a:bodyPr wrap="square" lIns="0" tIns="0" rIns="0" bIns="0" rtlCol="0" anchor="ctr">
            <a:normAutofit/>
          </a:bodyPr>
          <a:lstStyle/>
          <a:p>
            <a:pPr algn="l" indent="0" marL="0">
              <a:buNone/>
            </a:pPr>
            <a:r>
              <a:rPr lang="en-US" sz="1000" b="1" dirty="0">
                <a:solidFill>
                  <a:srgbClr val="E8763C"/>
                </a:solidFill>
                <a:latin typeface="Manrope" pitchFamily="34" charset="0"/>
                <a:ea typeface="Manrope" pitchFamily="34" charset="-122"/>
                <a:cs typeface="Manrope" pitchFamily="34" charset="-120"/>
              </a:rPr>
              <a:t>Input</a:t>
            </a:r>
            <a:endParaRPr lang="en-US" sz="1000" dirty="0"/>
          </a:p>
        </p:txBody>
      </p:sp>
      <p:sp>
        <p:nvSpPr>
          <p:cNvPr id="19" name="Text 16"/>
          <p:cNvSpPr txBox="1"/>
          <p:nvPr/>
        </p:nvSpPr>
        <p:spPr>
          <a:xfrm>
            <a:off x="5321808" y="2194560"/>
            <a:ext cx="2350008" cy="612648"/>
          </a:xfrm>
          <a:prstGeom prst="rect">
            <a:avLst/>
          </a:prstGeom>
          <a:noFill/>
          <a:ln/>
        </p:spPr>
        <p:txBody>
          <a:bodyPr wrap="square" lIns="0" tIns="0" rIns="0" bIns="0" rtlCol="0" anchor="t">
            <a:normAutofit/>
          </a:bodyPr>
          <a:lstStyle/>
          <a:p>
            <a:pPr algn="l" indent="0" marL="0">
              <a:buNone/>
            </a:pPr>
            <a:r>
              <a:rPr lang="en-US" sz="1280" dirty="0">
                <a:solidFill>
                  <a:srgbClr val="17231F"/>
                </a:solidFill>
                <a:latin typeface="Manrope" pitchFamily="34" charset="0"/>
                <a:ea typeface="Manrope" pitchFamily="34" charset="-122"/>
                <a:cs typeface="Manrope" pitchFamily="34" charset="-120"/>
              </a:rPr>
              <a:t>PDF, image or text treated as untrusted source data</a:t>
            </a:r>
            <a:endParaRPr lang="en-US" sz="1280" dirty="0"/>
          </a:p>
        </p:txBody>
      </p:sp>
      <p:sp>
        <p:nvSpPr>
          <p:cNvPr id="20" name="Shape 17"/>
          <p:cNvSpPr/>
          <p:nvPr/>
        </p:nvSpPr>
        <p:spPr>
          <a:xfrm>
            <a:off x="4425696" y="3026664"/>
            <a:ext cx="3246120" cy="0"/>
          </a:xfrm>
          <a:prstGeom prst="line">
            <a:avLst/>
          </a:prstGeom>
          <a:noFill/>
          <a:ln w="10160">
            <a:solidFill>
              <a:srgbClr val="D4DCD5"/>
            </a:solidFill>
            <a:prstDash val="solid"/>
          </a:ln>
        </p:spPr>
      </p:sp>
      <p:sp>
        <p:nvSpPr>
          <p:cNvPr id="21" name="Text 18"/>
          <p:cNvSpPr txBox="1"/>
          <p:nvPr/>
        </p:nvSpPr>
        <p:spPr>
          <a:xfrm>
            <a:off x="4425696" y="3392424"/>
            <a:ext cx="804672" cy="219456"/>
          </a:xfrm>
          <a:prstGeom prst="rect">
            <a:avLst/>
          </a:prstGeom>
          <a:noFill/>
          <a:ln/>
        </p:spPr>
        <p:txBody>
          <a:bodyPr wrap="square" lIns="0" tIns="0" rIns="0" bIns="0" rtlCol="0" anchor="ctr">
            <a:normAutofit/>
          </a:bodyPr>
          <a:lstStyle/>
          <a:p>
            <a:pPr algn="l" indent="0" marL="0">
              <a:buNone/>
            </a:pPr>
            <a:r>
              <a:rPr lang="en-US" sz="1000" b="1" dirty="0">
                <a:solidFill>
                  <a:srgbClr val="E8763C"/>
                </a:solidFill>
                <a:latin typeface="Manrope" pitchFamily="34" charset="0"/>
                <a:ea typeface="Manrope" pitchFamily="34" charset="-122"/>
                <a:cs typeface="Manrope" pitchFamily="34" charset="-120"/>
              </a:rPr>
              <a:t>Validation</a:t>
            </a:r>
            <a:endParaRPr lang="en-US" sz="1000" dirty="0"/>
          </a:p>
        </p:txBody>
      </p:sp>
      <p:sp>
        <p:nvSpPr>
          <p:cNvPr id="22" name="Text 19"/>
          <p:cNvSpPr txBox="1"/>
          <p:nvPr/>
        </p:nvSpPr>
        <p:spPr>
          <a:xfrm>
            <a:off x="5321808" y="3328416"/>
            <a:ext cx="2350008" cy="612648"/>
          </a:xfrm>
          <a:prstGeom prst="rect">
            <a:avLst/>
          </a:prstGeom>
          <a:noFill/>
          <a:ln/>
        </p:spPr>
        <p:txBody>
          <a:bodyPr wrap="square" lIns="0" tIns="0" rIns="0" bIns="0" rtlCol="0" anchor="t">
            <a:normAutofit/>
          </a:bodyPr>
          <a:lstStyle/>
          <a:p>
            <a:pPr algn="l" indent="0" marL="0">
              <a:buNone/>
            </a:pPr>
            <a:r>
              <a:rPr lang="en-US" sz="1280" dirty="0">
                <a:solidFill>
                  <a:srgbClr val="17231F"/>
                </a:solidFill>
                <a:latin typeface="Manrope" pitchFamily="34" charset="0"/>
                <a:ea typeface="Manrope" pitchFamily="34" charset="-122"/>
                <a:cs typeface="Manrope" pitchFamily="34" charset="-120"/>
              </a:rPr>
              <a:t>Structured schema, confidence, missing prices and uncertain fields</a:t>
            </a:r>
            <a:endParaRPr lang="en-US" sz="1280" dirty="0"/>
          </a:p>
        </p:txBody>
      </p:sp>
      <p:sp>
        <p:nvSpPr>
          <p:cNvPr id="23" name="Shape 20"/>
          <p:cNvSpPr/>
          <p:nvPr/>
        </p:nvSpPr>
        <p:spPr>
          <a:xfrm>
            <a:off x="4425696" y="4160520"/>
            <a:ext cx="3246120" cy="0"/>
          </a:xfrm>
          <a:prstGeom prst="line">
            <a:avLst/>
          </a:prstGeom>
          <a:noFill/>
          <a:ln w="10160">
            <a:solidFill>
              <a:srgbClr val="D4DCD5"/>
            </a:solidFill>
            <a:prstDash val="solid"/>
          </a:ln>
        </p:spPr>
      </p:sp>
      <p:sp>
        <p:nvSpPr>
          <p:cNvPr id="24" name="Text 21"/>
          <p:cNvSpPr txBox="1"/>
          <p:nvPr/>
        </p:nvSpPr>
        <p:spPr>
          <a:xfrm>
            <a:off x="4425696" y="4526280"/>
            <a:ext cx="804672" cy="219456"/>
          </a:xfrm>
          <a:prstGeom prst="rect">
            <a:avLst/>
          </a:prstGeom>
          <a:noFill/>
          <a:ln/>
        </p:spPr>
        <p:txBody>
          <a:bodyPr wrap="square" lIns="0" tIns="0" rIns="0" bIns="0" rtlCol="0" anchor="ctr">
            <a:normAutofit/>
          </a:bodyPr>
          <a:lstStyle/>
          <a:p>
            <a:pPr algn="l" indent="0" marL="0">
              <a:buNone/>
            </a:pPr>
            <a:r>
              <a:rPr lang="en-US" sz="1000" b="1" dirty="0">
                <a:solidFill>
                  <a:srgbClr val="E8763C"/>
                </a:solidFill>
                <a:latin typeface="Manrope" pitchFamily="34" charset="0"/>
                <a:ea typeface="Manrope" pitchFamily="34" charset="-122"/>
                <a:cs typeface="Manrope" pitchFamily="34" charset="-120"/>
              </a:rPr>
              <a:t>Action</a:t>
            </a:r>
            <a:endParaRPr lang="en-US" sz="1000" dirty="0"/>
          </a:p>
        </p:txBody>
      </p:sp>
      <p:sp>
        <p:nvSpPr>
          <p:cNvPr id="25" name="Text 22"/>
          <p:cNvSpPr txBox="1"/>
          <p:nvPr/>
        </p:nvSpPr>
        <p:spPr>
          <a:xfrm>
            <a:off x="5321808" y="4462272"/>
            <a:ext cx="2350008" cy="612648"/>
          </a:xfrm>
          <a:prstGeom prst="rect">
            <a:avLst/>
          </a:prstGeom>
          <a:noFill/>
          <a:ln/>
        </p:spPr>
        <p:txBody>
          <a:bodyPr wrap="square" lIns="0" tIns="0" rIns="0" bIns="0" rtlCol="0" anchor="t">
            <a:normAutofit/>
          </a:bodyPr>
          <a:lstStyle/>
          <a:p>
            <a:pPr algn="l" indent="0" marL="0">
              <a:buNone/>
            </a:pPr>
            <a:r>
              <a:rPr lang="en-US" sz="1280" dirty="0">
                <a:solidFill>
                  <a:srgbClr val="17231F"/>
                </a:solidFill>
                <a:latin typeface="Manrope" pitchFamily="34" charset="0"/>
                <a:ea typeface="Manrope" pitchFamily="34" charset="-122"/>
                <a:cs typeface="Manrope" pitchFamily="34" charset="-120"/>
              </a:rPr>
              <a:t>Manager edits, approves and publishes separately</a:t>
            </a:r>
            <a:endParaRPr lang="en-US" sz="1280" dirty="0"/>
          </a:p>
        </p:txBody>
      </p:sp>
      <p:sp>
        <p:nvSpPr>
          <p:cNvPr id="26" name="Text 23"/>
          <p:cNvSpPr txBox="1"/>
          <p:nvPr/>
        </p:nvSpPr>
        <p:spPr>
          <a:xfrm>
            <a:off x="8156448" y="1572768"/>
            <a:ext cx="3246120" cy="429768"/>
          </a:xfrm>
          <a:prstGeom prst="rect">
            <a:avLst/>
          </a:prstGeom>
          <a:noFill/>
          <a:ln/>
        </p:spPr>
        <p:txBody>
          <a:bodyPr wrap="square" lIns="0" tIns="0" rIns="0" bIns="0" rtlCol="0" anchor="ctr">
            <a:normAutofit/>
          </a:bodyPr>
          <a:lstStyle/>
          <a:p>
            <a:pPr algn="l" indent="0" marL="0">
              <a:buNone/>
            </a:pPr>
            <a:r>
              <a:rPr lang="en-US" sz="2000" b="1" dirty="0">
                <a:solidFill>
                  <a:srgbClr val="173F35"/>
                </a:solidFill>
                <a:latin typeface="Manrope" pitchFamily="34" charset="0"/>
                <a:ea typeface="Manrope" pitchFamily="34" charset="-122"/>
                <a:cs typeface="Manrope" pitchFamily="34" charset="-120"/>
              </a:rPr>
              <a:t>Provider failure</a:t>
            </a:r>
            <a:endParaRPr lang="en-US" sz="2000" dirty="0"/>
          </a:p>
        </p:txBody>
      </p:sp>
      <p:sp>
        <p:nvSpPr>
          <p:cNvPr id="27" name="Text 24"/>
          <p:cNvSpPr txBox="1"/>
          <p:nvPr/>
        </p:nvSpPr>
        <p:spPr>
          <a:xfrm>
            <a:off x="8156448" y="2258568"/>
            <a:ext cx="804672" cy="219456"/>
          </a:xfrm>
          <a:prstGeom prst="rect">
            <a:avLst/>
          </a:prstGeom>
          <a:noFill/>
          <a:ln/>
        </p:spPr>
        <p:txBody>
          <a:bodyPr wrap="square" lIns="0" tIns="0" rIns="0" bIns="0" rtlCol="0" anchor="ctr">
            <a:normAutofit/>
          </a:bodyPr>
          <a:lstStyle/>
          <a:p>
            <a:pPr algn="l" indent="0" marL="0">
              <a:buNone/>
            </a:pPr>
            <a:r>
              <a:rPr lang="en-US" sz="1000" b="1" dirty="0">
                <a:solidFill>
                  <a:srgbClr val="E8763C"/>
                </a:solidFill>
                <a:latin typeface="Manrope" pitchFamily="34" charset="0"/>
                <a:ea typeface="Manrope" pitchFamily="34" charset="-122"/>
                <a:cs typeface="Manrope" pitchFamily="34" charset="-120"/>
              </a:rPr>
              <a:t>Signal</a:t>
            </a:r>
            <a:endParaRPr lang="en-US" sz="1000" dirty="0"/>
          </a:p>
        </p:txBody>
      </p:sp>
      <p:sp>
        <p:nvSpPr>
          <p:cNvPr id="28" name="Text 25"/>
          <p:cNvSpPr txBox="1"/>
          <p:nvPr/>
        </p:nvSpPr>
        <p:spPr>
          <a:xfrm>
            <a:off x="9052560" y="2194560"/>
            <a:ext cx="2350008" cy="612648"/>
          </a:xfrm>
          <a:prstGeom prst="rect">
            <a:avLst/>
          </a:prstGeom>
          <a:noFill/>
          <a:ln/>
        </p:spPr>
        <p:txBody>
          <a:bodyPr wrap="square" lIns="0" tIns="0" rIns="0" bIns="0" rtlCol="0" anchor="t">
            <a:normAutofit/>
          </a:bodyPr>
          <a:lstStyle/>
          <a:p>
            <a:pPr algn="l" indent="0" marL="0">
              <a:buNone/>
            </a:pPr>
            <a:r>
              <a:rPr lang="en-US" sz="1280" dirty="0">
                <a:solidFill>
                  <a:srgbClr val="17231F"/>
                </a:solidFill>
                <a:latin typeface="Manrope" pitchFamily="34" charset="0"/>
                <a:ea typeface="Manrope" pitchFamily="34" charset="-122"/>
                <a:cs typeface="Manrope" pitchFamily="34" charset="-120"/>
              </a:rPr>
              <a:t>Timeout, unavailable provider or invalid structured response</a:t>
            </a:r>
            <a:endParaRPr lang="en-US" sz="1280" dirty="0"/>
          </a:p>
        </p:txBody>
      </p:sp>
      <p:sp>
        <p:nvSpPr>
          <p:cNvPr id="29" name="Shape 26"/>
          <p:cNvSpPr/>
          <p:nvPr/>
        </p:nvSpPr>
        <p:spPr>
          <a:xfrm>
            <a:off x="8156448" y="3026664"/>
            <a:ext cx="3246120" cy="0"/>
          </a:xfrm>
          <a:prstGeom prst="line">
            <a:avLst/>
          </a:prstGeom>
          <a:noFill/>
          <a:ln w="10160">
            <a:solidFill>
              <a:srgbClr val="D4DCD5"/>
            </a:solidFill>
            <a:prstDash val="solid"/>
          </a:ln>
        </p:spPr>
      </p:sp>
      <p:sp>
        <p:nvSpPr>
          <p:cNvPr id="30" name="Text 27"/>
          <p:cNvSpPr txBox="1"/>
          <p:nvPr/>
        </p:nvSpPr>
        <p:spPr>
          <a:xfrm>
            <a:off x="8156448" y="3392424"/>
            <a:ext cx="804672" cy="219456"/>
          </a:xfrm>
          <a:prstGeom prst="rect">
            <a:avLst/>
          </a:prstGeom>
          <a:noFill/>
          <a:ln/>
        </p:spPr>
        <p:txBody>
          <a:bodyPr wrap="square" lIns="0" tIns="0" rIns="0" bIns="0" rtlCol="0" anchor="ctr">
            <a:normAutofit/>
          </a:bodyPr>
          <a:lstStyle/>
          <a:p>
            <a:pPr algn="l" indent="0" marL="0">
              <a:buNone/>
            </a:pPr>
            <a:r>
              <a:rPr lang="en-US" sz="1000" b="1" dirty="0">
                <a:solidFill>
                  <a:srgbClr val="E8763C"/>
                </a:solidFill>
                <a:latin typeface="Manrope" pitchFamily="34" charset="0"/>
                <a:ea typeface="Manrope" pitchFamily="34" charset="-122"/>
                <a:cs typeface="Manrope" pitchFamily="34" charset="-120"/>
              </a:rPr>
              <a:t>Fallback</a:t>
            </a:r>
            <a:endParaRPr lang="en-US" sz="1000" dirty="0"/>
          </a:p>
        </p:txBody>
      </p:sp>
      <p:sp>
        <p:nvSpPr>
          <p:cNvPr id="31" name="Text 28"/>
          <p:cNvSpPr txBox="1"/>
          <p:nvPr/>
        </p:nvSpPr>
        <p:spPr>
          <a:xfrm>
            <a:off x="9052560" y="3328416"/>
            <a:ext cx="2350008" cy="612648"/>
          </a:xfrm>
          <a:prstGeom prst="rect">
            <a:avLst/>
          </a:prstGeom>
          <a:noFill/>
          <a:ln/>
        </p:spPr>
        <p:txBody>
          <a:bodyPr wrap="square" lIns="0" tIns="0" rIns="0" bIns="0" rtlCol="0" anchor="t">
            <a:normAutofit/>
          </a:bodyPr>
          <a:lstStyle/>
          <a:p>
            <a:pPr algn="l" indent="0" marL="0">
              <a:buNone/>
            </a:pPr>
            <a:r>
              <a:rPr lang="en-US" sz="1280" dirty="0">
                <a:solidFill>
                  <a:srgbClr val="17231F"/>
                </a:solidFill>
                <a:latin typeface="Manrope" pitchFamily="34" charset="0"/>
                <a:ea typeface="Manrope" pitchFamily="34" charset="-122"/>
                <a:cs typeface="Manrope" pitchFamily="34" charset="-120"/>
              </a:rPr>
              <a:t>Labeled demo rules or a clear error; no state change</a:t>
            </a:r>
            <a:endParaRPr lang="en-US" sz="1280" dirty="0"/>
          </a:p>
        </p:txBody>
      </p:sp>
      <p:sp>
        <p:nvSpPr>
          <p:cNvPr id="32" name="Shape 29"/>
          <p:cNvSpPr/>
          <p:nvPr/>
        </p:nvSpPr>
        <p:spPr>
          <a:xfrm>
            <a:off x="8156448" y="4160520"/>
            <a:ext cx="3246120" cy="0"/>
          </a:xfrm>
          <a:prstGeom prst="line">
            <a:avLst/>
          </a:prstGeom>
          <a:noFill/>
          <a:ln w="10160">
            <a:solidFill>
              <a:srgbClr val="D4DCD5"/>
            </a:solidFill>
            <a:prstDash val="solid"/>
          </a:ln>
        </p:spPr>
      </p:sp>
      <p:sp>
        <p:nvSpPr>
          <p:cNvPr id="33" name="Text 30"/>
          <p:cNvSpPr txBox="1"/>
          <p:nvPr/>
        </p:nvSpPr>
        <p:spPr>
          <a:xfrm>
            <a:off x="8156448" y="4526280"/>
            <a:ext cx="804672" cy="219456"/>
          </a:xfrm>
          <a:prstGeom prst="rect">
            <a:avLst/>
          </a:prstGeom>
          <a:noFill/>
          <a:ln/>
        </p:spPr>
        <p:txBody>
          <a:bodyPr wrap="square" lIns="0" tIns="0" rIns="0" bIns="0" rtlCol="0" anchor="ctr">
            <a:normAutofit/>
          </a:bodyPr>
          <a:lstStyle/>
          <a:p>
            <a:pPr algn="l" indent="0" marL="0">
              <a:buNone/>
            </a:pPr>
            <a:r>
              <a:rPr lang="en-US" sz="1000" b="1" dirty="0">
                <a:solidFill>
                  <a:srgbClr val="E8763C"/>
                </a:solidFill>
                <a:latin typeface="Manrope" pitchFamily="34" charset="0"/>
                <a:ea typeface="Manrope" pitchFamily="34" charset="-122"/>
                <a:cs typeface="Manrope" pitchFamily="34" charset="-120"/>
              </a:rPr>
              <a:t>Recovery</a:t>
            </a:r>
            <a:endParaRPr lang="en-US" sz="1000" dirty="0"/>
          </a:p>
        </p:txBody>
      </p:sp>
      <p:sp>
        <p:nvSpPr>
          <p:cNvPr id="34" name="Text 31"/>
          <p:cNvSpPr txBox="1"/>
          <p:nvPr/>
        </p:nvSpPr>
        <p:spPr>
          <a:xfrm>
            <a:off x="9052560" y="4462272"/>
            <a:ext cx="2350008" cy="612648"/>
          </a:xfrm>
          <a:prstGeom prst="rect">
            <a:avLst/>
          </a:prstGeom>
          <a:noFill/>
          <a:ln/>
        </p:spPr>
        <p:txBody>
          <a:bodyPr wrap="square" lIns="0" tIns="0" rIns="0" bIns="0" rtlCol="0" anchor="t">
            <a:normAutofit/>
          </a:bodyPr>
          <a:lstStyle/>
          <a:p>
            <a:pPr algn="l" indent="0" marL="0">
              <a:buNone/>
            </a:pPr>
            <a:r>
              <a:rPr lang="en-US" sz="1280" dirty="0">
                <a:solidFill>
                  <a:srgbClr val="17231F"/>
                </a:solidFill>
                <a:latin typeface="Manrope" pitchFamily="34" charset="0"/>
                <a:ea typeface="Manrope" pitchFamily="34" charset="-122"/>
                <a:cs typeface="Manrope" pitchFamily="34" charset="-120"/>
              </a:rPr>
              <a:t>Manual menu and ordering paths remain available</a:t>
            </a:r>
            <a:endParaRPr lang="en-US" sz="1280" dirty="0"/>
          </a:p>
        </p:txBody>
      </p:sp>
      <p:sp>
        <p:nvSpPr>
          <p:cNvPr id="35" name="Shape 32"/>
          <p:cNvSpPr/>
          <p:nvPr/>
        </p:nvSpPr>
        <p:spPr>
          <a:xfrm>
            <a:off x="704088" y="5733288"/>
            <a:ext cx="10698480" cy="475488"/>
          </a:xfrm>
          <a:prstGeom prst="roundRect">
            <a:avLst>
              <a:gd name="adj" fmla="val 26923"/>
            </a:avLst>
          </a:prstGeom>
          <a:solidFill>
            <a:srgbClr val="E6EFE8"/>
          </a:solidFill>
          <a:ln w="12700">
            <a:solidFill>
              <a:srgbClr val="FFFFFF">
                <a:alpha val="0"/>
              </a:srgbClr>
            </a:solidFill>
            <a:prstDash val="solid"/>
          </a:ln>
        </p:spPr>
      </p:sp>
      <p:sp>
        <p:nvSpPr>
          <p:cNvPr id="36" name="Text 33"/>
          <p:cNvSpPr txBox="1"/>
          <p:nvPr/>
        </p:nvSpPr>
        <p:spPr>
          <a:xfrm>
            <a:off x="932688" y="5843016"/>
            <a:ext cx="10222992" cy="228600"/>
          </a:xfrm>
          <a:prstGeom prst="rect">
            <a:avLst/>
          </a:prstGeom>
          <a:noFill/>
          <a:ln/>
        </p:spPr>
        <p:txBody>
          <a:bodyPr wrap="square" lIns="0" tIns="0" rIns="0" bIns="0" rtlCol="0" anchor="ctr">
            <a:normAutofit/>
          </a:bodyPr>
          <a:lstStyle/>
          <a:p>
            <a:pPr algn="ctr" indent="0" marL="0">
              <a:buNone/>
            </a:pPr>
            <a:r>
              <a:rPr lang="en-US" sz="1250" b="1" dirty="0">
                <a:solidFill>
                  <a:srgbClr val="173F35"/>
                </a:solidFill>
                <a:latin typeface="Manrope" pitchFamily="34" charset="0"/>
                <a:ea typeface="Manrope" pitchFamily="34" charset="-122"/>
                <a:cs typeface="Manrope" pitchFamily="34" charset="-120"/>
              </a:rPr>
              <a:t>Live evidence: EGP 685 recommendation under a EGP 700 limit; a menu review draft created with nothing published.</a:t>
            </a:r>
            <a:endParaRPr lang="en-US" sz="1250" dirty="0"/>
          </a:p>
        </p:txBody>
      </p:sp>
      <p:sp>
        <p:nvSpPr>
          <p:cNvPr id="37" name="Text 34"/>
          <p:cNvSpPr txBox="1"/>
          <p:nvPr/>
        </p:nvSpPr>
        <p:spPr>
          <a:xfrm>
            <a:off x="658368" y="6565392"/>
            <a:ext cx="5303520" cy="118872"/>
          </a:xfrm>
          <a:prstGeom prst="rect">
            <a:avLst/>
          </a:prstGeom>
          <a:noFill/>
          <a:ln/>
        </p:spPr>
        <p:txBody>
          <a:bodyPr wrap="square" lIns="0" tIns="0" rIns="0" bIns="0" rtlCol="0" anchor="t">
            <a:normAutofit/>
          </a:bodyPr>
          <a:lstStyle/>
          <a:p>
            <a:pPr algn="l" indent="0" marL="0">
              <a:buNone/>
            </a:pPr>
            <a:r>
              <a:rPr lang="en-US" sz="850" dirty="0">
                <a:solidFill>
                  <a:srgbClr val="66736A"/>
                </a:solidFill>
                <a:latin typeface="Manrope" pitchFamily="34" charset="0"/>
                <a:ea typeface="Manrope" pitchFamily="34" charset="-122"/>
                <a:cs typeface="Manrope" pitchFamily="34" charset="-120"/>
              </a:rPr>
              <a:t>Live verification is evidence of the configured workspace, not a guarantee of provider uptime</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384048" y="6510528"/>
            <a:ext cx="11402568" cy="0"/>
          </a:xfrm>
          <a:prstGeom prst="line">
            <a:avLst/>
          </a:prstGeom>
          <a:noFill/>
          <a:ln w="8890">
            <a:solidFill>
              <a:srgbClr val="D4DCD5"/>
            </a:solidFill>
            <a:prstDash val="solid"/>
          </a:ln>
        </p:spPr>
      </p:sp>
      <p:pic>
        <p:nvPicPr>
          <p:cNvPr id="3" name="Image 0" descr="/Users/tank/Downloads/Resuto-main/.codex-build/resuto-impactx-pitch/resuto-original-mark.png">    </p:cNvPr>
          <p:cNvPicPr>
            <a:picLocks noChangeAspect="1"/>
          </p:cNvPicPr>
          <p:nvPr/>
        </p:nvPicPr>
        <p:blipFill>
          <a:blip r:embed="rId1"/>
          <a:stretch>
            <a:fillRect/>
          </a:stretch>
        </p:blipFill>
        <p:spPr>
          <a:xfrm>
            <a:off x="384048" y="210312"/>
            <a:ext cx="356616" cy="338328"/>
          </a:xfrm>
          <a:prstGeom prst="rect">
            <a:avLst/>
          </a:prstGeom>
        </p:spPr>
      </p:pic>
      <p:sp>
        <p:nvSpPr>
          <p:cNvPr id="4" name="Text 1"/>
          <p:cNvSpPr txBox="1"/>
          <p:nvPr/>
        </p:nvSpPr>
        <p:spPr>
          <a:xfrm>
            <a:off x="786384" y="283464"/>
            <a:ext cx="914400" cy="164592"/>
          </a:xfrm>
          <a:prstGeom prst="rect">
            <a:avLst/>
          </a:prstGeom>
          <a:noFill/>
          <a:ln/>
        </p:spPr>
        <p:txBody>
          <a:bodyPr wrap="square" lIns="0" tIns="0" rIns="0" bIns="0" rtlCol="0" anchor="t">
            <a:normAutofit/>
          </a:bodyPr>
          <a:lstStyle/>
          <a:p>
            <a:pPr algn="l" indent="0" marL="0">
              <a:buNone/>
            </a:pPr>
            <a:r>
              <a:rPr lang="en-US" sz="900" b="1" dirty="0">
                <a:solidFill>
                  <a:srgbClr val="173F35"/>
                </a:solidFill>
                <a:latin typeface="Manrope" pitchFamily="34" charset="0"/>
                <a:ea typeface="Manrope" pitchFamily="34" charset="-122"/>
                <a:cs typeface="Manrope" pitchFamily="34" charset="-120"/>
              </a:rPr>
              <a:t>RESUTO</a:t>
            </a:r>
            <a:endParaRPr lang="en-US" sz="900" dirty="0"/>
          </a:p>
        </p:txBody>
      </p:sp>
      <p:sp>
        <p:nvSpPr>
          <p:cNvPr id="5" name="Text 2"/>
          <p:cNvSpPr txBox="1"/>
          <p:nvPr/>
        </p:nvSpPr>
        <p:spPr>
          <a:xfrm>
            <a:off x="9829800" y="274320"/>
            <a:ext cx="1691640" cy="146304"/>
          </a:xfrm>
          <a:prstGeom prst="rect">
            <a:avLst/>
          </a:prstGeom>
          <a:noFill/>
          <a:ln/>
        </p:spPr>
        <p:txBody>
          <a:bodyPr wrap="square" lIns="0" tIns="0" rIns="0" bIns="0" rtlCol="0" anchor="ctr">
            <a:normAutofit/>
          </a:bodyPr>
          <a:lstStyle/>
          <a:p>
            <a:pPr algn="r" indent="0" marL="0">
              <a:buNone/>
            </a:pPr>
            <a:r>
              <a:rPr lang="en-US" sz="850" b="1" spc="140" kern="0" dirty="0">
                <a:solidFill>
                  <a:srgbClr val="D89A32"/>
                </a:solidFill>
                <a:latin typeface="Manrope" pitchFamily="34" charset="0"/>
                <a:ea typeface="Manrope" pitchFamily="34" charset="-122"/>
                <a:cs typeface="Manrope" pitchFamily="34" charset="-120"/>
              </a:rPr>
              <a:t>APPENDIX · PRICING</a:t>
            </a:r>
            <a:endParaRPr lang="en-US" sz="850" dirty="0"/>
          </a:p>
        </p:txBody>
      </p:sp>
      <p:sp>
        <p:nvSpPr>
          <p:cNvPr id="6" name="Text 3"/>
          <p:cNvSpPr txBox="1"/>
          <p:nvPr/>
        </p:nvSpPr>
        <p:spPr>
          <a:xfrm>
            <a:off x="658368" y="557784"/>
            <a:ext cx="10835640" cy="530352"/>
          </a:xfrm>
          <a:prstGeom prst="rect">
            <a:avLst/>
          </a:prstGeom>
          <a:noFill/>
          <a:ln/>
        </p:spPr>
        <p:txBody>
          <a:bodyPr wrap="square" lIns="0" tIns="0" rIns="0" bIns="0" rtlCol="0" anchor="t">
            <a:normAutofit/>
          </a:bodyPr>
          <a:lstStyle/>
          <a:p>
            <a:pPr algn="l" indent="0" marL="0">
              <a:buNone/>
            </a:pPr>
            <a:r>
              <a:rPr lang="en-US" sz="2800" b="1" dirty="0">
                <a:solidFill>
                  <a:srgbClr val="17231F"/>
                </a:solidFill>
                <a:latin typeface="Manrope" pitchFamily="34" charset="0"/>
                <a:ea typeface="Manrope" pitchFamily="34" charset="-122"/>
                <a:cs typeface="Manrope" pitchFamily="34" charset="-120"/>
              </a:rPr>
              <a:t>Proposed pricing by market</a:t>
            </a:r>
            <a:endParaRPr lang="en-US" sz="2800" dirty="0"/>
          </a:p>
        </p:txBody>
      </p:sp>
      <p:sp>
        <p:nvSpPr>
          <p:cNvPr id="7" name="Text 4"/>
          <p:cNvSpPr txBox="1"/>
          <p:nvPr/>
        </p:nvSpPr>
        <p:spPr>
          <a:xfrm>
            <a:off x="676656" y="1097280"/>
            <a:ext cx="10469880" cy="347472"/>
          </a:xfrm>
          <a:prstGeom prst="rect">
            <a:avLst/>
          </a:prstGeom>
          <a:noFill/>
          <a:ln/>
        </p:spPr>
        <p:txBody>
          <a:bodyPr wrap="square" lIns="0" tIns="0" rIns="0" bIns="0" rtlCol="0" anchor="t">
            <a:normAutofit/>
          </a:bodyPr>
          <a:lstStyle/>
          <a:p>
            <a:pPr algn="l" indent="0" marL="0">
              <a:buNone/>
            </a:pPr>
            <a:r>
              <a:rPr lang="en-US" sz="1450" dirty="0">
                <a:solidFill>
                  <a:srgbClr val="66736A"/>
                </a:solidFill>
                <a:latin typeface="Manrope" pitchFamily="34" charset="0"/>
                <a:ea typeface="Manrope" pitchFamily="34" charset="-122"/>
                <a:cs typeface="Manrope" pitchFamily="34" charset="-120"/>
              </a:rPr>
              <a:t>All figures come from the dated judging pack and remain commercial hypotheses</a:t>
            </a:r>
            <a:endParaRPr lang="en-US" sz="14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13232" y="1627632"/>
          <a:ext cx="5047488" cy="3044952"/>
        </p:xfrm>
        <a:graphic>
          <a:graphicData uri="http://schemas.openxmlformats.org/drawingml/2006/table">
            <a:tbl>
              <a:tblPr/>
              <a:tblGrid>
                <a:gridCol w="1325880"/>
                <a:gridCol w="1847088"/>
                <a:gridCol w="1874520"/>
              </a:tblGrid>
              <a:tr h="566928">
                <a:tc>
                  <a:txBody>
                    <a:bodyPr/>
                    <a:lstStyle/>
                    <a:p>
                      <a:pPr indent="0" marL="0">
                        <a:buNone/>
                      </a:pPr>
                      <a:r>
                        <a:rPr lang="en-US" sz="1300" dirty="0">
                          <a:solidFill>
                            <a:srgbClr val="17231F"/>
                          </a:solidFill>
                          <a:latin typeface="Manrope" pitchFamily="34" charset="0"/>
                          <a:ea typeface="Manrope" pitchFamily="34" charset="-122"/>
                          <a:cs typeface="Manrope" pitchFamily="34" charset="-120"/>
                        </a:rPr>
                        <a:t>Egypt</a:t>
                      </a:r>
                      <a:endParaRPr lang="en-US" sz="130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300" dirty="0">
                          <a:solidFill>
                            <a:srgbClr val="17231F"/>
                          </a:solidFill>
                          <a:latin typeface="Manrope" pitchFamily="34" charset="0"/>
                          <a:ea typeface="Manrope" pitchFamily="34" charset="-122"/>
                          <a:cs typeface="Manrope" pitchFamily="34" charset="-120"/>
                        </a:rPr>
                        <a:t>Monthly before tax</a:t>
                      </a:r>
                      <a:endParaRPr lang="en-US" sz="130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300" dirty="0">
                          <a:solidFill>
                            <a:srgbClr val="17231F"/>
                          </a:solidFill>
                          <a:latin typeface="Manrope" pitchFamily="34" charset="0"/>
                          <a:ea typeface="Manrope" pitchFamily="34" charset="-122"/>
                          <a:cs typeface="Manrope" pitchFamily="34" charset="-120"/>
                        </a:rPr>
                        <a:t>Illustrative with 14%</a:t>
                      </a:r>
                      <a:endParaRPr lang="en-US" sz="130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7231F"/>
                          </a:solidFill>
                          <a:latin typeface="Manrope" pitchFamily="34" charset="0"/>
                          <a:ea typeface="Manrope" pitchFamily="34" charset="-122"/>
                          <a:cs typeface="Manrope" pitchFamily="34" charset="-120"/>
                        </a:rPr>
                        <a:t>Starter</a:t>
                      </a:r>
                      <a:endParaRPr lang="en-US" sz="130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300" dirty="0">
                          <a:solidFill>
                            <a:srgbClr val="17231F"/>
                          </a:solidFill>
                          <a:latin typeface="Manrope" pitchFamily="34" charset="0"/>
                          <a:ea typeface="Manrope" pitchFamily="34" charset="-122"/>
                          <a:cs typeface="Manrope" pitchFamily="34" charset="-120"/>
                        </a:rPr>
                        <a:t>EGP 799</a:t>
                      </a:r>
                      <a:endParaRPr lang="en-US" sz="130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300" dirty="0">
                          <a:solidFill>
                            <a:srgbClr val="17231F"/>
                          </a:solidFill>
                          <a:latin typeface="Manrope" pitchFamily="34" charset="0"/>
                          <a:ea typeface="Manrope" pitchFamily="34" charset="-122"/>
                          <a:cs typeface="Manrope" pitchFamily="34" charset="-120"/>
                        </a:rPr>
                        <a:t>EGP 910.86</a:t>
                      </a:r>
                      <a:endParaRPr lang="en-US" sz="130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7231F"/>
                          </a:solidFill>
                          <a:latin typeface="Manrope" pitchFamily="34" charset="0"/>
                          <a:ea typeface="Manrope" pitchFamily="34" charset="-122"/>
                          <a:cs typeface="Manrope" pitchFamily="34" charset="-120"/>
                        </a:rPr>
                        <a:t>Growth</a:t>
                      </a:r>
                      <a:endParaRPr lang="en-US" sz="130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300" dirty="0">
                          <a:solidFill>
                            <a:srgbClr val="17231F"/>
                          </a:solidFill>
                          <a:latin typeface="Manrope" pitchFamily="34" charset="0"/>
                          <a:ea typeface="Manrope" pitchFamily="34" charset="-122"/>
                          <a:cs typeface="Manrope" pitchFamily="34" charset="-120"/>
                        </a:rPr>
                        <a:t>EGP 1,499</a:t>
                      </a:r>
                      <a:endParaRPr lang="en-US" sz="130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300" dirty="0">
                          <a:solidFill>
                            <a:srgbClr val="17231F"/>
                          </a:solidFill>
                          <a:latin typeface="Manrope" pitchFamily="34" charset="0"/>
                          <a:ea typeface="Manrope" pitchFamily="34" charset="-122"/>
                          <a:cs typeface="Manrope" pitchFamily="34" charset="-120"/>
                        </a:rPr>
                        <a:t>EGP 1,708.86</a:t>
                      </a:r>
                      <a:endParaRPr lang="en-US" sz="130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7231F"/>
                          </a:solidFill>
                          <a:latin typeface="Manrope" pitchFamily="34" charset="0"/>
                          <a:ea typeface="Manrope" pitchFamily="34" charset="-122"/>
                          <a:cs typeface="Manrope" pitchFamily="34" charset="-120"/>
                        </a:rPr>
                        <a:t>Pro</a:t>
                      </a:r>
                      <a:endParaRPr lang="en-US" sz="130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300" dirty="0">
                          <a:solidFill>
                            <a:srgbClr val="17231F"/>
                          </a:solidFill>
                          <a:latin typeface="Manrope" pitchFamily="34" charset="0"/>
                          <a:ea typeface="Manrope" pitchFamily="34" charset="-122"/>
                          <a:cs typeface="Manrope" pitchFamily="34" charset="-120"/>
                        </a:rPr>
                        <a:t>EGP 2,999</a:t>
                      </a:r>
                      <a:endParaRPr lang="en-US" sz="130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300" dirty="0">
                          <a:solidFill>
                            <a:srgbClr val="17231F"/>
                          </a:solidFill>
                          <a:latin typeface="Manrope" pitchFamily="34" charset="0"/>
                          <a:ea typeface="Manrope" pitchFamily="34" charset="-122"/>
                          <a:cs typeface="Manrope" pitchFamily="34" charset="-120"/>
                        </a:rPr>
                        <a:t>EGP 3,418.86</a:t>
                      </a:r>
                      <a:endParaRPr lang="en-US" sz="130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17231F"/>
                          </a:solidFill>
                          <a:latin typeface="Manrope" pitchFamily="34" charset="0"/>
                          <a:ea typeface="Manrope" pitchFamily="34" charset="-122"/>
                          <a:cs typeface="Manrope" pitchFamily="34" charset="-120"/>
                        </a:rPr>
                        <a:t>Business</a:t>
                      </a:r>
                      <a:endParaRPr lang="en-US" sz="130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300" dirty="0">
                          <a:solidFill>
                            <a:srgbClr val="17231F"/>
                          </a:solidFill>
                          <a:latin typeface="Manrope" pitchFamily="34" charset="0"/>
                          <a:ea typeface="Manrope" pitchFamily="34" charset="-122"/>
                          <a:cs typeface="Manrope" pitchFamily="34" charset="-120"/>
                        </a:rPr>
                        <a:t>Custom</a:t>
                      </a:r>
                      <a:endParaRPr lang="en-US" sz="130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300" dirty="0">
                          <a:solidFill>
                            <a:srgbClr val="17231F"/>
                          </a:solidFill>
                          <a:latin typeface="Manrope" pitchFamily="34" charset="0"/>
                          <a:ea typeface="Manrope" pitchFamily="34" charset="-122"/>
                          <a:cs typeface="Manrope" pitchFamily="34" charset="-120"/>
                        </a:rPr>
                        <a:t>By proposal</a:t>
                      </a:r>
                      <a:endParaRPr lang="en-US" sz="1300" dirty="0">
                        <a:latin typeface="Manrope" charset="0"/>
                        <a:ea typeface="Manrope" charset="0"/>
                        <a:cs typeface="Manrope" charset="0"/>
                      </a:endParaRPr>
                    </a:p>
                  </a:txBody>
                  <a:tcPr marL="100584" marR="100584" marT="100584" marB="100584"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r>
            </a:tbl>
          </a:graphicData>
        </a:graphic>
      </p:graphicFrame>
      <p:graphicFrame>
        <p:nvGraphicFramePr>
          <p:cNvPr id="35" name="Table 1"/>
          <p:cNvGraphicFramePr>
            <a:graphicFrameLocks noGrp="1"/>
          </p:cNvGraphicFramePr>
          <p:nvPr>
            <p:extLst>
              <p:ext uri="{D42A27DB-BD31-4B8C-83A1-F6EECF244321}">
                <p14:modId xmlns:p14="http://schemas.microsoft.com/office/powerpoint/2010/main" val="1579011935"/>
              </p:ext>
            </p:extLst>
          </p:nvPr>
        </p:nvGraphicFramePr>
        <p:xfrm>
          <a:off x="6035040" y="1627632"/>
          <a:ext cx="5422392" cy="2487168"/>
        </p:xfrm>
        <a:graphic>
          <a:graphicData uri="http://schemas.openxmlformats.org/drawingml/2006/table">
            <a:tbl>
              <a:tblPr/>
              <a:tblGrid>
                <a:gridCol w="1325880"/>
                <a:gridCol w="1444752"/>
                <a:gridCol w="1325880"/>
                <a:gridCol w="1325880"/>
              </a:tblGrid>
              <a:tr h="566928">
                <a:tc>
                  <a:txBody>
                    <a:bodyPr/>
                    <a:lstStyle/>
                    <a:p>
                      <a:pPr indent="0" marL="0">
                        <a:buNone/>
                      </a:pPr>
                      <a:r>
                        <a:rPr lang="en-US" sz="1240" dirty="0">
                          <a:solidFill>
                            <a:srgbClr val="17231F"/>
                          </a:solidFill>
                          <a:latin typeface="Manrope" pitchFamily="34" charset="0"/>
                          <a:ea typeface="Manrope" pitchFamily="34" charset="-122"/>
                          <a:cs typeface="Manrope" pitchFamily="34" charset="-120"/>
                        </a:rPr>
                        <a:t>Saudi Arabia</a:t>
                      </a:r>
                      <a:endParaRPr lang="en-US" sz="124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40" dirty="0">
                          <a:solidFill>
                            <a:srgbClr val="17231F"/>
                          </a:solidFill>
                          <a:latin typeface="Manrope" pitchFamily="34" charset="0"/>
                          <a:ea typeface="Manrope" pitchFamily="34" charset="-122"/>
                          <a:cs typeface="Manrope" pitchFamily="34" charset="-120"/>
                        </a:rPr>
                        <a:t>Target before VAT</a:t>
                      </a:r>
                      <a:endParaRPr lang="en-US" sz="124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40" dirty="0">
                          <a:solidFill>
                            <a:srgbClr val="17231F"/>
                          </a:solidFill>
                          <a:latin typeface="Manrope" pitchFamily="34" charset="0"/>
                          <a:ea typeface="Manrope" pitchFamily="34" charset="-122"/>
                          <a:cs typeface="Manrope" pitchFamily="34" charset="-120"/>
                        </a:rPr>
                        <a:t>90-day founder</a:t>
                      </a:r>
                      <a:endParaRPr lang="en-US" sz="124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40" dirty="0">
                          <a:solidFill>
                            <a:srgbClr val="17231F"/>
                          </a:solidFill>
                          <a:latin typeface="Manrope" pitchFamily="34" charset="0"/>
                          <a:ea typeface="Manrope" pitchFamily="34" charset="-122"/>
                          <a:cs typeface="Manrope" pitchFamily="34" charset="-120"/>
                        </a:rPr>
                        <a:t>With 15% VAT</a:t>
                      </a:r>
                      <a:endParaRPr lang="en-US" sz="124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r>
              <a:tr h="566928">
                <a:tc>
                  <a:txBody>
                    <a:bodyPr/>
                    <a:lstStyle/>
                    <a:p>
                      <a:pPr indent="0" marL="0">
                        <a:buNone/>
                      </a:pPr>
                      <a:r>
                        <a:rPr lang="en-US" sz="1240" dirty="0">
                          <a:solidFill>
                            <a:srgbClr val="17231F"/>
                          </a:solidFill>
                          <a:latin typeface="Manrope" pitchFamily="34" charset="0"/>
                          <a:ea typeface="Manrope" pitchFamily="34" charset="-122"/>
                          <a:cs typeface="Manrope" pitchFamily="34" charset="-120"/>
                        </a:rPr>
                        <a:t>Starter</a:t>
                      </a:r>
                      <a:endParaRPr lang="en-US" sz="124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40" dirty="0">
                          <a:solidFill>
                            <a:srgbClr val="17231F"/>
                          </a:solidFill>
                          <a:latin typeface="Manrope" pitchFamily="34" charset="0"/>
                          <a:ea typeface="Manrope" pitchFamily="34" charset="-122"/>
                          <a:cs typeface="Manrope" pitchFamily="34" charset="-120"/>
                        </a:rPr>
                        <a:t>SAR 199</a:t>
                      </a:r>
                      <a:endParaRPr lang="en-US" sz="124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40" dirty="0">
                          <a:solidFill>
                            <a:srgbClr val="17231F"/>
                          </a:solidFill>
                          <a:latin typeface="Manrope" pitchFamily="34" charset="0"/>
                          <a:ea typeface="Manrope" pitchFamily="34" charset="-122"/>
                          <a:cs typeface="Manrope" pitchFamily="34" charset="-120"/>
                        </a:rPr>
                        <a:t>SAR 149</a:t>
                      </a:r>
                      <a:endParaRPr lang="en-US" sz="124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40" dirty="0">
                          <a:solidFill>
                            <a:srgbClr val="17231F"/>
                          </a:solidFill>
                          <a:latin typeface="Manrope" pitchFamily="34" charset="0"/>
                          <a:ea typeface="Manrope" pitchFamily="34" charset="-122"/>
                          <a:cs typeface="Manrope" pitchFamily="34" charset="-120"/>
                        </a:rPr>
                        <a:t>SAR 228.85</a:t>
                      </a:r>
                      <a:endParaRPr lang="en-US" sz="124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r>
              <a:tr h="566928">
                <a:tc>
                  <a:txBody>
                    <a:bodyPr/>
                    <a:lstStyle/>
                    <a:p>
                      <a:pPr indent="0" marL="0">
                        <a:buNone/>
                      </a:pPr>
                      <a:r>
                        <a:rPr lang="en-US" sz="1240" dirty="0">
                          <a:solidFill>
                            <a:srgbClr val="17231F"/>
                          </a:solidFill>
                          <a:latin typeface="Manrope" pitchFamily="34" charset="0"/>
                          <a:ea typeface="Manrope" pitchFamily="34" charset="-122"/>
                          <a:cs typeface="Manrope" pitchFamily="34" charset="-120"/>
                        </a:rPr>
                        <a:t>Growth</a:t>
                      </a:r>
                      <a:endParaRPr lang="en-US" sz="124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40" dirty="0">
                          <a:solidFill>
                            <a:srgbClr val="17231F"/>
                          </a:solidFill>
                          <a:latin typeface="Manrope" pitchFamily="34" charset="0"/>
                          <a:ea typeface="Manrope" pitchFamily="34" charset="-122"/>
                          <a:cs typeface="Manrope" pitchFamily="34" charset="-120"/>
                        </a:rPr>
                        <a:t>SAR 399</a:t>
                      </a:r>
                      <a:endParaRPr lang="en-US" sz="124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40" dirty="0">
                          <a:solidFill>
                            <a:srgbClr val="17231F"/>
                          </a:solidFill>
                          <a:latin typeface="Manrope" pitchFamily="34" charset="0"/>
                          <a:ea typeface="Manrope" pitchFamily="34" charset="-122"/>
                          <a:cs typeface="Manrope" pitchFamily="34" charset="-120"/>
                        </a:rPr>
                        <a:t>SAR 299</a:t>
                      </a:r>
                      <a:endParaRPr lang="en-US" sz="124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40" dirty="0">
                          <a:solidFill>
                            <a:srgbClr val="17231F"/>
                          </a:solidFill>
                          <a:latin typeface="Manrope" pitchFamily="34" charset="0"/>
                          <a:ea typeface="Manrope" pitchFamily="34" charset="-122"/>
                          <a:cs typeface="Manrope" pitchFamily="34" charset="-120"/>
                        </a:rPr>
                        <a:t>SAR 458.85</a:t>
                      </a:r>
                      <a:endParaRPr lang="en-US" sz="124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r>
              <a:tr h="566928">
                <a:tc>
                  <a:txBody>
                    <a:bodyPr/>
                    <a:lstStyle/>
                    <a:p>
                      <a:pPr indent="0" marL="0">
                        <a:buNone/>
                      </a:pPr>
                      <a:r>
                        <a:rPr lang="en-US" sz="1240" dirty="0">
                          <a:solidFill>
                            <a:srgbClr val="17231F"/>
                          </a:solidFill>
                          <a:latin typeface="Manrope" pitchFamily="34" charset="0"/>
                          <a:ea typeface="Manrope" pitchFamily="34" charset="-122"/>
                          <a:cs typeface="Manrope" pitchFamily="34" charset="-120"/>
                        </a:rPr>
                        <a:t>Pro</a:t>
                      </a:r>
                      <a:endParaRPr lang="en-US" sz="124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40" dirty="0">
                          <a:solidFill>
                            <a:srgbClr val="17231F"/>
                          </a:solidFill>
                          <a:latin typeface="Manrope" pitchFamily="34" charset="0"/>
                          <a:ea typeface="Manrope" pitchFamily="34" charset="-122"/>
                          <a:cs typeface="Manrope" pitchFamily="34" charset="-120"/>
                        </a:rPr>
                        <a:t>SAR 699</a:t>
                      </a:r>
                      <a:endParaRPr lang="en-US" sz="124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40" dirty="0">
                          <a:solidFill>
                            <a:srgbClr val="17231F"/>
                          </a:solidFill>
                          <a:latin typeface="Manrope" pitchFamily="34" charset="0"/>
                          <a:ea typeface="Manrope" pitchFamily="34" charset="-122"/>
                          <a:cs typeface="Manrope" pitchFamily="34" charset="-120"/>
                        </a:rPr>
                        <a:t>SAR 499</a:t>
                      </a:r>
                      <a:endParaRPr lang="en-US" sz="124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40" dirty="0">
                          <a:solidFill>
                            <a:srgbClr val="17231F"/>
                          </a:solidFill>
                          <a:latin typeface="Manrope" pitchFamily="34" charset="0"/>
                          <a:ea typeface="Manrope" pitchFamily="34" charset="-122"/>
                          <a:cs typeface="Manrope" pitchFamily="34" charset="-120"/>
                        </a:rPr>
                        <a:t>SAR 803.85</a:t>
                      </a:r>
                      <a:endParaRPr lang="en-US" sz="124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r>
            </a:tbl>
          </a:graphicData>
        </a:graphic>
      </p:graphicFrame>
      <p:sp>
        <p:nvSpPr>
          <p:cNvPr id="10" name="Shape 5"/>
          <p:cNvSpPr/>
          <p:nvPr/>
        </p:nvSpPr>
        <p:spPr>
          <a:xfrm>
            <a:off x="713232" y="1627632"/>
            <a:ext cx="5047488" cy="566928"/>
          </a:xfrm>
          <a:prstGeom prst="rect">
            <a:avLst/>
          </a:prstGeom>
          <a:solidFill>
            <a:srgbClr val="173F35"/>
          </a:solidFill>
          <a:ln w="12700">
            <a:solidFill>
              <a:srgbClr val="FFFFFF">
                <a:alpha val="0"/>
              </a:srgbClr>
            </a:solidFill>
            <a:prstDash val="solid"/>
          </a:ln>
        </p:spPr>
      </p:sp>
      <p:sp>
        <p:nvSpPr>
          <p:cNvPr id="11" name="Shape 6"/>
          <p:cNvSpPr/>
          <p:nvPr/>
        </p:nvSpPr>
        <p:spPr>
          <a:xfrm>
            <a:off x="6035040" y="1627632"/>
            <a:ext cx="5422392" cy="566928"/>
          </a:xfrm>
          <a:prstGeom prst="rect">
            <a:avLst/>
          </a:prstGeom>
          <a:solidFill>
            <a:srgbClr val="173F35"/>
          </a:solidFill>
          <a:ln w="12700">
            <a:solidFill>
              <a:srgbClr val="FFFFFF">
                <a:alpha val="0"/>
              </a:srgbClr>
            </a:solidFill>
            <a:prstDash val="solid"/>
          </a:ln>
        </p:spPr>
      </p:sp>
      <p:sp>
        <p:nvSpPr>
          <p:cNvPr id="12" name="Text 7"/>
          <p:cNvSpPr txBox="1"/>
          <p:nvPr/>
        </p:nvSpPr>
        <p:spPr>
          <a:xfrm>
            <a:off x="859536" y="1773936"/>
            <a:ext cx="1005840" cy="210312"/>
          </a:xfrm>
          <a:prstGeom prst="rect">
            <a:avLst/>
          </a:prstGeom>
          <a:noFill/>
          <a:ln/>
        </p:spPr>
        <p:txBody>
          <a:bodyPr wrap="square" lIns="0" tIns="0" rIns="0" bIns="0" rtlCol="0" anchor="ctr">
            <a:normAutofit/>
          </a:bodyPr>
          <a:lstStyle/>
          <a:p>
            <a:pPr algn="ctr" indent="0" marL="0">
              <a:buNone/>
            </a:pPr>
            <a:r>
              <a:rPr lang="en-US" sz="1040" b="1" dirty="0">
                <a:solidFill>
                  <a:srgbClr val="FFFFFF"/>
                </a:solidFill>
                <a:latin typeface="Manrope" pitchFamily="34" charset="0"/>
                <a:ea typeface="Manrope" pitchFamily="34" charset="-122"/>
                <a:cs typeface="Manrope" pitchFamily="34" charset="-120"/>
              </a:rPr>
              <a:t>Egypt</a:t>
            </a:r>
            <a:endParaRPr lang="en-US" sz="1040" dirty="0"/>
          </a:p>
        </p:txBody>
      </p:sp>
      <p:sp>
        <p:nvSpPr>
          <p:cNvPr id="13" name="Text 8"/>
          <p:cNvSpPr txBox="1"/>
          <p:nvPr/>
        </p:nvSpPr>
        <p:spPr>
          <a:xfrm>
            <a:off x="2139696" y="1773936"/>
            <a:ext cx="1554480" cy="210312"/>
          </a:xfrm>
          <a:prstGeom prst="rect">
            <a:avLst/>
          </a:prstGeom>
          <a:noFill/>
          <a:ln/>
        </p:spPr>
        <p:txBody>
          <a:bodyPr wrap="square" lIns="0" tIns="0" rIns="0" bIns="0" rtlCol="0" anchor="ctr">
            <a:normAutofit/>
          </a:bodyPr>
          <a:lstStyle/>
          <a:p>
            <a:pPr algn="ctr" indent="0" marL="0">
              <a:buNone/>
            </a:pPr>
            <a:r>
              <a:rPr lang="en-US" sz="1040" b="1" dirty="0">
                <a:solidFill>
                  <a:srgbClr val="FFFFFF"/>
                </a:solidFill>
                <a:latin typeface="Manrope" pitchFamily="34" charset="0"/>
                <a:ea typeface="Manrope" pitchFamily="34" charset="-122"/>
                <a:cs typeface="Manrope" pitchFamily="34" charset="-120"/>
              </a:rPr>
              <a:t>Monthly before tax</a:t>
            </a:r>
            <a:endParaRPr lang="en-US" sz="1040" dirty="0"/>
          </a:p>
        </p:txBody>
      </p:sp>
      <p:sp>
        <p:nvSpPr>
          <p:cNvPr id="14" name="Text 9"/>
          <p:cNvSpPr txBox="1"/>
          <p:nvPr/>
        </p:nvSpPr>
        <p:spPr>
          <a:xfrm>
            <a:off x="3886200" y="1773936"/>
            <a:ext cx="1645920" cy="210312"/>
          </a:xfrm>
          <a:prstGeom prst="rect">
            <a:avLst/>
          </a:prstGeom>
          <a:noFill/>
          <a:ln/>
        </p:spPr>
        <p:txBody>
          <a:bodyPr wrap="square" lIns="0" tIns="0" rIns="0" bIns="0" rtlCol="0" anchor="ctr">
            <a:normAutofit/>
          </a:bodyPr>
          <a:lstStyle/>
          <a:p>
            <a:pPr algn="ctr" indent="0" marL="0">
              <a:buNone/>
            </a:pPr>
            <a:r>
              <a:rPr lang="en-US" sz="1040" b="1" dirty="0">
                <a:solidFill>
                  <a:srgbClr val="FFFFFF"/>
                </a:solidFill>
                <a:latin typeface="Manrope" pitchFamily="34" charset="0"/>
                <a:ea typeface="Manrope" pitchFamily="34" charset="-122"/>
                <a:cs typeface="Manrope" pitchFamily="34" charset="-120"/>
              </a:rPr>
              <a:t>Illustrative with 14%</a:t>
            </a:r>
            <a:endParaRPr lang="en-US" sz="1040" dirty="0"/>
          </a:p>
        </p:txBody>
      </p:sp>
      <p:sp>
        <p:nvSpPr>
          <p:cNvPr id="15" name="Text 10"/>
          <p:cNvSpPr txBox="1"/>
          <p:nvPr/>
        </p:nvSpPr>
        <p:spPr>
          <a:xfrm>
            <a:off x="6172200" y="1773936"/>
            <a:ext cx="1051560" cy="210312"/>
          </a:xfrm>
          <a:prstGeom prst="rect">
            <a:avLst/>
          </a:prstGeom>
          <a:noFill/>
          <a:ln/>
        </p:spPr>
        <p:txBody>
          <a:bodyPr wrap="square" lIns="0" tIns="0" rIns="0" bIns="0" rtlCol="0" anchor="ctr">
            <a:normAutofit/>
          </a:bodyPr>
          <a:lstStyle/>
          <a:p>
            <a:pPr algn="ctr" indent="0" marL="0">
              <a:buNone/>
            </a:pPr>
            <a:r>
              <a:rPr lang="en-US" sz="960" b="1" dirty="0">
                <a:solidFill>
                  <a:srgbClr val="FFFFFF"/>
                </a:solidFill>
                <a:latin typeface="Manrope" pitchFamily="34" charset="0"/>
                <a:ea typeface="Manrope" pitchFamily="34" charset="-122"/>
                <a:cs typeface="Manrope" pitchFamily="34" charset="-120"/>
              </a:rPr>
              <a:t>Saudi Arabia</a:t>
            </a:r>
            <a:endParaRPr lang="en-US" sz="960" dirty="0"/>
          </a:p>
        </p:txBody>
      </p:sp>
      <p:sp>
        <p:nvSpPr>
          <p:cNvPr id="16" name="Text 11"/>
          <p:cNvSpPr txBox="1"/>
          <p:nvPr/>
        </p:nvSpPr>
        <p:spPr>
          <a:xfrm>
            <a:off x="7406640" y="1773936"/>
            <a:ext cx="1234440" cy="210312"/>
          </a:xfrm>
          <a:prstGeom prst="rect">
            <a:avLst/>
          </a:prstGeom>
          <a:noFill/>
          <a:ln/>
        </p:spPr>
        <p:txBody>
          <a:bodyPr wrap="square" lIns="0" tIns="0" rIns="0" bIns="0" rtlCol="0" anchor="ctr">
            <a:normAutofit/>
          </a:bodyPr>
          <a:lstStyle/>
          <a:p>
            <a:pPr algn="ctr" indent="0" marL="0">
              <a:buNone/>
            </a:pPr>
            <a:r>
              <a:rPr lang="en-US" sz="960" b="1" dirty="0">
                <a:solidFill>
                  <a:srgbClr val="FFFFFF"/>
                </a:solidFill>
                <a:latin typeface="Manrope" pitchFamily="34" charset="0"/>
                <a:ea typeface="Manrope" pitchFamily="34" charset="-122"/>
                <a:cs typeface="Manrope" pitchFamily="34" charset="-120"/>
              </a:rPr>
              <a:t>Target before VAT</a:t>
            </a:r>
            <a:endParaRPr lang="en-US" sz="960" dirty="0"/>
          </a:p>
        </p:txBody>
      </p:sp>
      <p:sp>
        <p:nvSpPr>
          <p:cNvPr id="17" name="Text 12"/>
          <p:cNvSpPr txBox="1"/>
          <p:nvPr/>
        </p:nvSpPr>
        <p:spPr>
          <a:xfrm>
            <a:off x="8906256" y="1773936"/>
            <a:ext cx="1188720" cy="210312"/>
          </a:xfrm>
          <a:prstGeom prst="rect">
            <a:avLst/>
          </a:prstGeom>
          <a:noFill/>
          <a:ln/>
        </p:spPr>
        <p:txBody>
          <a:bodyPr wrap="square" lIns="0" tIns="0" rIns="0" bIns="0" rtlCol="0" anchor="ctr">
            <a:normAutofit/>
          </a:bodyPr>
          <a:lstStyle/>
          <a:p>
            <a:pPr algn="ctr" indent="0" marL="0">
              <a:buNone/>
            </a:pPr>
            <a:r>
              <a:rPr lang="en-US" sz="960" b="1" dirty="0">
                <a:solidFill>
                  <a:srgbClr val="FFFFFF"/>
                </a:solidFill>
                <a:latin typeface="Manrope" pitchFamily="34" charset="0"/>
                <a:ea typeface="Manrope" pitchFamily="34" charset="-122"/>
                <a:cs typeface="Manrope" pitchFamily="34" charset="-120"/>
              </a:rPr>
              <a:t>90-day founder</a:t>
            </a:r>
            <a:endParaRPr lang="en-US" sz="960" dirty="0"/>
          </a:p>
        </p:txBody>
      </p:sp>
      <p:sp>
        <p:nvSpPr>
          <p:cNvPr id="18" name="Text 13"/>
          <p:cNvSpPr txBox="1"/>
          <p:nvPr/>
        </p:nvSpPr>
        <p:spPr>
          <a:xfrm>
            <a:off x="10168128" y="1773936"/>
            <a:ext cx="1097280" cy="210312"/>
          </a:xfrm>
          <a:prstGeom prst="rect">
            <a:avLst/>
          </a:prstGeom>
          <a:noFill/>
          <a:ln/>
        </p:spPr>
        <p:txBody>
          <a:bodyPr wrap="square" lIns="0" tIns="0" rIns="0" bIns="0" rtlCol="0" anchor="ctr">
            <a:normAutofit/>
          </a:bodyPr>
          <a:lstStyle/>
          <a:p>
            <a:pPr algn="ctr" indent="0" marL="0">
              <a:buNone/>
            </a:pPr>
            <a:r>
              <a:rPr lang="en-US" sz="960" b="1" dirty="0">
                <a:solidFill>
                  <a:srgbClr val="FFFFFF"/>
                </a:solidFill>
                <a:latin typeface="Manrope" pitchFamily="34" charset="0"/>
                <a:ea typeface="Manrope" pitchFamily="34" charset="-122"/>
                <a:cs typeface="Manrope" pitchFamily="34" charset="-120"/>
              </a:rPr>
              <a:t>With 15% VAT</a:t>
            </a:r>
            <a:endParaRPr lang="en-US" sz="960" dirty="0"/>
          </a:p>
        </p:txBody>
      </p:sp>
      <p:sp>
        <p:nvSpPr>
          <p:cNvPr id="19" name="Shape 14"/>
          <p:cNvSpPr/>
          <p:nvPr/>
        </p:nvSpPr>
        <p:spPr>
          <a:xfrm>
            <a:off x="6035040" y="4462272"/>
            <a:ext cx="5422392" cy="1069848"/>
          </a:xfrm>
          <a:prstGeom prst="roundRect">
            <a:avLst>
              <a:gd name="adj" fmla="val 14530"/>
            </a:avLst>
          </a:prstGeom>
          <a:solidFill>
            <a:srgbClr val="F8E9E2"/>
          </a:solidFill>
          <a:ln w="12700">
            <a:solidFill>
              <a:srgbClr val="FFFFFF">
                <a:alpha val="0"/>
              </a:srgbClr>
            </a:solidFill>
            <a:prstDash val="solid"/>
          </a:ln>
        </p:spPr>
      </p:sp>
      <p:sp>
        <p:nvSpPr>
          <p:cNvPr id="20" name="Text 15"/>
          <p:cNvSpPr txBox="1"/>
          <p:nvPr/>
        </p:nvSpPr>
        <p:spPr>
          <a:xfrm>
            <a:off x="6309360" y="4663440"/>
            <a:ext cx="1572768" cy="402336"/>
          </a:xfrm>
          <a:prstGeom prst="rect">
            <a:avLst/>
          </a:prstGeom>
          <a:noFill/>
          <a:ln/>
        </p:spPr>
        <p:txBody>
          <a:bodyPr wrap="square" lIns="0" tIns="0" rIns="0" bIns="0" rtlCol="0" anchor="ctr">
            <a:normAutofit/>
          </a:bodyPr>
          <a:lstStyle/>
          <a:p>
            <a:pPr algn="l" indent="0" marL="0">
              <a:buNone/>
            </a:pPr>
            <a:r>
              <a:rPr lang="en-US" sz="1530" b="1" dirty="0">
                <a:solidFill>
                  <a:srgbClr val="B94E4E"/>
                </a:solidFill>
                <a:latin typeface="Manrope" pitchFamily="34" charset="0"/>
                <a:ea typeface="Manrope" pitchFamily="34" charset="-122"/>
                <a:cs typeface="Manrope" pitchFamily="34" charset="-120"/>
              </a:rPr>
              <a:t>Saudi go-live gate</a:t>
            </a:r>
            <a:endParaRPr lang="en-US" sz="1530" dirty="0"/>
          </a:p>
        </p:txBody>
      </p:sp>
      <p:sp>
        <p:nvSpPr>
          <p:cNvPr id="21" name="Text 16"/>
          <p:cNvSpPr txBox="1"/>
          <p:nvPr/>
        </p:nvSpPr>
        <p:spPr>
          <a:xfrm>
            <a:off x="8119872" y="4572000"/>
            <a:ext cx="2907792" cy="621792"/>
          </a:xfrm>
          <a:prstGeom prst="rect">
            <a:avLst/>
          </a:prstGeom>
          <a:noFill/>
          <a:ln/>
        </p:spPr>
        <p:txBody>
          <a:bodyPr wrap="square" lIns="0" tIns="0" rIns="0" bIns="0" rtlCol="0" anchor="t">
            <a:normAutofit/>
          </a:bodyPr>
          <a:lstStyle/>
          <a:p>
            <a:pPr algn="l" indent="0" marL="0">
              <a:buNone/>
            </a:pPr>
            <a:r>
              <a:rPr lang="en-US" sz="1120" dirty="0">
                <a:solidFill>
                  <a:srgbClr val="17231F"/>
                </a:solidFill>
                <a:latin typeface="Manrope" pitchFamily="34" charset="0"/>
                <a:ea typeface="Manrope" pitchFamily="34" charset="-122"/>
                <a:cs typeface="Manrope" pitchFamily="34" charset="-120"/>
              </a:rPr>
              <a:t>Do not sell Resuto as a compliant Saudi POS until ZATCA, local tax treatment and payment acceptance are complete.</a:t>
            </a:r>
            <a:endParaRPr lang="en-US" sz="1120" dirty="0"/>
          </a:p>
        </p:txBody>
      </p:sp>
      <p:sp>
        <p:nvSpPr>
          <p:cNvPr id="22" name="Text 17"/>
          <p:cNvSpPr txBox="1"/>
          <p:nvPr/>
        </p:nvSpPr>
        <p:spPr>
          <a:xfrm>
            <a:off x="749808" y="5093208"/>
            <a:ext cx="4754880" cy="320040"/>
          </a:xfrm>
          <a:prstGeom prst="rect">
            <a:avLst/>
          </a:prstGeom>
          <a:noFill/>
          <a:ln/>
        </p:spPr>
        <p:txBody>
          <a:bodyPr wrap="square" lIns="0" tIns="0" rIns="0" bIns="0" rtlCol="0" anchor="ctr">
            <a:normAutofit/>
          </a:bodyPr>
          <a:lstStyle/>
          <a:p>
            <a:pPr algn="l" indent="0" marL="0">
              <a:buNone/>
            </a:pPr>
            <a:r>
              <a:rPr lang="en-US" sz="1220" dirty="0">
                <a:solidFill>
                  <a:srgbClr val="66736A"/>
                </a:solidFill>
                <a:latin typeface="Manrope" pitchFamily="34" charset="0"/>
                <a:ea typeface="Manrope" pitchFamily="34" charset="-122"/>
                <a:cs typeface="Manrope" pitchFamily="34" charset="-120"/>
              </a:rPr>
              <a:t>Egypt annual offer in pack: pay 10 months. Add-ons proposed after demand proof.</a:t>
            </a:r>
            <a:endParaRPr lang="en-US" sz="1220" dirty="0"/>
          </a:p>
        </p:txBody>
      </p:sp>
      <p:sp>
        <p:nvSpPr>
          <p:cNvPr id="23" name="Text 18"/>
          <p:cNvSpPr txBox="1"/>
          <p:nvPr/>
        </p:nvSpPr>
        <p:spPr>
          <a:xfrm>
            <a:off x="658368" y="6565392"/>
            <a:ext cx="5303520" cy="118872"/>
          </a:xfrm>
          <a:prstGeom prst="rect">
            <a:avLst/>
          </a:prstGeom>
          <a:noFill/>
          <a:ln/>
        </p:spPr>
        <p:txBody>
          <a:bodyPr wrap="square" lIns="0" tIns="0" rIns="0" bIns="0" rtlCol="0" anchor="t">
            <a:normAutofit/>
          </a:bodyPr>
          <a:lstStyle/>
          <a:p>
            <a:pPr algn="l" indent="0" marL="0">
              <a:buNone/>
            </a:pPr>
            <a:r>
              <a:rPr lang="en-US" sz="850" dirty="0">
                <a:solidFill>
                  <a:srgbClr val="66736A"/>
                </a:solidFill>
                <a:latin typeface="Manrope" pitchFamily="34" charset="0"/>
                <a:ea typeface="Manrope" pitchFamily="34" charset="-122"/>
                <a:cs typeface="Manrope" pitchFamily="34" charset="-120"/>
              </a:rPr>
              <a:t>Pack prices dated 2026-09-09 · not re-verified as current competitor pricing</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384048" y="6510528"/>
            <a:ext cx="11402568" cy="0"/>
          </a:xfrm>
          <a:prstGeom prst="line">
            <a:avLst/>
          </a:prstGeom>
          <a:noFill/>
          <a:ln w="8890">
            <a:solidFill>
              <a:srgbClr val="D4DCD5"/>
            </a:solidFill>
            <a:prstDash val="solid"/>
          </a:ln>
        </p:spPr>
      </p:sp>
      <p:pic>
        <p:nvPicPr>
          <p:cNvPr id="3" name="Image 0" descr="/Users/tank/Downloads/Resuto-main/.codex-build/resuto-impactx-pitch/resuto-original-mark.png">    </p:cNvPr>
          <p:cNvPicPr>
            <a:picLocks noChangeAspect="1"/>
          </p:cNvPicPr>
          <p:nvPr/>
        </p:nvPicPr>
        <p:blipFill>
          <a:blip r:embed="rId1"/>
          <a:stretch>
            <a:fillRect/>
          </a:stretch>
        </p:blipFill>
        <p:spPr>
          <a:xfrm>
            <a:off x="384048" y="210312"/>
            <a:ext cx="356616" cy="338328"/>
          </a:xfrm>
          <a:prstGeom prst="rect">
            <a:avLst/>
          </a:prstGeom>
        </p:spPr>
      </p:pic>
      <p:sp>
        <p:nvSpPr>
          <p:cNvPr id="4" name="Text 1"/>
          <p:cNvSpPr txBox="1"/>
          <p:nvPr/>
        </p:nvSpPr>
        <p:spPr>
          <a:xfrm>
            <a:off x="786384" y="283464"/>
            <a:ext cx="914400" cy="164592"/>
          </a:xfrm>
          <a:prstGeom prst="rect">
            <a:avLst/>
          </a:prstGeom>
          <a:noFill/>
          <a:ln/>
        </p:spPr>
        <p:txBody>
          <a:bodyPr wrap="square" lIns="0" tIns="0" rIns="0" bIns="0" rtlCol="0" anchor="t">
            <a:normAutofit/>
          </a:bodyPr>
          <a:lstStyle/>
          <a:p>
            <a:pPr algn="l" indent="0" marL="0">
              <a:buNone/>
            </a:pPr>
            <a:r>
              <a:rPr lang="en-US" sz="900" b="1" dirty="0">
                <a:solidFill>
                  <a:srgbClr val="173F35"/>
                </a:solidFill>
                <a:latin typeface="Manrope" pitchFamily="34" charset="0"/>
                <a:ea typeface="Manrope" pitchFamily="34" charset="-122"/>
                <a:cs typeface="Manrope" pitchFamily="34" charset="-120"/>
              </a:rPr>
              <a:t>RESUTO</a:t>
            </a:r>
            <a:endParaRPr lang="en-US" sz="900" dirty="0"/>
          </a:p>
        </p:txBody>
      </p:sp>
      <p:sp>
        <p:nvSpPr>
          <p:cNvPr id="5" name="Text 2"/>
          <p:cNvSpPr txBox="1"/>
          <p:nvPr/>
        </p:nvSpPr>
        <p:spPr>
          <a:xfrm>
            <a:off x="9829800" y="274320"/>
            <a:ext cx="1691640" cy="146304"/>
          </a:xfrm>
          <a:prstGeom prst="rect">
            <a:avLst/>
          </a:prstGeom>
          <a:noFill/>
          <a:ln/>
        </p:spPr>
        <p:txBody>
          <a:bodyPr wrap="square" lIns="0" tIns="0" rIns="0" bIns="0" rtlCol="0" anchor="ctr">
            <a:normAutofit/>
          </a:bodyPr>
          <a:lstStyle/>
          <a:p>
            <a:pPr algn="r" indent="0" marL="0">
              <a:buNone/>
            </a:pPr>
            <a:r>
              <a:rPr lang="en-US" sz="850" b="1" spc="140" kern="0" dirty="0">
                <a:solidFill>
                  <a:srgbClr val="D89A32"/>
                </a:solidFill>
                <a:latin typeface="Manrope" pitchFamily="34" charset="0"/>
                <a:ea typeface="Manrope" pitchFamily="34" charset="-122"/>
                <a:cs typeface="Manrope" pitchFamily="34" charset="-120"/>
              </a:rPr>
              <a:t>APPENDIX · ROI</a:t>
            </a:r>
            <a:endParaRPr lang="en-US" sz="850" dirty="0"/>
          </a:p>
        </p:txBody>
      </p:sp>
      <p:sp>
        <p:nvSpPr>
          <p:cNvPr id="6" name="Text 3"/>
          <p:cNvSpPr txBox="1"/>
          <p:nvPr/>
        </p:nvSpPr>
        <p:spPr>
          <a:xfrm>
            <a:off x="658368" y="557784"/>
            <a:ext cx="10835640" cy="530352"/>
          </a:xfrm>
          <a:prstGeom prst="rect">
            <a:avLst/>
          </a:prstGeom>
          <a:noFill/>
          <a:ln/>
        </p:spPr>
        <p:txBody>
          <a:bodyPr wrap="square" lIns="0" tIns="0" rIns="0" bIns="0" rtlCol="0" anchor="t">
            <a:normAutofit/>
          </a:bodyPr>
          <a:lstStyle/>
          <a:p>
            <a:pPr algn="l" indent="0" marL="0">
              <a:buNone/>
            </a:pPr>
            <a:r>
              <a:rPr lang="en-US" sz="2800" b="1" dirty="0">
                <a:solidFill>
                  <a:srgbClr val="17231F"/>
                </a:solidFill>
                <a:latin typeface="Manrope" pitchFamily="34" charset="0"/>
                <a:ea typeface="Manrope" pitchFamily="34" charset="-122"/>
                <a:cs typeface="Manrope" pitchFamily="34" charset="-120"/>
              </a:rPr>
              <a:t>Egypt Growth ROI assumptions</a:t>
            </a:r>
            <a:endParaRPr lang="en-US" sz="2800" dirty="0"/>
          </a:p>
        </p:txBody>
      </p:sp>
      <p:sp>
        <p:nvSpPr>
          <p:cNvPr id="7" name="Text 4"/>
          <p:cNvSpPr txBox="1"/>
          <p:nvPr/>
        </p:nvSpPr>
        <p:spPr>
          <a:xfrm>
            <a:off x="676656" y="1097280"/>
            <a:ext cx="10469880" cy="347472"/>
          </a:xfrm>
          <a:prstGeom prst="rect">
            <a:avLst/>
          </a:prstGeom>
          <a:noFill/>
          <a:ln/>
        </p:spPr>
        <p:txBody>
          <a:bodyPr wrap="square" lIns="0" tIns="0" rIns="0" bIns="0" rtlCol="0" anchor="t">
            <a:normAutofit/>
          </a:bodyPr>
          <a:lstStyle/>
          <a:p>
            <a:pPr algn="l" indent="0" marL="0">
              <a:buNone/>
            </a:pPr>
            <a:r>
              <a:rPr lang="en-US" sz="1450" dirty="0">
                <a:solidFill>
                  <a:srgbClr val="66736A"/>
                </a:solidFill>
                <a:latin typeface="Manrope" pitchFamily="34" charset="0"/>
                <a:ea typeface="Manrope" pitchFamily="34" charset="-122"/>
                <a:cs typeface="Manrope" pitchFamily="34" charset="-120"/>
              </a:rPr>
              <a:t>The pilot replaces each model input with measured data</a:t>
            </a:r>
            <a:endParaRPr lang="en-US" sz="14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13232" y="1527048"/>
          <a:ext cx="10789920" cy="4526280"/>
        </p:xfrm>
        <a:graphic>
          <a:graphicData uri="http://schemas.openxmlformats.org/drawingml/2006/table">
            <a:tbl>
              <a:tblPr/>
              <a:tblGrid>
                <a:gridCol w="2121408"/>
                <a:gridCol w="2907792"/>
                <a:gridCol w="1664208"/>
                <a:gridCol w="4096512"/>
              </a:tblGrid>
              <a:tr h="521208">
                <a:tc>
                  <a:txBody>
                    <a:bodyPr/>
                    <a:lstStyle/>
                    <a:p>
                      <a:pPr indent="0" marL="0">
                        <a:buNone/>
                      </a:pPr>
                      <a:r>
                        <a:rPr lang="en-US" sz="1210" dirty="0">
                          <a:solidFill>
                            <a:srgbClr val="17231F"/>
                          </a:solidFill>
                          <a:latin typeface="Manrope" pitchFamily="34" charset="0"/>
                          <a:ea typeface="Manrope" pitchFamily="34" charset="-122"/>
                          <a:cs typeface="Manrope" pitchFamily="34" charset="-120"/>
                        </a:rPr>
                        <a:t>Benefit component</a:t>
                      </a:r>
                      <a:endParaRPr lang="en-US" sz="121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10" dirty="0">
                          <a:solidFill>
                            <a:srgbClr val="17231F"/>
                          </a:solidFill>
                          <a:latin typeface="Manrope" pitchFamily="34" charset="0"/>
                          <a:ea typeface="Manrope" pitchFamily="34" charset="-122"/>
                          <a:cs typeface="Manrope" pitchFamily="34" charset="-120"/>
                        </a:rPr>
                        <a:t>Illustrative calculation</a:t>
                      </a:r>
                      <a:endParaRPr lang="en-US" sz="121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10" dirty="0">
                          <a:solidFill>
                            <a:srgbClr val="17231F"/>
                          </a:solidFill>
                          <a:latin typeface="Manrope" pitchFamily="34" charset="0"/>
                          <a:ea typeface="Manrope" pitchFamily="34" charset="-122"/>
                          <a:cs typeface="Manrope" pitchFamily="34" charset="-120"/>
                        </a:rPr>
                        <a:t>Monthly value</a:t>
                      </a:r>
                      <a:endParaRPr lang="en-US" sz="121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10" dirty="0">
                          <a:solidFill>
                            <a:srgbClr val="17231F"/>
                          </a:solidFill>
                          <a:latin typeface="Manrope" pitchFamily="34" charset="0"/>
                          <a:ea typeface="Manrope" pitchFamily="34" charset="-122"/>
                          <a:cs typeface="Manrope" pitchFamily="34" charset="-120"/>
                        </a:rPr>
                        <a:t>Pilot measurement</a:t>
                      </a:r>
                      <a:endParaRPr lang="en-US" sz="121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r>
              <a:tr h="521208">
                <a:tc>
                  <a:txBody>
                    <a:bodyPr/>
                    <a:lstStyle/>
                    <a:p>
                      <a:pPr indent="0" marL="0">
                        <a:buNone/>
                      </a:pPr>
                      <a:r>
                        <a:rPr lang="en-US" sz="1210" dirty="0">
                          <a:solidFill>
                            <a:srgbClr val="17231F"/>
                          </a:solidFill>
                          <a:latin typeface="Manrope" pitchFamily="34" charset="0"/>
                          <a:ea typeface="Manrope" pitchFamily="34" charset="-122"/>
                          <a:cs typeface="Manrope" pitchFamily="34" charset="-120"/>
                        </a:rPr>
                        <a:t>Admin time</a:t>
                      </a:r>
                      <a:endParaRPr lang="en-US" sz="121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10" dirty="0">
                          <a:solidFill>
                            <a:srgbClr val="17231F"/>
                          </a:solidFill>
                          <a:latin typeface="Manrope" pitchFamily="34" charset="0"/>
                          <a:ea typeface="Manrope" pitchFamily="34" charset="-122"/>
                          <a:cs typeface="Manrope" pitchFamily="34" charset="-120"/>
                        </a:rPr>
                        <a:t>20 hours × EGP 75</a:t>
                      </a:r>
                      <a:endParaRPr lang="en-US" sz="121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10" dirty="0">
                          <a:solidFill>
                            <a:srgbClr val="17231F"/>
                          </a:solidFill>
                          <a:latin typeface="Manrope" pitchFamily="34" charset="0"/>
                          <a:ea typeface="Manrope" pitchFamily="34" charset="-122"/>
                          <a:cs typeface="Manrope" pitchFamily="34" charset="-120"/>
                        </a:rPr>
                        <a:t>EGP 1,500</a:t>
                      </a:r>
                      <a:endParaRPr lang="en-US" sz="121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10" dirty="0">
                          <a:solidFill>
                            <a:srgbClr val="17231F"/>
                          </a:solidFill>
                          <a:latin typeface="Manrope" pitchFamily="34" charset="0"/>
                          <a:ea typeface="Manrope" pitchFamily="34" charset="-122"/>
                          <a:cs typeface="Manrope" pitchFamily="34" charset="-120"/>
                        </a:rPr>
                        <a:t>Timed baseline vs system events</a:t>
                      </a:r>
                      <a:endParaRPr lang="en-US" sz="121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r>
              <a:tr h="521208">
                <a:tc>
                  <a:txBody>
                    <a:bodyPr/>
                    <a:lstStyle/>
                    <a:p>
                      <a:pPr indent="0" marL="0">
                        <a:buNone/>
                      </a:pPr>
                      <a:r>
                        <a:rPr lang="en-US" sz="1210" dirty="0">
                          <a:solidFill>
                            <a:srgbClr val="17231F"/>
                          </a:solidFill>
                          <a:latin typeface="Manrope" pitchFamily="34" charset="0"/>
                          <a:ea typeface="Manrope" pitchFamily="34" charset="-122"/>
                          <a:cs typeface="Manrope" pitchFamily="34" charset="-120"/>
                        </a:rPr>
                        <a:t>Avoided error / waste</a:t>
                      </a:r>
                      <a:endParaRPr lang="en-US" sz="121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10" dirty="0">
                          <a:solidFill>
                            <a:srgbClr val="17231F"/>
                          </a:solidFill>
                          <a:latin typeface="Manrope" pitchFamily="34" charset="0"/>
                          <a:ea typeface="Manrope" pitchFamily="34" charset="-122"/>
                          <a:cs typeface="Manrope" pitchFamily="34" charset="-120"/>
                        </a:rPr>
                        <a:t>0.4% × EGP 600k sales</a:t>
                      </a:r>
                      <a:endParaRPr lang="en-US" sz="121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10" dirty="0">
                          <a:solidFill>
                            <a:srgbClr val="17231F"/>
                          </a:solidFill>
                          <a:latin typeface="Manrope" pitchFamily="34" charset="0"/>
                          <a:ea typeface="Manrope" pitchFamily="34" charset="-122"/>
                          <a:cs typeface="Manrope" pitchFamily="34" charset="-120"/>
                        </a:rPr>
                        <a:t>EGP 2,400</a:t>
                      </a:r>
                      <a:endParaRPr lang="en-US" sz="121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10" dirty="0">
                          <a:solidFill>
                            <a:srgbClr val="17231F"/>
                          </a:solidFill>
                          <a:latin typeface="Manrope" pitchFamily="34" charset="0"/>
                          <a:ea typeface="Manrope" pitchFamily="34" charset="-122"/>
                          <a:cs typeface="Manrope" pitchFamily="34" charset="-120"/>
                        </a:rPr>
                        <a:t>Logged corrections with reason codes</a:t>
                      </a:r>
                      <a:endParaRPr lang="en-US" sz="121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r>
              <a:tr h="521208">
                <a:tc>
                  <a:txBody>
                    <a:bodyPr/>
                    <a:lstStyle/>
                    <a:p>
                      <a:pPr indent="0" marL="0">
                        <a:buNone/>
                      </a:pPr>
                      <a:r>
                        <a:rPr lang="en-US" sz="1210" dirty="0">
                          <a:solidFill>
                            <a:srgbClr val="17231F"/>
                          </a:solidFill>
                          <a:latin typeface="Manrope" pitchFamily="34" charset="0"/>
                          <a:ea typeface="Manrope" pitchFamily="34" charset="-122"/>
                          <a:cs typeface="Manrope" pitchFamily="34" charset="-120"/>
                        </a:rPr>
                        <a:t>Incremental contribution</a:t>
                      </a:r>
                      <a:endParaRPr lang="en-US" sz="121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10" dirty="0">
                          <a:solidFill>
                            <a:srgbClr val="17231F"/>
                          </a:solidFill>
                          <a:latin typeface="Manrope" pitchFamily="34" charset="0"/>
                          <a:ea typeface="Manrope" pitchFamily="34" charset="-122"/>
                          <a:cs typeface="Manrope" pitchFamily="34" charset="-120"/>
                        </a:rPr>
                        <a:t>8 checks × EGP 500 × 30%</a:t>
                      </a:r>
                      <a:endParaRPr lang="en-US" sz="121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10" dirty="0">
                          <a:solidFill>
                            <a:srgbClr val="17231F"/>
                          </a:solidFill>
                          <a:latin typeface="Manrope" pitchFamily="34" charset="0"/>
                          <a:ea typeface="Manrope" pitchFamily="34" charset="-122"/>
                          <a:cs typeface="Manrope" pitchFamily="34" charset="-120"/>
                        </a:rPr>
                        <a:t>EGP 1,200</a:t>
                      </a:r>
                      <a:endParaRPr lang="en-US" sz="121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10" dirty="0">
                          <a:solidFill>
                            <a:srgbClr val="17231F"/>
                          </a:solidFill>
                          <a:latin typeface="Manrope" pitchFamily="34" charset="0"/>
                          <a:ea typeface="Manrope" pitchFamily="34" charset="-122"/>
                          <a:cs typeface="Manrope" pitchFamily="34" charset="-120"/>
                        </a:rPr>
                        <a:t>Contribution margin, not gross sales</a:t>
                      </a:r>
                      <a:endParaRPr lang="en-US" sz="121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r>
              <a:tr h="521208">
                <a:tc>
                  <a:txBody>
                    <a:bodyPr/>
                    <a:lstStyle/>
                    <a:p>
                      <a:pPr indent="0" marL="0">
                        <a:buNone/>
                      </a:pPr>
                      <a:r>
                        <a:rPr lang="en-US" sz="1210" dirty="0">
                          <a:solidFill>
                            <a:srgbClr val="17231F"/>
                          </a:solidFill>
                          <a:latin typeface="Manrope" pitchFamily="34" charset="0"/>
                          <a:ea typeface="Manrope" pitchFamily="34" charset="-122"/>
                          <a:cs typeface="Manrope" pitchFamily="34" charset="-120"/>
                        </a:rPr>
                        <a:t>Total benefit</a:t>
                      </a:r>
                      <a:endParaRPr lang="en-US" sz="121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10" dirty="0">
                          <a:solidFill>
                            <a:srgbClr val="17231F"/>
                          </a:solidFill>
                          <a:latin typeface="Manrope" pitchFamily="34" charset="0"/>
                          <a:ea typeface="Manrope" pitchFamily="34" charset="-122"/>
                          <a:cs typeface="Manrope" pitchFamily="34" charset="-120"/>
                        </a:rPr>
                        <a:t>Sum of three components</a:t>
                      </a:r>
                      <a:endParaRPr lang="en-US" sz="121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10" dirty="0">
                          <a:solidFill>
                            <a:srgbClr val="17231F"/>
                          </a:solidFill>
                          <a:latin typeface="Manrope" pitchFamily="34" charset="0"/>
                          <a:ea typeface="Manrope" pitchFamily="34" charset="-122"/>
                          <a:cs typeface="Manrope" pitchFamily="34" charset="-120"/>
                        </a:rPr>
                        <a:t>EGP 5,100</a:t>
                      </a:r>
                      <a:endParaRPr lang="en-US" sz="121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10" dirty="0">
                          <a:solidFill>
                            <a:srgbClr val="17231F"/>
                          </a:solidFill>
                          <a:latin typeface="Manrope" pitchFamily="34" charset="0"/>
                          <a:ea typeface="Manrope" pitchFamily="34" charset="-122"/>
                          <a:cs typeface="Manrope" pitchFamily="34" charset="-120"/>
                        </a:rPr>
                        <a:t>Exclude unsupported attribution</a:t>
                      </a:r>
                      <a:endParaRPr lang="en-US" sz="121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r>
              <a:tr h="521208">
                <a:tc>
                  <a:txBody>
                    <a:bodyPr/>
                    <a:lstStyle/>
                    <a:p>
                      <a:pPr indent="0" marL="0">
                        <a:buNone/>
                      </a:pPr>
                      <a:r>
                        <a:rPr lang="en-US" sz="1210" dirty="0">
                          <a:solidFill>
                            <a:srgbClr val="17231F"/>
                          </a:solidFill>
                          <a:latin typeface="Manrope" pitchFamily="34" charset="0"/>
                          <a:ea typeface="Manrope" pitchFamily="34" charset="-122"/>
                          <a:cs typeface="Manrope" pitchFamily="34" charset="-120"/>
                        </a:rPr>
                        <a:t>Subscription</a:t>
                      </a:r>
                      <a:endParaRPr lang="en-US" sz="121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10" dirty="0">
                          <a:solidFill>
                            <a:srgbClr val="17231F"/>
                          </a:solidFill>
                          <a:latin typeface="Manrope" pitchFamily="34" charset="0"/>
                          <a:ea typeface="Manrope" pitchFamily="34" charset="-122"/>
                          <a:cs typeface="Manrope" pitchFamily="34" charset="-120"/>
                        </a:rPr>
                        <a:t>Growth package</a:t>
                      </a:r>
                      <a:endParaRPr lang="en-US" sz="121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10" dirty="0">
                          <a:solidFill>
                            <a:srgbClr val="17231F"/>
                          </a:solidFill>
                          <a:latin typeface="Manrope" pitchFamily="34" charset="0"/>
                          <a:ea typeface="Manrope" pitchFamily="34" charset="-122"/>
                          <a:cs typeface="Manrope" pitchFamily="34" charset="-120"/>
                        </a:rPr>
                        <a:t>EGP 1,499</a:t>
                      </a:r>
                      <a:endParaRPr lang="en-US" sz="121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10" dirty="0">
                          <a:solidFill>
                            <a:srgbClr val="17231F"/>
                          </a:solidFill>
                          <a:latin typeface="Manrope" pitchFamily="34" charset="0"/>
                          <a:ea typeface="Manrope" pitchFamily="34" charset="-122"/>
                          <a:cs typeface="Manrope" pitchFamily="34" charset="-120"/>
                        </a:rPr>
                        <a:t>Before tax</a:t>
                      </a:r>
                      <a:endParaRPr lang="en-US" sz="121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r>
              <a:tr h="521208">
                <a:tc>
                  <a:txBody>
                    <a:bodyPr/>
                    <a:lstStyle/>
                    <a:p>
                      <a:pPr indent="0" marL="0">
                        <a:buNone/>
                      </a:pPr>
                      <a:r>
                        <a:rPr lang="en-US" sz="1210" dirty="0">
                          <a:solidFill>
                            <a:srgbClr val="17231F"/>
                          </a:solidFill>
                          <a:latin typeface="Manrope" pitchFamily="34" charset="0"/>
                          <a:ea typeface="Manrope" pitchFamily="34" charset="-122"/>
                          <a:cs typeface="Manrope" pitchFamily="34" charset="-120"/>
                        </a:rPr>
                        <a:t>Net benefit</a:t>
                      </a:r>
                      <a:endParaRPr lang="en-US" sz="121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10" dirty="0">
                          <a:solidFill>
                            <a:srgbClr val="17231F"/>
                          </a:solidFill>
                          <a:latin typeface="Manrope" pitchFamily="34" charset="0"/>
                          <a:ea typeface="Manrope" pitchFamily="34" charset="-122"/>
                          <a:cs typeface="Manrope" pitchFamily="34" charset="-120"/>
                        </a:rPr>
                        <a:t>5,100 − 1,499</a:t>
                      </a:r>
                      <a:endParaRPr lang="en-US" sz="121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10" dirty="0">
                          <a:solidFill>
                            <a:srgbClr val="17231F"/>
                          </a:solidFill>
                          <a:latin typeface="Manrope" pitchFamily="34" charset="0"/>
                          <a:ea typeface="Manrope" pitchFamily="34" charset="-122"/>
                          <a:cs typeface="Manrope" pitchFamily="34" charset="-120"/>
                        </a:rPr>
                        <a:t>EGP 3,601</a:t>
                      </a:r>
                      <a:endParaRPr lang="en-US" sz="121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10" dirty="0">
                          <a:solidFill>
                            <a:srgbClr val="17231F"/>
                          </a:solidFill>
                          <a:latin typeface="Manrope" pitchFamily="34" charset="0"/>
                          <a:ea typeface="Manrope" pitchFamily="34" charset="-122"/>
                          <a:cs typeface="Manrope" pitchFamily="34" charset="-120"/>
                        </a:rPr>
                        <a:t>Reported monthly</a:t>
                      </a:r>
                      <a:endParaRPr lang="en-US" sz="121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r>
              <a:tr h="521208">
                <a:tc>
                  <a:txBody>
                    <a:bodyPr/>
                    <a:lstStyle/>
                    <a:p>
                      <a:pPr indent="0" marL="0">
                        <a:buNone/>
                      </a:pPr>
                      <a:r>
                        <a:rPr lang="en-US" sz="1210" dirty="0">
                          <a:solidFill>
                            <a:srgbClr val="17231F"/>
                          </a:solidFill>
                          <a:latin typeface="Manrope" pitchFamily="34" charset="0"/>
                          <a:ea typeface="Manrope" pitchFamily="34" charset="-122"/>
                          <a:cs typeface="Manrope" pitchFamily="34" charset="-120"/>
                        </a:rPr>
                        <a:t>Modeled ROI</a:t>
                      </a:r>
                      <a:endParaRPr lang="en-US" sz="121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10" dirty="0">
                          <a:solidFill>
                            <a:srgbClr val="17231F"/>
                          </a:solidFill>
                          <a:latin typeface="Manrope" pitchFamily="34" charset="0"/>
                          <a:ea typeface="Manrope" pitchFamily="34" charset="-122"/>
                          <a:cs typeface="Manrope" pitchFamily="34" charset="-120"/>
                        </a:rPr>
                        <a:t>3,601 ÷ 1,499 × 100</a:t>
                      </a:r>
                      <a:endParaRPr lang="en-US" sz="121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10" dirty="0">
                          <a:solidFill>
                            <a:srgbClr val="17231F"/>
                          </a:solidFill>
                          <a:latin typeface="Manrope" pitchFamily="34" charset="0"/>
                          <a:ea typeface="Manrope" pitchFamily="34" charset="-122"/>
                          <a:cs typeface="Manrope" pitchFamily="34" charset="-120"/>
                        </a:rPr>
                        <a:t>240.2%</a:t>
                      </a:r>
                      <a:endParaRPr lang="en-US" sz="121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210" dirty="0">
                          <a:solidFill>
                            <a:srgbClr val="17231F"/>
                          </a:solidFill>
                          <a:latin typeface="Manrope" pitchFamily="34" charset="0"/>
                          <a:ea typeface="Manrope" pitchFamily="34" charset="-122"/>
                          <a:cs typeface="Manrope" pitchFamily="34" charset="-120"/>
                        </a:rPr>
                        <a:t>Rounded to 240%</a:t>
                      </a:r>
                      <a:endParaRPr lang="en-US" sz="1210" dirty="0">
                        <a:latin typeface="Manrope" charset="0"/>
                        <a:ea typeface="Manrope" charset="0"/>
                        <a:cs typeface="Manrope" charset="0"/>
                      </a:endParaRPr>
                    </a:p>
                  </a:txBody>
                  <a:tcPr marL="91440" marR="91440" marT="91440" marB="91440" anchor="ctr">
                    <a:lnL w="10160" cap="flat" cmpd="sng" algn="ctr">
                      <a:solidFill>
                        <a:srgbClr val="D4DCD5"/>
                      </a:solidFill>
                      <a:prstDash val="solid"/>
                      <a:round/>
                      <a:headEnd type="none" w="med" len="med"/>
                      <a:tailEnd type="none" w="med" len="med"/>
                    </a:lnL>
                    <a:lnR w="10160" cap="flat" cmpd="sng" algn="ctr">
                      <a:solidFill>
                        <a:srgbClr val="D4DCD5"/>
                      </a:solidFill>
                      <a:prstDash val="solid"/>
                      <a:round/>
                      <a:headEnd type="none" w="med" len="med"/>
                      <a:tailEnd type="none" w="med" len="med"/>
                    </a:lnR>
                    <a:lnT w="10160" cap="flat" cmpd="sng" algn="ctr">
                      <a:solidFill>
                        <a:srgbClr val="D4DCD5"/>
                      </a:solidFill>
                      <a:prstDash val="solid"/>
                      <a:round/>
                      <a:headEnd type="none" w="med" len="med"/>
                      <a:tailEnd type="none" w="med" len="med"/>
                    </a:lnT>
                    <a:lnB w="10160" cap="flat" cmpd="sng" algn="ctr">
                      <a:solidFill>
                        <a:srgbClr val="D4DCD5"/>
                      </a:solidFill>
                      <a:prstDash val="solid"/>
                      <a:round/>
                      <a:headEnd type="none" w="med" len="med"/>
                      <a:tailEnd type="none" w="med" len="med"/>
                    </a:lnB>
                    <a:solidFill>
                      <a:srgbClr val="FFFFFF"/>
                    </a:solidFill>
                  </a:tcPr>
                </a:tc>
              </a:tr>
            </a:tbl>
          </a:graphicData>
        </a:graphic>
      </p:graphicFrame>
      <p:sp>
        <p:nvSpPr>
          <p:cNvPr id="9" name="Shape 5"/>
          <p:cNvSpPr/>
          <p:nvPr/>
        </p:nvSpPr>
        <p:spPr>
          <a:xfrm>
            <a:off x="713232" y="1527048"/>
            <a:ext cx="10789920" cy="530352"/>
          </a:xfrm>
          <a:prstGeom prst="rect">
            <a:avLst/>
          </a:prstGeom>
          <a:solidFill>
            <a:srgbClr val="173F35"/>
          </a:solidFill>
          <a:ln w="12700">
            <a:solidFill>
              <a:srgbClr val="FFFFFF">
                <a:alpha val="0"/>
              </a:srgbClr>
            </a:solidFill>
            <a:prstDash val="solid"/>
          </a:ln>
        </p:spPr>
      </p:sp>
      <p:sp>
        <p:nvSpPr>
          <p:cNvPr id="10" name="Text 6"/>
          <p:cNvSpPr txBox="1"/>
          <p:nvPr/>
        </p:nvSpPr>
        <p:spPr>
          <a:xfrm>
            <a:off x="896112" y="1673352"/>
            <a:ext cx="1691640" cy="201168"/>
          </a:xfrm>
          <a:prstGeom prst="rect">
            <a:avLst/>
          </a:prstGeom>
          <a:noFill/>
          <a:ln/>
        </p:spPr>
        <p:txBody>
          <a:bodyPr wrap="square" lIns="0" tIns="0" rIns="0" bIns="0" rtlCol="0" anchor="ctr">
            <a:normAutofit/>
          </a:bodyPr>
          <a:lstStyle/>
          <a:p>
            <a:pPr algn="l" indent="0" marL="0">
              <a:buNone/>
            </a:pPr>
            <a:r>
              <a:rPr lang="en-US" sz="1080" b="1" dirty="0">
                <a:solidFill>
                  <a:srgbClr val="FFFFFF"/>
                </a:solidFill>
                <a:latin typeface="Manrope" pitchFamily="34" charset="0"/>
                <a:ea typeface="Manrope" pitchFamily="34" charset="-122"/>
                <a:cs typeface="Manrope" pitchFamily="34" charset="-120"/>
              </a:rPr>
              <a:t>Benefit component</a:t>
            </a:r>
            <a:endParaRPr lang="en-US" sz="1080" dirty="0"/>
          </a:p>
        </p:txBody>
      </p:sp>
      <p:sp>
        <p:nvSpPr>
          <p:cNvPr id="11" name="Text 7"/>
          <p:cNvSpPr txBox="1"/>
          <p:nvPr/>
        </p:nvSpPr>
        <p:spPr>
          <a:xfrm>
            <a:off x="2990088" y="1673352"/>
            <a:ext cx="2377440" cy="201168"/>
          </a:xfrm>
          <a:prstGeom prst="rect">
            <a:avLst/>
          </a:prstGeom>
          <a:noFill/>
          <a:ln/>
        </p:spPr>
        <p:txBody>
          <a:bodyPr wrap="square" lIns="0" tIns="0" rIns="0" bIns="0" rtlCol="0" anchor="ctr">
            <a:normAutofit/>
          </a:bodyPr>
          <a:lstStyle/>
          <a:p>
            <a:pPr algn="l" indent="0" marL="0">
              <a:buNone/>
            </a:pPr>
            <a:r>
              <a:rPr lang="en-US" sz="1080" b="1" dirty="0">
                <a:solidFill>
                  <a:srgbClr val="FFFFFF"/>
                </a:solidFill>
                <a:latin typeface="Manrope" pitchFamily="34" charset="0"/>
                <a:ea typeface="Manrope" pitchFamily="34" charset="-122"/>
                <a:cs typeface="Manrope" pitchFamily="34" charset="-120"/>
              </a:rPr>
              <a:t>Illustrative calculation</a:t>
            </a:r>
            <a:endParaRPr lang="en-US" sz="1080" dirty="0"/>
          </a:p>
        </p:txBody>
      </p:sp>
      <p:sp>
        <p:nvSpPr>
          <p:cNvPr id="12" name="Text 8"/>
          <p:cNvSpPr txBox="1"/>
          <p:nvPr/>
        </p:nvSpPr>
        <p:spPr>
          <a:xfrm>
            <a:off x="5952744" y="1673352"/>
            <a:ext cx="1280160" cy="201168"/>
          </a:xfrm>
          <a:prstGeom prst="rect">
            <a:avLst/>
          </a:prstGeom>
          <a:noFill/>
          <a:ln/>
        </p:spPr>
        <p:txBody>
          <a:bodyPr wrap="square" lIns="0" tIns="0" rIns="0" bIns="0" rtlCol="0" anchor="ctr">
            <a:normAutofit/>
          </a:bodyPr>
          <a:lstStyle/>
          <a:p>
            <a:pPr algn="l" indent="0" marL="0">
              <a:buNone/>
            </a:pPr>
            <a:r>
              <a:rPr lang="en-US" sz="1080" b="1" dirty="0">
                <a:solidFill>
                  <a:srgbClr val="FFFFFF"/>
                </a:solidFill>
                <a:latin typeface="Manrope" pitchFamily="34" charset="0"/>
                <a:ea typeface="Manrope" pitchFamily="34" charset="-122"/>
                <a:cs typeface="Manrope" pitchFamily="34" charset="-120"/>
              </a:rPr>
              <a:t>Monthly value</a:t>
            </a:r>
            <a:endParaRPr lang="en-US" sz="1080" dirty="0"/>
          </a:p>
        </p:txBody>
      </p:sp>
      <p:sp>
        <p:nvSpPr>
          <p:cNvPr id="13" name="Text 9"/>
          <p:cNvSpPr txBox="1"/>
          <p:nvPr/>
        </p:nvSpPr>
        <p:spPr>
          <a:xfrm>
            <a:off x="7580376" y="1673352"/>
            <a:ext cx="3383280" cy="201168"/>
          </a:xfrm>
          <a:prstGeom prst="rect">
            <a:avLst/>
          </a:prstGeom>
          <a:noFill/>
          <a:ln/>
        </p:spPr>
        <p:txBody>
          <a:bodyPr wrap="square" lIns="0" tIns="0" rIns="0" bIns="0" rtlCol="0" anchor="ctr">
            <a:normAutofit/>
          </a:bodyPr>
          <a:lstStyle/>
          <a:p>
            <a:pPr algn="l" indent="0" marL="0">
              <a:buNone/>
            </a:pPr>
            <a:r>
              <a:rPr lang="en-US" sz="1080" b="1" dirty="0">
                <a:solidFill>
                  <a:srgbClr val="FFFFFF"/>
                </a:solidFill>
                <a:latin typeface="Manrope" pitchFamily="34" charset="0"/>
                <a:ea typeface="Manrope" pitchFamily="34" charset="-122"/>
                <a:cs typeface="Manrope" pitchFamily="34" charset="-120"/>
              </a:rPr>
              <a:t>Pilot measurement</a:t>
            </a:r>
            <a:endParaRPr lang="en-US" sz="1080" dirty="0"/>
          </a:p>
        </p:txBody>
      </p:sp>
      <p:sp>
        <p:nvSpPr>
          <p:cNvPr id="14" name="Text 10"/>
          <p:cNvSpPr txBox="1"/>
          <p:nvPr/>
        </p:nvSpPr>
        <p:spPr>
          <a:xfrm>
            <a:off x="658368" y="6565392"/>
            <a:ext cx="5303520" cy="118872"/>
          </a:xfrm>
          <a:prstGeom prst="rect">
            <a:avLst/>
          </a:prstGeom>
          <a:noFill/>
          <a:ln/>
        </p:spPr>
        <p:txBody>
          <a:bodyPr wrap="square" lIns="0" tIns="0" rIns="0" bIns="0" rtlCol="0" anchor="t">
            <a:normAutofit/>
          </a:bodyPr>
          <a:lstStyle/>
          <a:p>
            <a:pPr algn="l" indent="0" marL="0">
              <a:buNone/>
            </a:pPr>
            <a:r>
              <a:rPr lang="en-US" sz="850" dirty="0">
                <a:solidFill>
                  <a:srgbClr val="66736A"/>
                </a:solidFill>
                <a:latin typeface="Manrope" pitchFamily="34" charset="0"/>
                <a:ea typeface="Manrope" pitchFamily="34" charset="-122"/>
                <a:cs typeface="Manrope" pitchFamily="34" charset="-120"/>
              </a:rPr>
              <a:t>Illustrative model · excludes hardware, gateway fees, tax and any setup fee</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384048" y="6510528"/>
            <a:ext cx="11402568" cy="0"/>
          </a:xfrm>
          <a:prstGeom prst="line">
            <a:avLst/>
          </a:prstGeom>
          <a:noFill/>
          <a:ln w="8890">
            <a:solidFill>
              <a:srgbClr val="D4DCD5"/>
            </a:solidFill>
            <a:prstDash val="solid"/>
          </a:ln>
        </p:spPr>
      </p:sp>
      <p:pic>
        <p:nvPicPr>
          <p:cNvPr id="3" name="Image 0" descr="/Users/tank/Downloads/Resuto-main/.codex-build/resuto-impactx-pitch/resuto-original-mark.png">    </p:cNvPr>
          <p:cNvPicPr>
            <a:picLocks noChangeAspect="1"/>
          </p:cNvPicPr>
          <p:nvPr/>
        </p:nvPicPr>
        <p:blipFill>
          <a:blip r:embed="rId1"/>
          <a:stretch>
            <a:fillRect/>
          </a:stretch>
        </p:blipFill>
        <p:spPr>
          <a:xfrm>
            <a:off x="384048" y="210312"/>
            <a:ext cx="356616" cy="338328"/>
          </a:xfrm>
          <a:prstGeom prst="rect">
            <a:avLst/>
          </a:prstGeom>
        </p:spPr>
      </p:pic>
      <p:sp>
        <p:nvSpPr>
          <p:cNvPr id="4" name="Text 1"/>
          <p:cNvSpPr txBox="1"/>
          <p:nvPr/>
        </p:nvSpPr>
        <p:spPr>
          <a:xfrm>
            <a:off x="786384" y="283464"/>
            <a:ext cx="914400" cy="164592"/>
          </a:xfrm>
          <a:prstGeom prst="rect">
            <a:avLst/>
          </a:prstGeom>
          <a:noFill/>
          <a:ln/>
        </p:spPr>
        <p:txBody>
          <a:bodyPr wrap="square" lIns="0" tIns="0" rIns="0" bIns="0" rtlCol="0" anchor="t">
            <a:normAutofit/>
          </a:bodyPr>
          <a:lstStyle/>
          <a:p>
            <a:pPr algn="l" indent="0" marL="0">
              <a:buNone/>
            </a:pPr>
            <a:r>
              <a:rPr lang="en-US" sz="900" b="1" dirty="0">
                <a:solidFill>
                  <a:srgbClr val="173F35"/>
                </a:solidFill>
                <a:latin typeface="Manrope" pitchFamily="34" charset="0"/>
                <a:ea typeface="Manrope" pitchFamily="34" charset="-122"/>
                <a:cs typeface="Manrope" pitchFamily="34" charset="-120"/>
              </a:rPr>
              <a:t>RESUTO</a:t>
            </a:r>
            <a:endParaRPr lang="en-US" sz="900" dirty="0"/>
          </a:p>
        </p:txBody>
      </p:sp>
      <p:sp>
        <p:nvSpPr>
          <p:cNvPr id="5" name="Text 2"/>
          <p:cNvSpPr txBox="1"/>
          <p:nvPr/>
        </p:nvSpPr>
        <p:spPr>
          <a:xfrm>
            <a:off x="9829800" y="274320"/>
            <a:ext cx="1691640" cy="146304"/>
          </a:xfrm>
          <a:prstGeom prst="rect">
            <a:avLst/>
          </a:prstGeom>
          <a:noFill/>
          <a:ln/>
        </p:spPr>
        <p:txBody>
          <a:bodyPr wrap="square" lIns="0" tIns="0" rIns="0" bIns="0" rtlCol="0" anchor="ctr">
            <a:normAutofit/>
          </a:bodyPr>
          <a:lstStyle/>
          <a:p>
            <a:pPr algn="r" indent="0" marL="0">
              <a:buNone/>
            </a:pPr>
            <a:r>
              <a:rPr lang="en-US" sz="850" b="1" spc="140" kern="0" dirty="0">
                <a:solidFill>
                  <a:srgbClr val="D89A32"/>
                </a:solidFill>
                <a:latin typeface="Manrope" pitchFamily="34" charset="0"/>
                <a:ea typeface="Manrope" pitchFamily="34" charset="-122"/>
                <a:cs typeface="Manrope" pitchFamily="34" charset="-120"/>
              </a:rPr>
              <a:t>APPENDIX · PILOT</a:t>
            </a:r>
            <a:endParaRPr lang="en-US" sz="850" dirty="0"/>
          </a:p>
        </p:txBody>
      </p:sp>
      <p:sp>
        <p:nvSpPr>
          <p:cNvPr id="6" name="Text 3"/>
          <p:cNvSpPr txBox="1"/>
          <p:nvPr/>
        </p:nvSpPr>
        <p:spPr>
          <a:xfrm>
            <a:off x="658368" y="557784"/>
            <a:ext cx="10835640" cy="530352"/>
          </a:xfrm>
          <a:prstGeom prst="rect">
            <a:avLst/>
          </a:prstGeom>
          <a:noFill/>
          <a:ln/>
        </p:spPr>
        <p:txBody>
          <a:bodyPr wrap="square" lIns="0" tIns="0" rIns="0" bIns="0" rtlCol="0" anchor="t">
            <a:normAutofit/>
          </a:bodyPr>
          <a:lstStyle/>
          <a:p>
            <a:pPr algn="l" indent="0" marL="0">
              <a:buNone/>
            </a:pPr>
            <a:r>
              <a:rPr lang="en-US" sz="2800" b="1" dirty="0">
                <a:solidFill>
                  <a:srgbClr val="17231F"/>
                </a:solidFill>
                <a:latin typeface="Manrope" pitchFamily="34" charset="0"/>
                <a:ea typeface="Manrope" pitchFamily="34" charset="-122"/>
                <a:cs typeface="Manrope" pitchFamily="34" charset="-120"/>
              </a:rPr>
              <a:t>Pilot measurement and go-to-market</a:t>
            </a:r>
            <a:endParaRPr lang="en-US" sz="2800" dirty="0"/>
          </a:p>
        </p:txBody>
      </p:sp>
      <p:sp>
        <p:nvSpPr>
          <p:cNvPr id="7" name="Text 4"/>
          <p:cNvSpPr txBox="1"/>
          <p:nvPr/>
        </p:nvSpPr>
        <p:spPr>
          <a:xfrm>
            <a:off x="676656" y="1097280"/>
            <a:ext cx="10469880" cy="347472"/>
          </a:xfrm>
          <a:prstGeom prst="rect">
            <a:avLst/>
          </a:prstGeom>
          <a:noFill/>
          <a:ln/>
        </p:spPr>
        <p:txBody>
          <a:bodyPr wrap="square" lIns="0" tIns="0" rIns="0" bIns="0" rtlCol="0" anchor="t">
            <a:normAutofit/>
          </a:bodyPr>
          <a:lstStyle/>
          <a:p>
            <a:pPr algn="l" indent="0" marL="0">
              <a:buNone/>
            </a:pPr>
            <a:r>
              <a:rPr lang="en-US" sz="1450" dirty="0">
                <a:solidFill>
                  <a:srgbClr val="66736A"/>
                </a:solidFill>
                <a:latin typeface="Manrope" pitchFamily="34" charset="0"/>
                <a:ea typeface="Manrope" pitchFamily="34" charset="-122"/>
                <a:cs typeface="Manrope" pitchFamily="34" charset="-120"/>
              </a:rPr>
              <a:t>A commercial decision closes the feedback loop</a:t>
            </a:r>
            <a:endParaRPr lang="en-US" sz="1450" dirty="0"/>
          </a:p>
        </p:txBody>
      </p:sp>
      <p:sp>
        <p:nvSpPr>
          <p:cNvPr id="8" name="Text 5"/>
          <p:cNvSpPr txBox="1"/>
          <p:nvPr/>
        </p:nvSpPr>
        <p:spPr>
          <a:xfrm>
            <a:off x="731520" y="1664208"/>
            <a:ext cx="548640" cy="256032"/>
          </a:xfrm>
          <a:prstGeom prst="rect">
            <a:avLst/>
          </a:prstGeom>
          <a:noFill/>
          <a:ln/>
        </p:spPr>
        <p:txBody>
          <a:bodyPr wrap="square" lIns="0" tIns="0" rIns="0" bIns="0" rtlCol="0" anchor="ctr">
            <a:normAutofit/>
          </a:bodyPr>
          <a:lstStyle/>
          <a:p>
            <a:pPr algn="l" indent="0" marL="0">
              <a:buNone/>
            </a:pPr>
            <a:r>
              <a:rPr lang="en-US" sz="1100" b="1" dirty="0">
                <a:solidFill>
                  <a:srgbClr val="E8763C"/>
                </a:solidFill>
                <a:latin typeface="Manrope" pitchFamily="34" charset="0"/>
                <a:ea typeface="Manrope" pitchFamily="34" charset="-122"/>
                <a:cs typeface="Manrope" pitchFamily="34" charset="-120"/>
              </a:rPr>
              <a:t>W0</a:t>
            </a:r>
            <a:endParaRPr lang="en-US" sz="1100" dirty="0"/>
          </a:p>
        </p:txBody>
      </p:sp>
      <p:sp>
        <p:nvSpPr>
          <p:cNvPr id="9" name="Text 6"/>
          <p:cNvSpPr txBox="1"/>
          <p:nvPr/>
        </p:nvSpPr>
        <p:spPr>
          <a:xfrm>
            <a:off x="731520" y="2048256"/>
            <a:ext cx="1783080" cy="365760"/>
          </a:xfrm>
          <a:prstGeom prst="rect">
            <a:avLst/>
          </a:prstGeom>
          <a:noFill/>
          <a:ln/>
        </p:spPr>
        <p:txBody>
          <a:bodyPr wrap="square" lIns="0" tIns="0" rIns="0" bIns="0" rtlCol="0" anchor="ctr">
            <a:normAutofit/>
          </a:bodyPr>
          <a:lstStyle/>
          <a:p>
            <a:pPr algn="l" indent="0" marL="0">
              <a:buNone/>
            </a:pPr>
            <a:r>
              <a:rPr lang="en-US" sz="2000" b="1" dirty="0">
                <a:solidFill>
                  <a:srgbClr val="173F35"/>
                </a:solidFill>
                <a:latin typeface="Manrope" pitchFamily="34" charset="0"/>
                <a:ea typeface="Manrope" pitchFamily="34" charset="-122"/>
                <a:cs typeface="Manrope" pitchFamily="34" charset="-120"/>
              </a:rPr>
              <a:t>Recruit</a:t>
            </a:r>
            <a:endParaRPr lang="en-US" sz="2000" dirty="0"/>
          </a:p>
        </p:txBody>
      </p:sp>
      <p:sp>
        <p:nvSpPr>
          <p:cNvPr id="10" name="Text 7"/>
          <p:cNvSpPr txBox="1"/>
          <p:nvPr/>
        </p:nvSpPr>
        <p:spPr>
          <a:xfrm>
            <a:off x="731520" y="2578608"/>
            <a:ext cx="1810512" cy="969264"/>
          </a:xfrm>
          <a:prstGeom prst="rect">
            <a:avLst/>
          </a:prstGeom>
          <a:noFill/>
          <a:ln/>
        </p:spPr>
        <p:txBody>
          <a:bodyPr wrap="square" lIns="0" tIns="0" rIns="0" bIns="0" rtlCol="0" anchor="t">
            <a:normAutofit/>
          </a:bodyPr>
          <a:lstStyle/>
          <a:p>
            <a:pPr algn="l" indent="0" marL="0">
              <a:buNone/>
            </a:pPr>
            <a:r>
              <a:rPr lang="en-US" sz="1230" dirty="0">
                <a:solidFill>
                  <a:srgbClr val="66736A"/>
                </a:solidFill>
                <a:latin typeface="Manrope" pitchFamily="34" charset="0"/>
                <a:ea typeface="Manrope" pitchFamily="34" charset="-122"/>
                <a:cs typeface="Manrope" pitchFamily="34" charset="-120"/>
              </a:rPr>
              <a:t>Three distinct restaurants, consent, owner and success line</a:t>
            </a:r>
            <a:endParaRPr lang="en-US" sz="1230" dirty="0"/>
          </a:p>
        </p:txBody>
      </p:sp>
      <p:sp>
        <p:nvSpPr>
          <p:cNvPr id="11" name="Shape 8"/>
          <p:cNvSpPr/>
          <p:nvPr/>
        </p:nvSpPr>
        <p:spPr>
          <a:xfrm>
            <a:off x="2560320" y="2231136"/>
            <a:ext cx="292608" cy="0"/>
          </a:xfrm>
          <a:prstGeom prst="line">
            <a:avLst/>
          </a:prstGeom>
          <a:noFill/>
          <a:ln w="22860">
            <a:solidFill>
              <a:srgbClr val="E8763C"/>
            </a:solidFill>
            <a:prstDash val="solid"/>
            <a:tailEnd type="triangle"/>
          </a:ln>
        </p:spPr>
      </p:sp>
      <p:sp>
        <p:nvSpPr>
          <p:cNvPr id="12" name="Text 9"/>
          <p:cNvSpPr txBox="1"/>
          <p:nvPr/>
        </p:nvSpPr>
        <p:spPr>
          <a:xfrm>
            <a:off x="2953512" y="1664208"/>
            <a:ext cx="548640" cy="256032"/>
          </a:xfrm>
          <a:prstGeom prst="rect">
            <a:avLst/>
          </a:prstGeom>
          <a:noFill/>
          <a:ln/>
        </p:spPr>
        <p:txBody>
          <a:bodyPr wrap="square" lIns="0" tIns="0" rIns="0" bIns="0" rtlCol="0" anchor="ctr">
            <a:normAutofit/>
          </a:bodyPr>
          <a:lstStyle/>
          <a:p>
            <a:pPr algn="l" indent="0" marL="0">
              <a:buNone/>
            </a:pPr>
            <a:r>
              <a:rPr lang="en-US" sz="1100" b="1" dirty="0">
                <a:solidFill>
                  <a:srgbClr val="E8763C"/>
                </a:solidFill>
                <a:latin typeface="Manrope" pitchFamily="34" charset="0"/>
                <a:ea typeface="Manrope" pitchFamily="34" charset="-122"/>
                <a:cs typeface="Manrope" pitchFamily="34" charset="-120"/>
              </a:rPr>
              <a:t>W1</a:t>
            </a:r>
            <a:endParaRPr lang="en-US" sz="1100" dirty="0"/>
          </a:p>
        </p:txBody>
      </p:sp>
      <p:sp>
        <p:nvSpPr>
          <p:cNvPr id="13" name="Text 10"/>
          <p:cNvSpPr txBox="1"/>
          <p:nvPr/>
        </p:nvSpPr>
        <p:spPr>
          <a:xfrm>
            <a:off x="2953512" y="2048256"/>
            <a:ext cx="1783080" cy="365760"/>
          </a:xfrm>
          <a:prstGeom prst="rect">
            <a:avLst/>
          </a:prstGeom>
          <a:noFill/>
          <a:ln/>
        </p:spPr>
        <p:txBody>
          <a:bodyPr wrap="square" lIns="0" tIns="0" rIns="0" bIns="0" rtlCol="0" anchor="ctr">
            <a:normAutofit/>
          </a:bodyPr>
          <a:lstStyle/>
          <a:p>
            <a:pPr algn="l" indent="0" marL="0">
              <a:buNone/>
            </a:pPr>
            <a:r>
              <a:rPr lang="en-US" sz="2000" b="1" dirty="0">
                <a:solidFill>
                  <a:srgbClr val="173F35"/>
                </a:solidFill>
                <a:latin typeface="Manrope" pitchFamily="34" charset="0"/>
                <a:ea typeface="Manrope" pitchFamily="34" charset="-122"/>
                <a:cs typeface="Manrope" pitchFamily="34" charset="-120"/>
              </a:rPr>
              <a:t>Baseline</a:t>
            </a:r>
            <a:endParaRPr lang="en-US" sz="2000" dirty="0"/>
          </a:p>
        </p:txBody>
      </p:sp>
      <p:sp>
        <p:nvSpPr>
          <p:cNvPr id="14" name="Text 11"/>
          <p:cNvSpPr txBox="1"/>
          <p:nvPr/>
        </p:nvSpPr>
        <p:spPr>
          <a:xfrm>
            <a:off x="2953512" y="2578608"/>
            <a:ext cx="1810512" cy="969264"/>
          </a:xfrm>
          <a:prstGeom prst="rect">
            <a:avLst/>
          </a:prstGeom>
          <a:noFill/>
          <a:ln/>
        </p:spPr>
        <p:txBody>
          <a:bodyPr wrap="square" lIns="0" tIns="0" rIns="0" bIns="0" rtlCol="0" anchor="t">
            <a:normAutofit/>
          </a:bodyPr>
          <a:lstStyle/>
          <a:p>
            <a:pPr algn="l" indent="0" marL="0">
              <a:buNone/>
            </a:pPr>
            <a:r>
              <a:rPr lang="en-US" sz="1230" dirty="0">
                <a:solidFill>
                  <a:srgbClr val="66736A"/>
                </a:solidFill>
                <a:latin typeface="Manrope" pitchFamily="34" charset="0"/>
                <a:ea typeface="Manrope" pitchFamily="34" charset="-122"/>
                <a:cs typeface="Manrope" pitchFamily="34" charset="-120"/>
              </a:rPr>
              <a:t>Time, errors, settlement and current workflow without Resuto</a:t>
            </a:r>
            <a:endParaRPr lang="en-US" sz="1230" dirty="0"/>
          </a:p>
        </p:txBody>
      </p:sp>
      <p:sp>
        <p:nvSpPr>
          <p:cNvPr id="15" name="Shape 12"/>
          <p:cNvSpPr/>
          <p:nvPr/>
        </p:nvSpPr>
        <p:spPr>
          <a:xfrm>
            <a:off x="4782312" y="2231136"/>
            <a:ext cx="292608" cy="0"/>
          </a:xfrm>
          <a:prstGeom prst="line">
            <a:avLst/>
          </a:prstGeom>
          <a:noFill/>
          <a:ln w="22860">
            <a:solidFill>
              <a:srgbClr val="E8763C"/>
            </a:solidFill>
            <a:prstDash val="solid"/>
            <a:tailEnd type="triangle"/>
          </a:ln>
        </p:spPr>
      </p:sp>
      <p:sp>
        <p:nvSpPr>
          <p:cNvPr id="16" name="Text 13"/>
          <p:cNvSpPr txBox="1"/>
          <p:nvPr/>
        </p:nvSpPr>
        <p:spPr>
          <a:xfrm>
            <a:off x="5175504" y="1664208"/>
            <a:ext cx="548640" cy="256032"/>
          </a:xfrm>
          <a:prstGeom prst="rect">
            <a:avLst/>
          </a:prstGeom>
          <a:noFill/>
          <a:ln/>
        </p:spPr>
        <p:txBody>
          <a:bodyPr wrap="square" lIns="0" tIns="0" rIns="0" bIns="0" rtlCol="0" anchor="ctr">
            <a:normAutofit/>
          </a:bodyPr>
          <a:lstStyle/>
          <a:p>
            <a:pPr algn="l" indent="0" marL="0">
              <a:buNone/>
            </a:pPr>
            <a:r>
              <a:rPr lang="en-US" sz="1100" b="1" dirty="0">
                <a:solidFill>
                  <a:srgbClr val="E8763C"/>
                </a:solidFill>
                <a:latin typeface="Manrope" pitchFamily="34" charset="0"/>
                <a:ea typeface="Manrope" pitchFamily="34" charset="-122"/>
                <a:cs typeface="Manrope" pitchFamily="34" charset="-120"/>
              </a:rPr>
              <a:t>W2</a:t>
            </a:r>
            <a:endParaRPr lang="en-US" sz="1100" dirty="0"/>
          </a:p>
        </p:txBody>
      </p:sp>
      <p:sp>
        <p:nvSpPr>
          <p:cNvPr id="17" name="Text 14"/>
          <p:cNvSpPr txBox="1"/>
          <p:nvPr/>
        </p:nvSpPr>
        <p:spPr>
          <a:xfrm>
            <a:off x="5175504" y="2048256"/>
            <a:ext cx="1783080" cy="365760"/>
          </a:xfrm>
          <a:prstGeom prst="rect">
            <a:avLst/>
          </a:prstGeom>
          <a:noFill/>
          <a:ln/>
        </p:spPr>
        <p:txBody>
          <a:bodyPr wrap="square" lIns="0" tIns="0" rIns="0" bIns="0" rtlCol="0" anchor="ctr">
            <a:normAutofit/>
          </a:bodyPr>
          <a:lstStyle/>
          <a:p>
            <a:pPr algn="l" indent="0" marL="0">
              <a:buNone/>
            </a:pPr>
            <a:r>
              <a:rPr lang="en-US" sz="2000" b="1" dirty="0">
                <a:solidFill>
                  <a:srgbClr val="173F35"/>
                </a:solidFill>
                <a:latin typeface="Manrope" pitchFamily="34" charset="0"/>
                <a:ea typeface="Manrope" pitchFamily="34" charset="-122"/>
                <a:cs typeface="Manrope" pitchFamily="34" charset="-120"/>
              </a:rPr>
              <a:t>Activate</a:t>
            </a:r>
            <a:endParaRPr lang="en-US" sz="2000" dirty="0"/>
          </a:p>
        </p:txBody>
      </p:sp>
      <p:sp>
        <p:nvSpPr>
          <p:cNvPr id="18" name="Text 15"/>
          <p:cNvSpPr txBox="1"/>
          <p:nvPr/>
        </p:nvSpPr>
        <p:spPr>
          <a:xfrm>
            <a:off x="5175504" y="2578608"/>
            <a:ext cx="1810512" cy="969264"/>
          </a:xfrm>
          <a:prstGeom prst="rect">
            <a:avLst/>
          </a:prstGeom>
          <a:noFill/>
          <a:ln/>
        </p:spPr>
        <p:txBody>
          <a:bodyPr wrap="square" lIns="0" tIns="0" rIns="0" bIns="0" rtlCol="0" anchor="t">
            <a:normAutofit/>
          </a:bodyPr>
          <a:lstStyle/>
          <a:p>
            <a:pPr algn="l" indent="0" marL="0">
              <a:buNone/>
            </a:pPr>
            <a:r>
              <a:rPr lang="en-US" sz="1230" dirty="0">
                <a:solidFill>
                  <a:srgbClr val="66736A"/>
                </a:solidFill>
                <a:latin typeface="Manrope" pitchFamily="34" charset="0"/>
                <a:ea typeface="Manrope" pitchFamily="34" charset="-122"/>
                <a:cs typeface="Manrope" pitchFamily="34" charset="-120"/>
              </a:rPr>
              <a:t>Menu and floor setup, team training, first complete order</a:t>
            </a:r>
            <a:endParaRPr lang="en-US" sz="1230" dirty="0"/>
          </a:p>
        </p:txBody>
      </p:sp>
      <p:sp>
        <p:nvSpPr>
          <p:cNvPr id="19" name="Shape 16"/>
          <p:cNvSpPr/>
          <p:nvPr/>
        </p:nvSpPr>
        <p:spPr>
          <a:xfrm>
            <a:off x="7004304" y="2231136"/>
            <a:ext cx="292608" cy="0"/>
          </a:xfrm>
          <a:prstGeom prst="line">
            <a:avLst/>
          </a:prstGeom>
          <a:noFill/>
          <a:ln w="22860">
            <a:solidFill>
              <a:srgbClr val="E8763C"/>
            </a:solidFill>
            <a:prstDash val="solid"/>
            <a:tailEnd type="triangle"/>
          </a:ln>
        </p:spPr>
      </p:sp>
      <p:sp>
        <p:nvSpPr>
          <p:cNvPr id="20" name="Text 17"/>
          <p:cNvSpPr txBox="1"/>
          <p:nvPr/>
        </p:nvSpPr>
        <p:spPr>
          <a:xfrm>
            <a:off x="7397496" y="1664208"/>
            <a:ext cx="548640" cy="256032"/>
          </a:xfrm>
          <a:prstGeom prst="rect">
            <a:avLst/>
          </a:prstGeom>
          <a:noFill/>
          <a:ln/>
        </p:spPr>
        <p:txBody>
          <a:bodyPr wrap="square" lIns="0" tIns="0" rIns="0" bIns="0" rtlCol="0" anchor="ctr">
            <a:normAutofit/>
          </a:bodyPr>
          <a:lstStyle/>
          <a:p>
            <a:pPr algn="l" indent="0" marL="0">
              <a:buNone/>
            </a:pPr>
            <a:r>
              <a:rPr lang="en-US" sz="1100" b="1" dirty="0">
                <a:solidFill>
                  <a:srgbClr val="E8763C"/>
                </a:solidFill>
                <a:latin typeface="Manrope" pitchFamily="34" charset="0"/>
                <a:ea typeface="Manrope" pitchFamily="34" charset="-122"/>
                <a:cs typeface="Manrope" pitchFamily="34" charset="-120"/>
              </a:rPr>
              <a:t>W3</a:t>
            </a:r>
            <a:endParaRPr lang="en-US" sz="1100" dirty="0"/>
          </a:p>
        </p:txBody>
      </p:sp>
      <p:sp>
        <p:nvSpPr>
          <p:cNvPr id="21" name="Text 18"/>
          <p:cNvSpPr txBox="1"/>
          <p:nvPr/>
        </p:nvSpPr>
        <p:spPr>
          <a:xfrm>
            <a:off x="7397496" y="2048256"/>
            <a:ext cx="1783080" cy="365760"/>
          </a:xfrm>
          <a:prstGeom prst="rect">
            <a:avLst/>
          </a:prstGeom>
          <a:noFill/>
          <a:ln/>
        </p:spPr>
        <p:txBody>
          <a:bodyPr wrap="square" lIns="0" tIns="0" rIns="0" bIns="0" rtlCol="0" anchor="ctr">
            <a:normAutofit/>
          </a:bodyPr>
          <a:lstStyle/>
          <a:p>
            <a:pPr algn="l" indent="0" marL="0">
              <a:buNone/>
            </a:pPr>
            <a:r>
              <a:rPr lang="en-US" sz="2000" b="1" dirty="0">
                <a:solidFill>
                  <a:srgbClr val="173F35"/>
                </a:solidFill>
                <a:latin typeface="Manrope" pitchFamily="34" charset="0"/>
                <a:ea typeface="Manrope" pitchFamily="34" charset="-122"/>
                <a:cs typeface="Manrope" pitchFamily="34" charset="-120"/>
              </a:rPr>
              <a:t>Operate</a:t>
            </a:r>
            <a:endParaRPr lang="en-US" sz="2000" dirty="0"/>
          </a:p>
        </p:txBody>
      </p:sp>
      <p:sp>
        <p:nvSpPr>
          <p:cNvPr id="22" name="Text 19"/>
          <p:cNvSpPr txBox="1"/>
          <p:nvPr/>
        </p:nvSpPr>
        <p:spPr>
          <a:xfrm>
            <a:off x="7397496" y="2578608"/>
            <a:ext cx="1810512" cy="969264"/>
          </a:xfrm>
          <a:prstGeom prst="rect">
            <a:avLst/>
          </a:prstGeom>
          <a:noFill/>
          <a:ln/>
        </p:spPr>
        <p:txBody>
          <a:bodyPr wrap="square" lIns="0" tIns="0" rIns="0" bIns="0" rtlCol="0" anchor="t">
            <a:normAutofit/>
          </a:bodyPr>
          <a:lstStyle/>
          <a:p>
            <a:pPr algn="l" indent="0" marL="0">
              <a:buNone/>
            </a:pPr>
            <a:r>
              <a:rPr lang="en-US" sz="1230" dirty="0">
                <a:solidFill>
                  <a:srgbClr val="66736A"/>
                </a:solidFill>
                <a:latin typeface="Manrope" pitchFamily="34" charset="0"/>
                <a:ea typeface="Manrope" pitchFamily="34" charset="-122"/>
                <a:cs typeface="Manrope" pitchFamily="34" charset="-120"/>
              </a:rPr>
              <a:t>Full flow, midpoint review and prioritized fixes</a:t>
            </a:r>
            <a:endParaRPr lang="en-US" sz="1230" dirty="0"/>
          </a:p>
        </p:txBody>
      </p:sp>
      <p:sp>
        <p:nvSpPr>
          <p:cNvPr id="23" name="Shape 20"/>
          <p:cNvSpPr/>
          <p:nvPr/>
        </p:nvSpPr>
        <p:spPr>
          <a:xfrm>
            <a:off x="9226296" y="2231136"/>
            <a:ext cx="292608" cy="0"/>
          </a:xfrm>
          <a:prstGeom prst="line">
            <a:avLst/>
          </a:prstGeom>
          <a:noFill/>
          <a:ln w="22860">
            <a:solidFill>
              <a:srgbClr val="E8763C"/>
            </a:solidFill>
            <a:prstDash val="solid"/>
            <a:tailEnd type="triangle"/>
          </a:ln>
        </p:spPr>
      </p:sp>
      <p:sp>
        <p:nvSpPr>
          <p:cNvPr id="24" name="Text 21"/>
          <p:cNvSpPr txBox="1"/>
          <p:nvPr/>
        </p:nvSpPr>
        <p:spPr>
          <a:xfrm>
            <a:off x="9619488" y="1664208"/>
            <a:ext cx="548640" cy="256032"/>
          </a:xfrm>
          <a:prstGeom prst="rect">
            <a:avLst/>
          </a:prstGeom>
          <a:noFill/>
          <a:ln/>
        </p:spPr>
        <p:txBody>
          <a:bodyPr wrap="square" lIns="0" tIns="0" rIns="0" bIns="0" rtlCol="0" anchor="ctr">
            <a:normAutofit/>
          </a:bodyPr>
          <a:lstStyle/>
          <a:p>
            <a:pPr algn="l" indent="0" marL="0">
              <a:buNone/>
            </a:pPr>
            <a:r>
              <a:rPr lang="en-US" sz="1100" b="1" dirty="0">
                <a:solidFill>
                  <a:srgbClr val="E8763C"/>
                </a:solidFill>
                <a:latin typeface="Manrope" pitchFamily="34" charset="0"/>
                <a:ea typeface="Manrope" pitchFamily="34" charset="-122"/>
                <a:cs typeface="Manrope" pitchFamily="34" charset="-120"/>
              </a:rPr>
              <a:t>W4</a:t>
            </a:r>
            <a:endParaRPr lang="en-US" sz="1100" dirty="0"/>
          </a:p>
        </p:txBody>
      </p:sp>
      <p:sp>
        <p:nvSpPr>
          <p:cNvPr id="25" name="Text 22"/>
          <p:cNvSpPr txBox="1"/>
          <p:nvPr/>
        </p:nvSpPr>
        <p:spPr>
          <a:xfrm>
            <a:off x="9619488" y="2048256"/>
            <a:ext cx="1783080" cy="365760"/>
          </a:xfrm>
          <a:prstGeom prst="rect">
            <a:avLst/>
          </a:prstGeom>
          <a:noFill/>
          <a:ln/>
        </p:spPr>
        <p:txBody>
          <a:bodyPr wrap="square" lIns="0" tIns="0" rIns="0" bIns="0" rtlCol="0" anchor="ctr">
            <a:normAutofit/>
          </a:bodyPr>
          <a:lstStyle/>
          <a:p>
            <a:pPr algn="l" indent="0" marL="0">
              <a:buNone/>
            </a:pPr>
            <a:r>
              <a:rPr lang="en-US" sz="2000" b="1" dirty="0">
                <a:solidFill>
                  <a:srgbClr val="173F35"/>
                </a:solidFill>
                <a:latin typeface="Manrope" pitchFamily="34" charset="0"/>
                <a:ea typeface="Manrope" pitchFamily="34" charset="-122"/>
                <a:cs typeface="Manrope" pitchFamily="34" charset="-120"/>
              </a:rPr>
              <a:t>Decide</a:t>
            </a:r>
            <a:endParaRPr lang="en-US" sz="2000" dirty="0"/>
          </a:p>
        </p:txBody>
      </p:sp>
      <p:sp>
        <p:nvSpPr>
          <p:cNvPr id="26" name="Text 23"/>
          <p:cNvSpPr txBox="1"/>
          <p:nvPr/>
        </p:nvSpPr>
        <p:spPr>
          <a:xfrm>
            <a:off x="9619488" y="2578608"/>
            <a:ext cx="1810512" cy="969264"/>
          </a:xfrm>
          <a:prstGeom prst="rect">
            <a:avLst/>
          </a:prstGeom>
          <a:noFill/>
          <a:ln/>
        </p:spPr>
        <p:txBody>
          <a:bodyPr wrap="square" lIns="0" tIns="0" rIns="0" bIns="0" rtlCol="0" anchor="t">
            <a:normAutofit/>
          </a:bodyPr>
          <a:lstStyle/>
          <a:p>
            <a:pPr algn="l" indent="0" marL="0">
              <a:buNone/>
            </a:pPr>
            <a:r>
              <a:rPr lang="en-US" sz="1230" dirty="0">
                <a:solidFill>
                  <a:srgbClr val="66736A"/>
                </a:solidFill>
                <a:latin typeface="Manrope" pitchFamily="34" charset="0"/>
                <a:ea typeface="Manrope" pitchFamily="34" charset="-122"/>
                <a:cs typeface="Manrope" pitchFamily="34" charset="-120"/>
              </a:rPr>
              <a:t>Post measure, ROI review, interviews and purchase decision</a:t>
            </a:r>
            <a:endParaRPr lang="en-US" sz="1230" dirty="0"/>
          </a:p>
        </p:txBody>
      </p:sp>
      <p:sp>
        <p:nvSpPr>
          <p:cNvPr id="27" name="Shape 24"/>
          <p:cNvSpPr/>
          <p:nvPr/>
        </p:nvSpPr>
        <p:spPr>
          <a:xfrm>
            <a:off x="713232" y="4087368"/>
            <a:ext cx="5166360" cy="1554480"/>
          </a:xfrm>
          <a:prstGeom prst="roundRect">
            <a:avLst>
              <a:gd name="adj" fmla="val 11765"/>
            </a:avLst>
          </a:prstGeom>
          <a:solidFill>
            <a:srgbClr val="173F35"/>
          </a:solidFill>
          <a:ln w="12700">
            <a:solidFill>
              <a:srgbClr val="FFFFFF">
                <a:alpha val="0"/>
              </a:srgbClr>
            </a:solidFill>
            <a:prstDash val="solid"/>
          </a:ln>
        </p:spPr>
      </p:sp>
      <p:sp>
        <p:nvSpPr>
          <p:cNvPr id="28" name="Text 25"/>
          <p:cNvSpPr txBox="1"/>
          <p:nvPr/>
        </p:nvSpPr>
        <p:spPr>
          <a:xfrm>
            <a:off x="978408" y="4352544"/>
            <a:ext cx="1828800" cy="310896"/>
          </a:xfrm>
          <a:prstGeom prst="rect">
            <a:avLst/>
          </a:prstGeom>
          <a:noFill/>
          <a:ln/>
        </p:spPr>
        <p:txBody>
          <a:bodyPr wrap="square" lIns="0" tIns="0" rIns="0" bIns="0" rtlCol="0" anchor="ctr">
            <a:normAutofit/>
          </a:bodyPr>
          <a:lstStyle/>
          <a:p>
            <a:pPr algn="l" indent="0" marL="0">
              <a:buNone/>
            </a:pPr>
            <a:r>
              <a:rPr lang="en-US" sz="1800" b="1" dirty="0">
                <a:solidFill>
                  <a:srgbClr val="BAC879"/>
                </a:solidFill>
                <a:latin typeface="Manrope" pitchFamily="34" charset="0"/>
                <a:ea typeface="Manrope" pitchFamily="34" charset="-122"/>
                <a:cs typeface="Manrope" pitchFamily="34" charset="-120"/>
              </a:rPr>
              <a:t>Commercial success</a:t>
            </a:r>
            <a:endParaRPr lang="en-US" sz="1800" dirty="0"/>
          </a:p>
        </p:txBody>
      </p:sp>
      <p:sp>
        <p:nvSpPr>
          <p:cNvPr id="29" name="Text 26"/>
          <p:cNvSpPr txBox="1"/>
          <p:nvPr/>
        </p:nvSpPr>
        <p:spPr>
          <a:xfrm>
            <a:off x="987552" y="4791456"/>
            <a:ext cx="4315968" cy="548640"/>
          </a:xfrm>
          <a:prstGeom prst="rect">
            <a:avLst/>
          </a:prstGeom>
          <a:noFill/>
          <a:ln/>
        </p:spPr>
        <p:txBody>
          <a:bodyPr wrap="square" lIns="0" tIns="0" rIns="0" bIns="0" rtlCol="0" anchor="t">
            <a:normAutofit/>
          </a:bodyPr>
          <a:lstStyle/>
          <a:p>
            <a:pPr algn="l" indent="0" marL="0">
              <a:buNone/>
            </a:pPr>
            <a:r>
              <a:rPr lang="en-US" sz="1600" b="1" dirty="0">
                <a:solidFill>
                  <a:srgbClr val="FFFFFF"/>
                </a:solidFill>
                <a:latin typeface="Manrope" pitchFamily="34" charset="0"/>
                <a:ea typeface="Manrope" pitchFamily="34" charset="-122"/>
                <a:cs typeface="Manrope" pitchFamily="34" charset="-120"/>
              </a:rPr>
              <a:t>One paid conversion; two letters of intent or extensions; documented pricing objections</a:t>
            </a:r>
            <a:endParaRPr lang="en-US" sz="1600" dirty="0"/>
          </a:p>
        </p:txBody>
      </p:sp>
      <p:sp>
        <p:nvSpPr>
          <p:cNvPr id="30" name="Shape 27"/>
          <p:cNvSpPr/>
          <p:nvPr/>
        </p:nvSpPr>
        <p:spPr>
          <a:xfrm>
            <a:off x="6190488" y="4087368"/>
            <a:ext cx="5102352" cy="1554480"/>
          </a:xfrm>
          <a:prstGeom prst="roundRect">
            <a:avLst>
              <a:gd name="adj" fmla="val 11765"/>
            </a:avLst>
          </a:prstGeom>
          <a:solidFill>
            <a:srgbClr val="E6EFE8"/>
          </a:solidFill>
          <a:ln w="12700">
            <a:solidFill>
              <a:srgbClr val="FFFFFF">
                <a:alpha val="0"/>
              </a:srgbClr>
            </a:solidFill>
            <a:prstDash val="solid"/>
          </a:ln>
        </p:spPr>
      </p:sp>
      <p:sp>
        <p:nvSpPr>
          <p:cNvPr id="31" name="Text 28"/>
          <p:cNvSpPr txBox="1"/>
          <p:nvPr/>
        </p:nvSpPr>
        <p:spPr>
          <a:xfrm>
            <a:off x="6455664" y="4352544"/>
            <a:ext cx="1984248" cy="310896"/>
          </a:xfrm>
          <a:prstGeom prst="rect">
            <a:avLst/>
          </a:prstGeom>
          <a:noFill/>
          <a:ln/>
        </p:spPr>
        <p:txBody>
          <a:bodyPr wrap="square" lIns="0" tIns="0" rIns="0" bIns="0" rtlCol="0" anchor="ctr">
            <a:normAutofit/>
          </a:bodyPr>
          <a:lstStyle/>
          <a:p>
            <a:pPr algn="l" indent="0" marL="0">
              <a:buNone/>
            </a:pPr>
            <a:r>
              <a:rPr lang="en-US" sz="1800" b="1" dirty="0">
                <a:solidFill>
                  <a:srgbClr val="173F35"/>
                </a:solidFill>
                <a:latin typeface="Manrope" pitchFamily="34" charset="0"/>
                <a:ea typeface="Manrope" pitchFamily="34" charset="-122"/>
                <a:cs typeface="Manrope" pitchFamily="34" charset="-120"/>
              </a:rPr>
              <a:t>Unit economics targets</a:t>
            </a:r>
            <a:endParaRPr lang="en-US" sz="1800" dirty="0"/>
          </a:p>
        </p:txBody>
      </p:sp>
      <p:sp>
        <p:nvSpPr>
          <p:cNvPr id="32" name="Text 29"/>
          <p:cNvSpPr txBox="1"/>
          <p:nvPr/>
        </p:nvSpPr>
        <p:spPr>
          <a:xfrm>
            <a:off x="6455664" y="4791456"/>
            <a:ext cx="4315968" cy="548640"/>
          </a:xfrm>
          <a:prstGeom prst="rect">
            <a:avLst/>
          </a:prstGeom>
          <a:noFill/>
          <a:ln/>
        </p:spPr>
        <p:txBody>
          <a:bodyPr wrap="square" lIns="0" tIns="0" rIns="0" bIns="0" rtlCol="0" anchor="t">
            <a:normAutofit/>
          </a:bodyPr>
          <a:lstStyle/>
          <a:p>
            <a:pPr algn="l" indent="0" marL="0">
              <a:buNone/>
            </a:pPr>
            <a:r>
              <a:rPr lang="en-US" sz="1500" b="1" dirty="0">
                <a:solidFill>
                  <a:srgbClr val="17231F"/>
                </a:solidFill>
                <a:latin typeface="Manrope" pitchFamily="34" charset="0"/>
                <a:ea typeface="Manrope" pitchFamily="34" charset="-122"/>
                <a:cs typeface="Manrope" pitchFamily="34" charset="-120"/>
              </a:rPr>
              <a:t>Track activation, retention, support time and AI cost first. Calculate LTV/CAC only after real cohorts exist.</a:t>
            </a:r>
            <a:endParaRPr lang="en-US" sz="1500" dirty="0"/>
          </a:p>
        </p:txBody>
      </p:sp>
      <p:sp>
        <p:nvSpPr>
          <p:cNvPr id="33" name="Text 30"/>
          <p:cNvSpPr txBox="1"/>
          <p:nvPr/>
        </p:nvSpPr>
        <p:spPr>
          <a:xfrm>
            <a:off x="658368" y="6565392"/>
            <a:ext cx="5303520" cy="118872"/>
          </a:xfrm>
          <a:prstGeom prst="rect">
            <a:avLst/>
          </a:prstGeom>
          <a:noFill/>
          <a:ln/>
        </p:spPr>
        <p:txBody>
          <a:bodyPr wrap="square" lIns="0" tIns="0" rIns="0" bIns="0" rtlCol="0" anchor="t">
            <a:normAutofit/>
          </a:bodyPr>
          <a:lstStyle/>
          <a:p>
            <a:pPr algn="l" indent="0" marL="0">
              <a:buNone/>
            </a:pPr>
            <a:r>
              <a:rPr lang="en-US" sz="850" dirty="0">
                <a:solidFill>
                  <a:srgbClr val="66736A"/>
                </a:solidFill>
                <a:latin typeface="Manrope" pitchFamily="34" charset="0"/>
                <a:ea typeface="Manrope" pitchFamily="34" charset="-122"/>
                <a:cs typeface="Manrope" pitchFamily="34" charset="-120"/>
              </a:rPr>
              <a:t>Founder-led sales first · advisors and referrals after repeatable activation</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384048" y="6510528"/>
            <a:ext cx="11402568" cy="0"/>
          </a:xfrm>
          <a:prstGeom prst="line">
            <a:avLst/>
          </a:prstGeom>
          <a:noFill/>
          <a:ln w="8890">
            <a:solidFill>
              <a:srgbClr val="D4DCD5"/>
            </a:solidFill>
            <a:prstDash val="solid"/>
          </a:ln>
        </p:spPr>
      </p:sp>
      <p:pic>
        <p:nvPicPr>
          <p:cNvPr id="3" name="Image 0" descr="/Users/tank/Downloads/Resuto-main/.codex-build/resuto-impactx-pitch/resuto-original-mark.png">    </p:cNvPr>
          <p:cNvPicPr>
            <a:picLocks noChangeAspect="1"/>
          </p:cNvPicPr>
          <p:nvPr/>
        </p:nvPicPr>
        <p:blipFill>
          <a:blip r:embed="rId1"/>
          <a:stretch>
            <a:fillRect/>
          </a:stretch>
        </p:blipFill>
        <p:spPr>
          <a:xfrm>
            <a:off x="384048" y="210312"/>
            <a:ext cx="356616" cy="338328"/>
          </a:xfrm>
          <a:prstGeom prst="rect">
            <a:avLst/>
          </a:prstGeom>
        </p:spPr>
      </p:pic>
      <p:sp>
        <p:nvSpPr>
          <p:cNvPr id="4" name="Text 1"/>
          <p:cNvSpPr txBox="1"/>
          <p:nvPr/>
        </p:nvSpPr>
        <p:spPr>
          <a:xfrm>
            <a:off x="786384" y="283464"/>
            <a:ext cx="914400" cy="164592"/>
          </a:xfrm>
          <a:prstGeom prst="rect">
            <a:avLst/>
          </a:prstGeom>
          <a:noFill/>
          <a:ln/>
        </p:spPr>
        <p:txBody>
          <a:bodyPr wrap="square" lIns="0" tIns="0" rIns="0" bIns="0" rtlCol="0" anchor="t">
            <a:normAutofit/>
          </a:bodyPr>
          <a:lstStyle/>
          <a:p>
            <a:pPr algn="l" indent="0" marL="0">
              <a:buNone/>
            </a:pPr>
            <a:r>
              <a:rPr lang="en-US" sz="900" b="1" dirty="0">
                <a:solidFill>
                  <a:srgbClr val="173F35"/>
                </a:solidFill>
                <a:latin typeface="Manrope" pitchFamily="34" charset="0"/>
                <a:ea typeface="Manrope" pitchFamily="34" charset="-122"/>
                <a:cs typeface="Manrope" pitchFamily="34" charset="-120"/>
              </a:rPr>
              <a:t>RESUTO</a:t>
            </a:r>
            <a:endParaRPr lang="en-US" sz="900" dirty="0"/>
          </a:p>
        </p:txBody>
      </p:sp>
      <p:sp>
        <p:nvSpPr>
          <p:cNvPr id="5" name="Text 2"/>
          <p:cNvSpPr txBox="1"/>
          <p:nvPr/>
        </p:nvSpPr>
        <p:spPr>
          <a:xfrm>
            <a:off x="9829800" y="274320"/>
            <a:ext cx="1691640" cy="146304"/>
          </a:xfrm>
          <a:prstGeom prst="rect">
            <a:avLst/>
          </a:prstGeom>
          <a:noFill/>
          <a:ln/>
        </p:spPr>
        <p:txBody>
          <a:bodyPr wrap="square" lIns="0" tIns="0" rIns="0" bIns="0" rtlCol="0" anchor="ctr">
            <a:normAutofit/>
          </a:bodyPr>
          <a:lstStyle/>
          <a:p>
            <a:pPr algn="r" indent="0" marL="0">
              <a:buNone/>
            </a:pPr>
            <a:r>
              <a:rPr lang="en-US" sz="850" b="1" spc="140" kern="0" dirty="0">
                <a:solidFill>
                  <a:srgbClr val="D89A32"/>
                </a:solidFill>
                <a:latin typeface="Manrope" pitchFamily="34" charset="0"/>
                <a:ea typeface="Manrope" pitchFamily="34" charset="-122"/>
                <a:cs typeface="Manrope" pitchFamily="34" charset="-120"/>
              </a:rPr>
              <a:t>APPENDIX · RISK</a:t>
            </a:r>
            <a:endParaRPr lang="en-US" sz="850" dirty="0"/>
          </a:p>
        </p:txBody>
      </p:sp>
      <p:sp>
        <p:nvSpPr>
          <p:cNvPr id="6" name="Text 3"/>
          <p:cNvSpPr txBox="1"/>
          <p:nvPr/>
        </p:nvSpPr>
        <p:spPr>
          <a:xfrm>
            <a:off x="658368" y="557784"/>
            <a:ext cx="10835640" cy="530352"/>
          </a:xfrm>
          <a:prstGeom prst="rect">
            <a:avLst/>
          </a:prstGeom>
          <a:noFill/>
          <a:ln/>
        </p:spPr>
        <p:txBody>
          <a:bodyPr wrap="square" lIns="0" tIns="0" rIns="0" bIns="0" rtlCol="0" anchor="t">
            <a:normAutofit/>
          </a:bodyPr>
          <a:lstStyle/>
          <a:p>
            <a:pPr algn="l" indent="0" marL="0">
              <a:buNone/>
            </a:pPr>
            <a:r>
              <a:rPr lang="en-US" sz="2800" b="1" dirty="0">
                <a:solidFill>
                  <a:srgbClr val="17231F"/>
                </a:solidFill>
                <a:latin typeface="Manrope" pitchFamily="34" charset="0"/>
                <a:ea typeface="Manrope" pitchFamily="34" charset="-122"/>
                <a:cs typeface="Manrope" pitchFamily="34" charset="-120"/>
              </a:rPr>
              <a:t>Production readiness register</a:t>
            </a:r>
            <a:endParaRPr lang="en-US" sz="2800" dirty="0"/>
          </a:p>
        </p:txBody>
      </p:sp>
      <p:sp>
        <p:nvSpPr>
          <p:cNvPr id="7" name="Text 4"/>
          <p:cNvSpPr txBox="1"/>
          <p:nvPr/>
        </p:nvSpPr>
        <p:spPr>
          <a:xfrm>
            <a:off x="676656" y="1097280"/>
            <a:ext cx="10469880" cy="347472"/>
          </a:xfrm>
          <a:prstGeom prst="rect">
            <a:avLst/>
          </a:prstGeom>
          <a:noFill/>
          <a:ln/>
        </p:spPr>
        <p:txBody>
          <a:bodyPr wrap="square" lIns="0" tIns="0" rIns="0" bIns="0" rtlCol="0" anchor="t">
            <a:normAutofit/>
          </a:bodyPr>
          <a:lstStyle/>
          <a:p>
            <a:pPr algn="l" indent="0" marL="0">
              <a:buNone/>
            </a:pPr>
            <a:r>
              <a:rPr lang="en-US" sz="1450" dirty="0">
                <a:solidFill>
                  <a:srgbClr val="66736A"/>
                </a:solidFill>
                <a:latin typeface="Manrope" pitchFamily="34" charset="0"/>
                <a:ea typeface="Manrope" pitchFamily="34" charset="-122"/>
                <a:cs typeface="Manrope" pitchFamily="34" charset="-120"/>
              </a:rPr>
              <a:t>Highest-impact risks come before feature expansion</a:t>
            </a:r>
            <a:endParaRPr lang="en-US" sz="1450" dirty="0"/>
          </a:p>
        </p:txBody>
      </p:sp>
      <p:sp>
        <p:nvSpPr>
          <p:cNvPr id="8" name="Text 5"/>
          <p:cNvSpPr txBox="1"/>
          <p:nvPr/>
        </p:nvSpPr>
        <p:spPr>
          <a:xfrm>
            <a:off x="749808" y="1572768"/>
            <a:ext cx="2240280" cy="274320"/>
          </a:xfrm>
          <a:prstGeom prst="rect">
            <a:avLst/>
          </a:prstGeom>
          <a:noFill/>
          <a:ln/>
        </p:spPr>
        <p:txBody>
          <a:bodyPr wrap="square" lIns="0" tIns="0" rIns="0" bIns="0" rtlCol="0" anchor="ctr">
            <a:normAutofit/>
          </a:bodyPr>
          <a:lstStyle/>
          <a:p>
            <a:pPr algn="l" indent="0" marL="0">
              <a:buNone/>
            </a:pPr>
            <a:r>
              <a:rPr lang="en-US" sz="1400" b="1" dirty="0">
                <a:solidFill>
                  <a:srgbClr val="173F35"/>
                </a:solidFill>
                <a:latin typeface="Manrope" pitchFamily="34" charset="0"/>
                <a:ea typeface="Manrope" pitchFamily="34" charset="-122"/>
                <a:cs typeface="Manrope" pitchFamily="34" charset="-120"/>
              </a:rPr>
              <a:t>Firebase tenant isolation</a:t>
            </a:r>
            <a:endParaRPr lang="en-US" sz="1400" dirty="0"/>
          </a:p>
        </p:txBody>
      </p:sp>
      <p:sp>
        <p:nvSpPr>
          <p:cNvPr id="9" name="Shape 6"/>
          <p:cNvSpPr/>
          <p:nvPr/>
        </p:nvSpPr>
        <p:spPr>
          <a:xfrm>
            <a:off x="3072384" y="1554480"/>
            <a:ext cx="804672" cy="292608"/>
          </a:xfrm>
          <a:prstGeom prst="roundRect">
            <a:avLst>
              <a:gd name="adj" fmla="val 50000"/>
            </a:avLst>
          </a:prstGeom>
          <a:solidFill>
            <a:srgbClr val="B94E4E"/>
          </a:solidFill>
          <a:ln w="12700">
            <a:solidFill>
              <a:srgbClr val="FFFFFF">
                <a:alpha val="0"/>
              </a:srgbClr>
            </a:solidFill>
            <a:prstDash val="solid"/>
          </a:ln>
        </p:spPr>
      </p:sp>
      <p:sp>
        <p:nvSpPr>
          <p:cNvPr id="10" name="Text 7"/>
          <p:cNvSpPr txBox="1"/>
          <p:nvPr/>
        </p:nvSpPr>
        <p:spPr>
          <a:xfrm>
            <a:off x="3145536" y="1563624"/>
            <a:ext cx="658368" cy="256032"/>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Manrope" pitchFamily="34" charset="0"/>
                <a:ea typeface="Manrope" pitchFamily="34" charset="-122"/>
                <a:cs typeface="Manrope" pitchFamily="34" charset="-120"/>
              </a:rPr>
              <a:t>CRITICAL</a:t>
            </a:r>
            <a:endParaRPr lang="en-US" sz="1000" dirty="0"/>
          </a:p>
        </p:txBody>
      </p:sp>
      <p:sp>
        <p:nvSpPr>
          <p:cNvPr id="11" name="Text 8"/>
          <p:cNvSpPr txBox="1"/>
          <p:nvPr/>
        </p:nvSpPr>
        <p:spPr>
          <a:xfrm>
            <a:off x="4160520" y="1527048"/>
            <a:ext cx="4754880" cy="356616"/>
          </a:xfrm>
          <a:prstGeom prst="rect">
            <a:avLst/>
          </a:prstGeom>
          <a:noFill/>
          <a:ln/>
        </p:spPr>
        <p:txBody>
          <a:bodyPr wrap="square" lIns="0" tIns="0" rIns="0" bIns="0" rtlCol="0" anchor="ctr">
            <a:normAutofit/>
          </a:bodyPr>
          <a:lstStyle/>
          <a:p>
            <a:pPr algn="l" indent="0" marL="0">
              <a:buNone/>
            </a:pPr>
            <a:r>
              <a:rPr lang="en-US" sz="1250" dirty="0">
                <a:solidFill>
                  <a:srgbClr val="17231F"/>
                </a:solidFill>
                <a:latin typeface="Manrope" pitchFamily="34" charset="0"/>
                <a:ea typeface="Manrope" pitchFamily="34" charset="-122"/>
                <a:cs typeface="Manrope" pitchFamily="34" charset="-120"/>
              </a:rPr>
              <a:t>Run emulator suite and authorization matrix</a:t>
            </a:r>
            <a:endParaRPr lang="en-US" sz="1250" dirty="0"/>
          </a:p>
        </p:txBody>
      </p:sp>
      <p:sp>
        <p:nvSpPr>
          <p:cNvPr id="12" name="Text 9"/>
          <p:cNvSpPr txBox="1"/>
          <p:nvPr/>
        </p:nvSpPr>
        <p:spPr>
          <a:xfrm>
            <a:off x="9253728" y="1527048"/>
            <a:ext cx="1856232" cy="356616"/>
          </a:xfrm>
          <a:prstGeom prst="rect">
            <a:avLst/>
          </a:prstGeom>
          <a:noFill/>
          <a:ln/>
        </p:spPr>
        <p:txBody>
          <a:bodyPr wrap="square" lIns="0" tIns="0" rIns="0" bIns="0" rtlCol="0" anchor="ctr">
            <a:normAutofit/>
          </a:bodyPr>
          <a:lstStyle/>
          <a:p>
            <a:pPr algn="r" indent="0" marL="0">
              <a:buNone/>
            </a:pPr>
            <a:r>
              <a:rPr lang="en-US" sz="1140" b="1" dirty="0">
                <a:solidFill>
                  <a:srgbClr val="66736A"/>
                </a:solidFill>
                <a:latin typeface="Manrope" pitchFamily="34" charset="0"/>
                <a:ea typeface="Manrope" pitchFamily="34" charset="-122"/>
                <a:cs typeface="Manrope" pitchFamily="34" charset="-120"/>
              </a:rPr>
              <a:t>Before pilot accounts</a:t>
            </a:r>
            <a:endParaRPr lang="en-US" sz="1140" dirty="0"/>
          </a:p>
        </p:txBody>
      </p:sp>
      <p:sp>
        <p:nvSpPr>
          <p:cNvPr id="13" name="Shape 10"/>
          <p:cNvSpPr/>
          <p:nvPr/>
        </p:nvSpPr>
        <p:spPr>
          <a:xfrm>
            <a:off x="731520" y="2002536"/>
            <a:ext cx="10515600" cy="0"/>
          </a:xfrm>
          <a:prstGeom prst="line">
            <a:avLst/>
          </a:prstGeom>
          <a:noFill/>
          <a:ln w="7620">
            <a:solidFill>
              <a:srgbClr val="D4DCD5"/>
            </a:solidFill>
            <a:prstDash val="solid"/>
          </a:ln>
        </p:spPr>
      </p:sp>
      <p:sp>
        <p:nvSpPr>
          <p:cNvPr id="14" name="Text 11"/>
          <p:cNvSpPr txBox="1"/>
          <p:nvPr/>
        </p:nvSpPr>
        <p:spPr>
          <a:xfrm>
            <a:off x="749808" y="2167128"/>
            <a:ext cx="2240280" cy="274320"/>
          </a:xfrm>
          <a:prstGeom prst="rect">
            <a:avLst/>
          </a:prstGeom>
          <a:noFill/>
          <a:ln/>
        </p:spPr>
        <p:txBody>
          <a:bodyPr wrap="square" lIns="0" tIns="0" rIns="0" bIns="0" rtlCol="0" anchor="ctr">
            <a:normAutofit/>
          </a:bodyPr>
          <a:lstStyle/>
          <a:p>
            <a:pPr algn="l" indent="0" marL="0">
              <a:buNone/>
            </a:pPr>
            <a:r>
              <a:rPr lang="en-US" sz="1400" b="1" dirty="0">
                <a:solidFill>
                  <a:srgbClr val="173F35"/>
                </a:solidFill>
                <a:latin typeface="Manrope" pitchFamily="34" charset="0"/>
                <a:ea typeface="Manrope" pitchFamily="34" charset="-122"/>
                <a:cs typeface="Manrope" pitchFamily="34" charset="-120"/>
              </a:rPr>
              <a:t>Real payments and refunds</a:t>
            </a:r>
            <a:endParaRPr lang="en-US" sz="1400" dirty="0"/>
          </a:p>
        </p:txBody>
      </p:sp>
      <p:sp>
        <p:nvSpPr>
          <p:cNvPr id="15" name="Shape 12"/>
          <p:cNvSpPr/>
          <p:nvPr/>
        </p:nvSpPr>
        <p:spPr>
          <a:xfrm>
            <a:off x="3072384" y="2148840"/>
            <a:ext cx="804672" cy="292608"/>
          </a:xfrm>
          <a:prstGeom prst="roundRect">
            <a:avLst>
              <a:gd name="adj" fmla="val 50000"/>
            </a:avLst>
          </a:prstGeom>
          <a:solidFill>
            <a:srgbClr val="F8E9E2"/>
          </a:solidFill>
          <a:ln w="12700">
            <a:solidFill>
              <a:srgbClr val="FFFFFF">
                <a:alpha val="0"/>
              </a:srgbClr>
            </a:solidFill>
            <a:prstDash val="solid"/>
          </a:ln>
        </p:spPr>
      </p:sp>
      <p:sp>
        <p:nvSpPr>
          <p:cNvPr id="16" name="Text 13"/>
          <p:cNvSpPr txBox="1"/>
          <p:nvPr/>
        </p:nvSpPr>
        <p:spPr>
          <a:xfrm>
            <a:off x="3145536" y="2157984"/>
            <a:ext cx="658368" cy="256032"/>
          </a:xfrm>
          <a:prstGeom prst="rect">
            <a:avLst/>
          </a:prstGeom>
          <a:noFill/>
          <a:ln/>
        </p:spPr>
        <p:txBody>
          <a:bodyPr wrap="square" lIns="0" tIns="0" rIns="0" bIns="0" rtlCol="0" anchor="ctr">
            <a:normAutofit/>
          </a:bodyPr>
          <a:lstStyle/>
          <a:p>
            <a:pPr algn="ctr" indent="0" marL="0">
              <a:buNone/>
            </a:pPr>
            <a:r>
              <a:rPr lang="en-US" sz="1000" b="1" dirty="0">
                <a:solidFill>
                  <a:srgbClr val="B94E4E"/>
                </a:solidFill>
                <a:latin typeface="Manrope" pitchFamily="34" charset="0"/>
                <a:ea typeface="Manrope" pitchFamily="34" charset="-122"/>
                <a:cs typeface="Manrope" pitchFamily="34" charset="-120"/>
              </a:rPr>
              <a:t>HIGH</a:t>
            </a:r>
            <a:endParaRPr lang="en-US" sz="1000" dirty="0"/>
          </a:p>
        </p:txBody>
      </p:sp>
      <p:sp>
        <p:nvSpPr>
          <p:cNvPr id="17" name="Text 14"/>
          <p:cNvSpPr txBox="1"/>
          <p:nvPr/>
        </p:nvSpPr>
        <p:spPr>
          <a:xfrm>
            <a:off x="4160520" y="2121408"/>
            <a:ext cx="4754880" cy="356616"/>
          </a:xfrm>
          <a:prstGeom prst="rect">
            <a:avLst/>
          </a:prstGeom>
          <a:noFill/>
          <a:ln/>
        </p:spPr>
        <p:txBody>
          <a:bodyPr wrap="square" lIns="0" tIns="0" rIns="0" bIns="0" rtlCol="0" anchor="ctr">
            <a:normAutofit/>
          </a:bodyPr>
          <a:lstStyle/>
          <a:p>
            <a:pPr algn="l" indent="0" marL="0">
              <a:buNone/>
            </a:pPr>
            <a:r>
              <a:rPr lang="en-US" sz="1250" dirty="0">
                <a:solidFill>
                  <a:srgbClr val="17231F"/>
                </a:solidFill>
                <a:latin typeface="Manrope" pitchFamily="34" charset="0"/>
                <a:ea typeface="Manrope" pitchFamily="34" charset="-122"/>
                <a:cs typeface="Manrope" pitchFamily="34" charset="-120"/>
              </a:rPr>
              <a:t>Merchant sandbox, settlement and refund acceptance</a:t>
            </a:r>
            <a:endParaRPr lang="en-US" sz="1250" dirty="0"/>
          </a:p>
        </p:txBody>
      </p:sp>
      <p:sp>
        <p:nvSpPr>
          <p:cNvPr id="18" name="Text 15"/>
          <p:cNvSpPr txBox="1"/>
          <p:nvPr/>
        </p:nvSpPr>
        <p:spPr>
          <a:xfrm>
            <a:off x="9253728" y="2121408"/>
            <a:ext cx="1856232" cy="356616"/>
          </a:xfrm>
          <a:prstGeom prst="rect">
            <a:avLst/>
          </a:prstGeom>
          <a:noFill/>
          <a:ln/>
        </p:spPr>
        <p:txBody>
          <a:bodyPr wrap="square" lIns="0" tIns="0" rIns="0" bIns="0" rtlCol="0" anchor="ctr">
            <a:normAutofit/>
          </a:bodyPr>
          <a:lstStyle/>
          <a:p>
            <a:pPr algn="r" indent="0" marL="0">
              <a:buNone/>
            </a:pPr>
            <a:r>
              <a:rPr lang="en-US" sz="1140" b="1" dirty="0">
                <a:solidFill>
                  <a:srgbClr val="66736A"/>
                </a:solidFill>
                <a:latin typeface="Manrope" pitchFamily="34" charset="0"/>
                <a:ea typeface="Manrope" pitchFamily="34" charset="-122"/>
                <a:cs typeface="Manrope" pitchFamily="34" charset="-120"/>
              </a:rPr>
              <a:t>Before live money</a:t>
            </a:r>
            <a:endParaRPr lang="en-US" sz="1140" dirty="0"/>
          </a:p>
        </p:txBody>
      </p:sp>
      <p:sp>
        <p:nvSpPr>
          <p:cNvPr id="19" name="Shape 16"/>
          <p:cNvSpPr/>
          <p:nvPr/>
        </p:nvSpPr>
        <p:spPr>
          <a:xfrm>
            <a:off x="731520" y="2596896"/>
            <a:ext cx="10515600" cy="0"/>
          </a:xfrm>
          <a:prstGeom prst="line">
            <a:avLst/>
          </a:prstGeom>
          <a:noFill/>
          <a:ln w="7620">
            <a:solidFill>
              <a:srgbClr val="D4DCD5"/>
            </a:solidFill>
            <a:prstDash val="solid"/>
          </a:ln>
        </p:spPr>
      </p:sp>
      <p:sp>
        <p:nvSpPr>
          <p:cNvPr id="20" name="Text 17"/>
          <p:cNvSpPr txBox="1"/>
          <p:nvPr/>
        </p:nvSpPr>
        <p:spPr>
          <a:xfrm>
            <a:off x="749808" y="2761488"/>
            <a:ext cx="2240280" cy="274320"/>
          </a:xfrm>
          <a:prstGeom prst="rect">
            <a:avLst/>
          </a:prstGeom>
          <a:noFill/>
          <a:ln/>
        </p:spPr>
        <p:txBody>
          <a:bodyPr wrap="square" lIns="0" tIns="0" rIns="0" bIns="0" rtlCol="0" anchor="ctr">
            <a:normAutofit/>
          </a:bodyPr>
          <a:lstStyle/>
          <a:p>
            <a:pPr algn="l" indent="0" marL="0">
              <a:buNone/>
            </a:pPr>
            <a:r>
              <a:rPr lang="en-US" sz="1400" b="1" dirty="0">
                <a:solidFill>
                  <a:srgbClr val="173F35"/>
                </a:solidFill>
                <a:latin typeface="Manrope" pitchFamily="34" charset="0"/>
                <a:ea typeface="Manrope" pitchFamily="34" charset="-122"/>
                <a:cs typeface="Manrope" pitchFamily="34" charset="-120"/>
              </a:rPr>
              <a:t>Monitoring and recovery</a:t>
            </a:r>
            <a:endParaRPr lang="en-US" sz="1400" dirty="0"/>
          </a:p>
        </p:txBody>
      </p:sp>
      <p:sp>
        <p:nvSpPr>
          <p:cNvPr id="21" name="Shape 18"/>
          <p:cNvSpPr/>
          <p:nvPr/>
        </p:nvSpPr>
        <p:spPr>
          <a:xfrm>
            <a:off x="3072384" y="2743200"/>
            <a:ext cx="804672" cy="292608"/>
          </a:xfrm>
          <a:prstGeom prst="roundRect">
            <a:avLst>
              <a:gd name="adj" fmla="val 50000"/>
            </a:avLst>
          </a:prstGeom>
          <a:solidFill>
            <a:srgbClr val="F8E9E2"/>
          </a:solidFill>
          <a:ln w="12700">
            <a:solidFill>
              <a:srgbClr val="FFFFFF">
                <a:alpha val="0"/>
              </a:srgbClr>
            </a:solidFill>
            <a:prstDash val="solid"/>
          </a:ln>
        </p:spPr>
      </p:sp>
      <p:sp>
        <p:nvSpPr>
          <p:cNvPr id="22" name="Text 19"/>
          <p:cNvSpPr txBox="1"/>
          <p:nvPr/>
        </p:nvSpPr>
        <p:spPr>
          <a:xfrm>
            <a:off x="3145536" y="2752344"/>
            <a:ext cx="658368" cy="256032"/>
          </a:xfrm>
          <a:prstGeom prst="rect">
            <a:avLst/>
          </a:prstGeom>
          <a:noFill/>
          <a:ln/>
        </p:spPr>
        <p:txBody>
          <a:bodyPr wrap="square" lIns="0" tIns="0" rIns="0" bIns="0" rtlCol="0" anchor="ctr">
            <a:normAutofit/>
          </a:bodyPr>
          <a:lstStyle/>
          <a:p>
            <a:pPr algn="ctr" indent="0" marL="0">
              <a:buNone/>
            </a:pPr>
            <a:r>
              <a:rPr lang="en-US" sz="1000" b="1" dirty="0">
                <a:solidFill>
                  <a:srgbClr val="B94E4E"/>
                </a:solidFill>
                <a:latin typeface="Manrope" pitchFamily="34" charset="0"/>
                <a:ea typeface="Manrope" pitchFamily="34" charset="-122"/>
                <a:cs typeface="Manrope" pitchFamily="34" charset="-120"/>
              </a:rPr>
              <a:t>HIGH</a:t>
            </a:r>
            <a:endParaRPr lang="en-US" sz="1000" dirty="0"/>
          </a:p>
        </p:txBody>
      </p:sp>
      <p:sp>
        <p:nvSpPr>
          <p:cNvPr id="23" name="Text 20"/>
          <p:cNvSpPr txBox="1"/>
          <p:nvPr/>
        </p:nvSpPr>
        <p:spPr>
          <a:xfrm>
            <a:off x="4160520" y="2715768"/>
            <a:ext cx="4754880" cy="356616"/>
          </a:xfrm>
          <a:prstGeom prst="rect">
            <a:avLst/>
          </a:prstGeom>
          <a:noFill/>
          <a:ln/>
        </p:spPr>
        <p:txBody>
          <a:bodyPr wrap="square" lIns="0" tIns="0" rIns="0" bIns="0" rtlCol="0" anchor="ctr">
            <a:normAutofit/>
          </a:bodyPr>
          <a:lstStyle/>
          <a:p>
            <a:pPr algn="l" indent="0" marL="0">
              <a:buNone/>
            </a:pPr>
            <a:r>
              <a:rPr lang="en-US" sz="1250" dirty="0">
                <a:solidFill>
                  <a:srgbClr val="17231F"/>
                </a:solidFill>
                <a:latin typeface="Manrope" pitchFamily="34" charset="0"/>
                <a:ea typeface="Manrope" pitchFamily="34" charset="-122"/>
                <a:cs typeface="Manrope" pitchFamily="34" charset="-120"/>
              </a:rPr>
              <a:t>Logs, alerts, backup/restore and incident runbook</a:t>
            </a:r>
            <a:endParaRPr lang="en-US" sz="1250" dirty="0"/>
          </a:p>
        </p:txBody>
      </p:sp>
      <p:sp>
        <p:nvSpPr>
          <p:cNvPr id="24" name="Text 21"/>
          <p:cNvSpPr txBox="1"/>
          <p:nvPr/>
        </p:nvSpPr>
        <p:spPr>
          <a:xfrm>
            <a:off x="9253728" y="2715768"/>
            <a:ext cx="1856232" cy="356616"/>
          </a:xfrm>
          <a:prstGeom prst="rect">
            <a:avLst/>
          </a:prstGeom>
          <a:noFill/>
          <a:ln/>
        </p:spPr>
        <p:txBody>
          <a:bodyPr wrap="square" lIns="0" tIns="0" rIns="0" bIns="0" rtlCol="0" anchor="ctr">
            <a:normAutofit/>
          </a:bodyPr>
          <a:lstStyle/>
          <a:p>
            <a:pPr algn="r" indent="0" marL="0">
              <a:buNone/>
            </a:pPr>
            <a:r>
              <a:rPr lang="en-US" sz="1140" b="1" dirty="0">
                <a:solidFill>
                  <a:srgbClr val="66736A"/>
                </a:solidFill>
                <a:latin typeface="Manrope" pitchFamily="34" charset="0"/>
                <a:ea typeface="Manrope" pitchFamily="34" charset="-122"/>
                <a:cs typeface="Manrope" pitchFamily="34" charset="-120"/>
              </a:rPr>
              <a:t>Before production</a:t>
            </a:r>
            <a:endParaRPr lang="en-US" sz="1140" dirty="0"/>
          </a:p>
        </p:txBody>
      </p:sp>
      <p:sp>
        <p:nvSpPr>
          <p:cNvPr id="25" name="Shape 22"/>
          <p:cNvSpPr/>
          <p:nvPr/>
        </p:nvSpPr>
        <p:spPr>
          <a:xfrm>
            <a:off x="731520" y="3191256"/>
            <a:ext cx="10515600" cy="0"/>
          </a:xfrm>
          <a:prstGeom prst="line">
            <a:avLst/>
          </a:prstGeom>
          <a:noFill/>
          <a:ln w="7620">
            <a:solidFill>
              <a:srgbClr val="D4DCD5"/>
            </a:solidFill>
            <a:prstDash val="solid"/>
          </a:ln>
        </p:spPr>
      </p:sp>
      <p:sp>
        <p:nvSpPr>
          <p:cNvPr id="26" name="Text 23"/>
          <p:cNvSpPr txBox="1"/>
          <p:nvPr/>
        </p:nvSpPr>
        <p:spPr>
          <a:xfrm>
            <a:off x="749808" y="3355848"/>
            <a:ext cx="2240280" cy="274320"/>
          </a:xfrm>
          <a:prstGeom prst="rect">
            <a:avLst/>
          </a:prstGeom>
          <a:noFill/>
          <a:ln/>
        </p:spPr>
        <p:txBody>
          <a:bodyPr wrap="square" lIns="0" tIns="0" rIns="0" bIns="0" rtlCol="0" anchor="ctr">
            <a:normAutofit/>
          </a:bodyPr>
          <a:lstStyle/>
          <a:p>
            <a:pPr algn="l" indent="0" marL="0">
              <a:buNone/>
            </a:pPr>
            <a:r>
              <a:rPr lang="en-US" sz="1400" b="1" dirty="0">
                <a:solidFill>
                  <a:srgbClr val="173F35"/>
                </a:solidFill>
                <a:latin typeface="Manrope" pitchFamily="34" charset="0"/>
                <a:ea typeface="Manrope" pitchFamily="34" charset="-122"/>
                <a:cs typeface="Manrope" pitchFamily="34" charset="-120"/>
              </a:rPr>
              <a:t>Offline operations</a:t>
            </a:r>
            <a:endParaRPr lang="en-US" sz="1400" dirty="0"/>
          </a:p>
        </p:txBody>
      </p:sp>
      <p:sp>
        <p:nvSpPr>
          <p:cNvPr id="27" name="Shape 24"/>
          <p:cNvSpPr/>
          <p:nvPr/>
        </p:nvSpPr>
        <p:spPr>
          <a:xfrm>
            <a:off x="3072384" y="3337560"/>
            <a:ext cx="804672" cy="292608"/>
          </a:xfrm>
          <a:prstGeom prst="roundRect">
            <a:avLst>
              <a:gd name="adj" fmla="val 50000"/>
            </a:avLst>
          </a:prstGeom>
          <a:solidFill>
            <a:srgbClr val="F8E9E2"/>
          </a:solidFill>
          <a:ln w="12700">
            <a:solidFill>
              <a:srgbClr val="FFFFFF">
                <a:alpha val="0"/>
              </a:srgbClr>
            </a:solidFill>
            <a:prstDash val="solid"/>
          </a:ln>
        </p:spPr>
      </p:sp>
      <p:sp>
        <p:nvSpPr>
          <p:cNvPr id="28" name="Text 25"/>
          <p:cNvSpPr txBox="1"/>
          <p:nvPr/>
        </p:nvSpPr>
        <p:spPr>
          <a:xfrm>
            <a:off x="3145536" y="3346704"/>
            <a:ext cx="658368" cy="256032"/>
          </a:xfrm>
          <a:prstGeom prst="rect">
            <a:avLst/>
          </a:prstGeom>
          <a:noFill/>
          <a:ln/>
        </p:spPr>
        <p:txBody>
          <a:bodyPr wrap="square" lIns="0" tIns="0" rIns="0" bIns="0" rtlCol="0" anchor="ctr">
            <a:normAutofit/>
          </a:bodyPr>
          <a:lstStyle/>
          <a:p>
            <a:pPr algn="ctr" indent="0" marL="0">
              <a:buNone/>
            </a:pPr>
            <a:r>
              <a:rPr lang="en-US" sz="1000" b="1" dirty="0">
                <a:solidFill>
                  <a:srgbClr val="B94E4E"/>
                </a:solidFill>
                <a:latin typeface="Manrope" pitchFamily="34" charset="0"/>
                <a:ea typeface="Manrope" pitchFamily="34" charset="-122"/>
                <a:cs typeface="Manrope" pitchFamily="34" charset="-120"/>
              </a:rPr>
              <a:t>HIGH</a:t>
            </a:r>
            <a:endParaRPr lang="en-US" sz="1000" dirty="0"/>
          </a:p>
        </p:txBody>
      </p:sp>
      <p:sp>
        <p:nvSpPr>
          <p:cNvPr id="29" name="Text 26"/>
          <p:cNvSpPr txBox="1"/>
          <p:nvPr/>
        </p:nvSpPr>
        <p:spPr>
          <a:xfrm>
            <a:off x="4160520" y="3310128"/>
            <a:ext cx="4754880" cy="356616"/>
          </a:xfrm>
          <a:prstGeom prst="rect">
            <a:avLst/>
          </a:prstGeom>
          <a:noFill/>
          <a:ln/>
        </p:spPr>
        <p:txBody>
          <a:bodyPr wrap="square" lIns="0" tIns="0" rIns="0" bIns="0" rtlCol="0" anchor="ctr">
            <a:normAutofit/>
          </a:bodyPr>
          <a:lstStyle/>
          <a:p>
            <a:pPr algn="l" indent="0" marL="0">
              <a:buNone/>
            </a:pPr>
            <a:r>
              <a:rPr lang="en-US" sz="1250" dirty="0">
                <a:solidFill>
                  <a:srgbClr val="17231F"/>
                </a:solidFill>
                <a:latin typeface="Manrope" pitchFamily="34" charset="0"/>
                <a:ea typeface="Manrope" pitchFamily="34" charset="-122"/>
                <a:cs typeface="Manrope" pitchFamily="34" charset="-120"/>
              </a:rPr>
              <a:t>Queue, printer/drawer path and manual fallback rehearsal</a:t>
            </a:r>
            <a:endParaRPr lang="en-US" sz="1250" dirty="0"/>
          </a:p>
        </p:txBody>
      </p:sp>
      <p:sp>
        <p:nvSpPr>
          <p:cNvPr id="30" name="Text 27"/>
          <p:cNvSpPr txBox="1"/>
          <p:nvPr/>
        </p:nvSpPr>
        <p:spPr>
          <a:xfrm>
            <a:off x="9253728" y="3310128"/>
            <a:ext cx="1856232" cy="356616"/>
          </a:xfrm>
          <a:prstGeom prst="rect">
            <a:avLst/>
          </a:prstGeom>
          <a:noFill/>
          <a:ln/>
        </p:spPr>
        <p:txBody>
          <a:bodyPr wrap="square" lIns="0" tIns="0" rIns="0" bIns="0" rtlCol="0" anchor="ctr">
            <a:normAutofit/>
          </a:bodyPr>
          <a:lstStyle/>
          <a:p>
            <a:pPr algn="r" indent="0" marL="0">
              <a:buNone/>
            </a:pPr>
            <a:r>
              <a:rPr lang="en-US" sz="1140" b="1" dirty="0">
                <a:solidFill>
                  <a:srgbClr val="66736A"/>
                </a:solidFill>
                <a:latin typeface="Manrope" pitchFamily="34" charset="0"/>
                <a:ea typeface="Manrope" pitchFamily="34" charset="-122"/>
                <a:cs typeface="Manrope" pitchFamily="34" charset="-120"/>
              </a:rPr>
              <a:t>After pilot / before scale</a:t>
            </a:r>
            <a:endParaRPr lang="en-US" sz="1140" dirty="0"/>
          </a:p>
        </p:txBody>
      </p:sp>
      <p:sp>
        <p:nvSpPr>
          <p:cNvPr id="31" name="Shape 28"/>
          <p:cNvSpPr/>
          <p:nvPr/>
        </p:nvSpPr>
        <p:spPr>
          <a:xfrm>
            <a:off x="731520" y="3785616"/>
            <a:ext cx="10515600" cy="0"/>
          </a:xfrm>
          <a:prstGeom prst="line">
            <a:avLst/>
          </a:prstGeom>
          <a:noFill/>
          <a:ln w="7620">
            <a:solidFill>
              <a:srgbClr val="D4DCD5"/>
            </a:solidFill>
            <a:prstDash val="solid"/>
          </a:ln>
        </p:spPr>
      </p:sp>
      <p:sp>
        <p:nvSpPr>
          <p:cNvPr id="32" name="Text 29"/>
          <p:cNvSpPr txBox="1"/>
          <p:nvPr/>
        </p:nvSpPr>
        <p:spPr>
          <a:xfrm>
            <a:off x="749808" y="3950208"/>
            <a:ext cx="2240280" cy="274320"/>
          </a:xfrm>
          <a:prstGeom prst="rect">
            <a:avLst/>
          </a:prstGeom>
          <a:noFill/>
          <a:ln/>
        </p:spPr>
        <p:txBody>
          <a:bodyPr wrap="square" lIns="0" tIns="0" rIns="0" bIns="0" rtlCol="0" anchor="ctr">
            <a:normAutofit/>
          </a:bodyPr>
          <a:lstStyle/>
          <a:p>
            <a:pPr algn="l" indent="0" marL="0">
              <a:buNone/>
            </a:pPr>
            <a:r>
              <a:rPr lang="en-US" sz="1400" b="1" dirty="0">
                <a:solidFill>
                  <a:srgbClr val="173F35"/>
                </a:solidFill>
                <a:latin typeface="Manrope" pitchFamily="34" charset="0"/>
                <a:ea typeface="Manrope" pitchFamily="34" charset="-122"/>
                <a:cs typeface="Manrope" pitchFamily="34" charset="-120"/>
              </a:rPr>
              <a:t>Egypt / Saudi compliance</a:t>
            </a:r>
            <a:endParaRPr lang="en-US" sz="1400" dirty="0"/>
          </a:p>
        </p:txBody>
      </p:sp>
      <p:sp>
        <p:nvSpPr>
          <p:cNvPr id="33" name="Shape 30"/>
          <p:cNvSpPr/>
          <p:nvPr/>
        </p:nvSpPr>
        <p:spPr>
          <a:xfrm>
            <a:off x="3072384" y="3931920"/>
            <a:ext cx="804672" cy="292608"/>
          </a:xfrm>
          <a:prstGeom prst="roundRect">
            <a:avLst>
              <a:gd name="adj" fmla="val 50000"/>
            </a:avLst>
          </a:prstGeom>
          <a:solidFill>
            <a:srgbClr val="F8E9E2"/>
          </a:solidFill>
          <a:ln w="12700">
            <a:solidFill>
              <a:srgbClr val="FFFFFF">
                <a:alpha val="0"/>
              </a:srgbClr>
            </a:solidFill>
            <a:prstDash val="solid"/>
          </a:ln>
        </p:spPr>
      </p:sp>
      <p:sp>
        <p:nvSpPr>
          <p:cNvPr id="34" name="Text 31"/>
          <p:cNvSpPr txBox="1"/>
          <p:nvPr/>
        </p:nvSpPr>
        <p:spPr>
          <a:xfrm>
            <a:off x="3145536" y="3941064"/>
            <a:ext cx="658368" cy="256032"/>
          </a:xfrm>
          <a:prstGeom prst="rect">
            <a:avLst/>
          </a:prstGeom>
          <a:noFill/>
          <a:ln/>
        </p:spPr>
        <p:txBody>
          <a:bodyPr wrap="square" lIns="0" tIns="0" rIns="0" bIns="0" rtlCol="0" anchor="ctr">
            <a:normAutofit/>
          </a:bodyPr>
          <a:lstStyle/>
          <a:p>
            <a:pPr algn="ctr" indent="0" marL="0">
              <a:buNone/>
            </a:pPr>
            <a:r>
              <a:rPr lang="en-US" sz="1000" b="1" dirty="0">
                <a:solidFill>
                  <a:srgbClr val="B94E4E"/>
                </a:solidFill>
                <a:latin typeface="Manrope" pitchFamily="34" charset="0"/>
                <a:ea typeface="Manrope" pitchFamily="34" charset="-122"/>
                <a:cs typeface="Manrope" pitchFamily="34" charset="-120"/>
              </a:rPr>
              <a:t>HIGH</a:t>
            </a:r>
            <a:endParaRPr lang="en-US" sz="1000" dirty="0"/>
          </a:p>
        </p:txBody>
      </p:sp>
      <p:sp>
        <p:nvSpPr>
          <p:cNvPr id="35" name="Text 32"/>
          <p:cNvSpPr txBox="1"/>
          <p:nvPr/>
        </p:nvSpPr>
        <p:spPr>
          <a:xfrm>
            <a:off x="4160520" y="3904488"/>
            <a:ext cx="4754880" cy="356616"/>
          </a:xfrm>
          <a:prstGeom prst="rect">
            <a:avLst/>
          </a:prstGeom>
          <a:noFill/>
          <a:ln/>
        </p:spPr>
        <p:txBody>
          <a:bodyPr wrap="square" lIns="0" tIns="0" rIns="0" bIns="0" rtlCol="0" anchor="ctr">
            <a:normAutofit/>
          </a:bodyPr>
          <a:lstStyle/>
          <a:p>
            <a:pPr algn="l" indent="0" marL="0">
              <a:buNone/>
            </a:pPr>
            <a:r>
              <a:rPr lang="en-US" sz="1250" dirty="0">
                <a:solidFill>
                  <a:srgbClr val="17231F"/>
                </a:solidFill>
                <a:latin typeface="Manrope" pitchFamily="34" charset="0"/>
                <a:ea typeface="Manrope" pitchFamily="34" charset="-122"/>
                <a:cs typeface="Manrope" pitchFamily="34" charset="-120"/>
              </a:rPr>
              <a:t>Local specialist review and acceptance testing</a:t>
            </a:r>
            <a:endParaRPr lang="en-US" sz="1250" dirty="0"/>
          </a:p>
        </p:txBody>
      </p:sp>
      <p:sp>
        <p:nvSpPr>
          <p:cNvPr id="36" name="Text 33"/>
          <p:cNvSpPr txBox="1"/>
          <p:nvPr/>
        </p:nvSpPr>
        <p:spPr>
          <a:xfrm>
            <a:off x="9253728" y="3904488"/>
            <a:ext cx="1856232" cy="356616"/>
          </a:xfrm>
          <a:prstGeom prst="rect">
            <a:avLst/>
          </a:prstGeom>
          <a:noFill/>
          <a:ln/>
        </p:spPr>
        <p:txBody>
          <a:bodyPr wrap="square" lIns="0" tIns="0" rIns="0" bIns="0" rtlCol="0" anchor="ctr">
            <a:normAutofit/>
          </a:bodyPr>
          <a:lstStyle/>
          <a:p>
            <a:pPr algn="r" indent="0" marL="0">
              <a:buNone/>
            </a:pPr>
            <a:r>
              <a:rPr lang="en-US" sz="1140" b="1" dirty="0">
                <a:solidFill>
                  <a:srgbClr val="66736A"/>
                </a:solidFill>
                <a:latin typeface="Manrope" pitchFamily="34" charset="0"/>
                <a:ea typeface="Manrope" pitchFamily="34" charset="-122"/>
                <a:cs typeface="Manrope" pitchFamily="34" charset="-120"/>
              </a:rPr>
              <a:t>Before commercial launch</a:t>
            </a:r>
            <a:endParaRPr lang="en-US" sz="1140" dirty="0"/>
          </a:p>
        </p:txBody>
      </p:sp>
      <p:sp>
        <p:nvSpPr>
          <p:cNvPr id="37" name="Shape 34"/>
          <p:cNvSpPr/>
          <p:nvPr/>
        </p:nvSpPr>
        <p:spPr>
          <a:xfrm>
            <a:off x="731520" y="4379976"/>
            <a:ext cx="10515600" cy="0"/>
          </a:xfrm>
          <a:prstGeom prst="line">
            <a:avLst/>
          </a:prstGeom>
          <a:noFill/>
          <a:ln w="7620">
            <a:solidFill>
              <a:srgbClr val="D4DCD5"/>
            </a:solidFill>
            <a:prstDash val="solid"/>
          </a:ln>
        </p:spPr>
      </p:sp>
      <p:sp>
        <p:nvSpPr>
          <p:cNvPr id="38" name="Text 35"/>
          <p:cNvSpPr txBox="1"/>
          <p:nvPr/>
        </p:nvSpPr>
        <p:spPr>
          <a:xfrm>
            <a:off x="749808" y="4544568"/>
            <a:ext cx="2240280" cy="274320"/>
          </a:xfrm>
          <a:prstGeom prst="rect">
            <a:avLst/>
          </a:prstGeom>
          <a:noFill/>
          <a:ln/>
        </p:spPr>
        <p:txBody>
          <a:bodyPr wrap="square" lIns="0" tIns="0" rIns="0" bIns="0" rtlCol="0" anchor="ctr">
            <a:normAutofit/>
          </a:bodyPr>
          <a:lstStyle/>
          <a:p>
            <a:pPr algn="l" indent="0" marL="0">
              <a:buNone/>
            </a:pPr>
            <a:r>
              <a:rPr lang="en-US" sz="1400" b="1" dirty="0">
                <a:solidFill>
                  <a:srgbClr val="173F35"/>
                </a:solidFill>
                <a:latin typeface="Manrope" pitchFamily="34" charset="0"/>
                <a:ea typeface="Manrope" pitchFamily="34" charset="-122"/>
                <a:cs typeface="Manrope" pitchFamily="34" charset="-120"/>
              </a:rPr>
              <a:t>Accessibility</a:t>
            </a:r>
            <a:endParaRPr lang="en-US" sz="1400" dirty="0"/>
          </a:p>
        </p:txBody>
      </p:sp>
      <p:sp>
        <p:nvSpPr>
          <p:cNvPr id="39" name="Shape 36"/>
          <p:cNvSpPr/>
          <p:nvPr/>
        </p:nvSpPr>
        <p:spPr>
          <a:xfrm>
            <a:off x="3072384" y="4526280"/>
            <a:ext cx="804672" cy="292608"/>
          </a:xfrm>
          <a:prstGeom prst="roundRect">
            <a:avLst>
              <a:gd name="adj" fmla="val 50000"/>
            </a:avLst>
          </a:prstGeom>
          <a:solidFill>
            <a:srgbClr val="E6EFE8"/>
          </a:solidFill>
          <a:ln w="12700">
            <a:solidFill>
              <a:srgbClr val="FFFFFF">
                <a:alpha val="0"/>
              </a:srgbClr>
            </a:solidFill>
            <a:prstDash val="solid"/>
          </a:ln>
        </p:spPr>
      </p:sp>
      <p:sp>
        <p:nvSpPr>
          <p:cNvPr id="40" name="Text 37"/>
          <p:cNvSpPr txBox="1"/>
          <p:nvPr/>
        </p:nvSpPr>
        <p:spPr>
          <a:xfrm>
            <a:off x="3145536" y="4535424"/>
            <a:ext cx="658368" cy="256032"/>
          </a:xfrm>
          <a:prstGeom prst="rect">
            <a:avLst/>
          </a:prstGeom>
          <a:noFill/>
          <a:ln/>
        </p:spPr>
        <p:txBody>
          <a:bodyPr wrap="square" lIns="0" tIns="0" rIns="0" bIns="0" rtlCol="0" anchor="ctr">
            <a:normAutofit/>
          </a:bodyPr>
          <a:lstStyle/>
          <a:p>
            <a:pPr algn="ctr" indent="0" marL="0">
              <a:buNone/>
            </a:pPr>
            <a:r>
              <a:rPr lang="en-US" sz="1000" b="1" dirty="0">
                <a:solidFill>
                  <a:srgbClr val="2F7667"/>
                </a:solidFill>
                <a:latin typeface="Manrope" pitchFamily="34" charset="0"/>
                <a:ea typeface="Manrope" pitchFamily="34" charset="-122"/>
                <a:cs typeface="Manrope" pitchFamily="34" charset="-120"/>
              </a:rPr>
              <a:t>MEDIUM</a:t>
            </a:r>
            <a:endParaRPr lang="en-US" sz="1000" dirty="0"/>
          </a:p>
        </p:txBody>
      </p:sp>
      <p:sp>
        <p:nvSpPr>
          <p:cNvPr id="41" name="Text 38"/>
          <p:cNvSpPr txBox="1"/>
          <p:nvPr/>
        </p:nvSpPr>
        <p:spPr>
          <a:xfrm>
            <a:off x="4160520" y="4498848"/>
            <a:ext cx="4754880" cy="356616"/>
          </a:xfrm>
          <a:prstGeom prst="rect">
            <a:avLst/>
          </a:prstGeom>
          <a:noFill/>
          <a:ln/>
        </p:spPr>
        <p:txBody>
          <a:bodyPr wrap="square" lIns="0" tIns="0" rIns="0" bIns="0" rtlCol="0" anchor="ctr">
            <a:normAutofit/>
          </a:bodyPr>
          <a:lstStyle/>
          <a:p>
            <a:pPr algn="l" indent="0" marL="0">
              <a:buNone/>
            </a:pPr>
            <a:r>
              <a:rPr lang="en-US" sz="1250" dirty="0">
                <a:solidFill>
                  <a:srgbClr val="17231F"/>
                </a:solidFill>
                <a:latin typeface="Manrope" pitchFamily="34" charset="0"/>
                <a:ea typeface="Manrope" pitchFamily="34" charset="-122"/>
                <a:cs typeface="Manrope" pitchFamily="34" charset="-120"/>
              </a:rPr>
              <a:t>Keyboard, screen reader, contrast and Arabic testing</a:t>
            </a:r>
            <a:endParaRPr lang="en-US" sz="1250" dirty="0"/>
          </a:p>
        </p:txBody>
      </p:sp>
      <p:sp>
        <p:nvSpPr>
          <p:cNvPr id="42" name="Text 39"/>
          <p:cNvSpPr txBox="1"/>
          <p:nvPr/>
        </p:nvSpPr>
        <p:spPr>
          <a:xfrm>
            <a:off x="9253728" y="4498848"/>
            <a:ext cx="1856232" cy="356616"/>
          </a:xfrm>
          <a:prstGeom prst="rect">
            <a:avLst/>
          </a:prstGeom>
          <a:noFill/>
          <a:ln/>
        </p:spPr>
        <p:txBody>
          <a:bodyPr wrap="square" lIns="0" tIns="0" rIns="0" bIns="0" rtlCol="0" anchor="ctr">
            <a:normAutofit/>
          </a:bodyPr>
          <a:lstStyle/>
          <a:p>
            <a:pPr algn="r" indent="0" marL="0">
              <a:buNone/>
            </a:pPr>
            <a:r>
              <a:rPr lang="en-US" sz="1140" b="1" dirty="0">
                <a:solidFill>
                  <a:srgbClr val="66736A"/>
                </a:solidFill>
                <a:latin typeface="Manrope" pitchFamily="34" charset="0"/>
                <a:ea typeface="Manrope" pitchFamily="34" charset="-122"/>
                <a:cs typeface="Manrope" pitchFamily="34" charset="-120"/>
              </a:rPr>
              <a:t>Pilot hardening</a:t>
            </a:r>
            <a:endParaRPr lang="en-US" sz="1140" dirty="0"/>
          </a:p>
        </p:txBody>
      </p:sp>
      <p:sp>
        <p:nvSpPr>
          <p:cNvPr id="43" name="Shape 40"/>
          <p:cNvSpPr/>
          <p:nvPr/>
        </p:nvSpPr>
        <p:spPr>
          <a:xfrm>
            <a:off x="731520" y="4974336"/>
            <a:ext cx="10515600" cy="0"/>
          </a:xfrm>
          <a:prstGeom prst="line">
            <a:avLst/>
          </a:prstGeom>
          <a:noFill/>
          <a:ln w="7620">
            <a:solidFill>
              <a:srgbClr val="D4DCD5"/>
            </a:solidFill>
            <a:prstDash val="solid"/>
          </a:ln>
        </p:spPr>
      </p:sp>
      <p:sp>
        <p:nvSpPr>
          <p:cNvPr id="44" name="Text 41"/>
          <p:cNvSpPr txBox="1"/>
          <p:nvPr/>
        </p:nvSpPr>
        <p:spPr>
          <a:xfrm>
            <a:off x="749808" y="5138928"/>
            <a:ext cx="2240280" cy="274320"/>
          </a:xfrm>
          <a:prstGeom prst="rect">
            <a:avLst/>
          </a:prstGeom>
          <a:noFill/>
          <a:ln/>
        </p:spPr>
        <p:txBody>
          <a:bodyPr wrap="square" lIns="0" tIns="0" rIns="0" bIns="0" rtlCol="0" anchor="ctr">
            <a:normAutofit/>
          </a:bodyPr>
          <a:lstStyle/>
          <a:p>
            <a:pPr algn="l" indent="0" marL="0">
              <a:buNone/>
            </a:pPr>
            <a:r>
              <a:rPr lang="en-US" sz="1400" b="1" dirty="0">
                <a:solidFill>
                  <a:srgbClr val="173F35"/>
                </a:solidFill>
                <a:latin typeface="Manrope" pitchFamily="34" charset="0"/>
                <a:ea typeface="Manrope" pitchFamily="34" charset="-122"/>
                <a:cs typeface="Manrope" pitchFamily="34" charset="-120"/>
              </a:rPr>
              <a:t>Team adoption</a:t>
            </a:r>
            <a:endParaRPr lang="en-US" sz="1400" dirty="0"/>
          </a:p>
        </p:txBody>
      </p:sp>
      <p:sp>
        <p:nvSpPr>
          <p:cNvPr id="45" name="Shape 42"/>
          <p:cNvSpPr/>
          <p:nvPr/>
        </p:nvSpPr>
        <p:spPr>
          <a:xfrm>
            <a:off x="3072384" y="5120640"/>
            <a:ext cx="804672" cy="292608"/>
          </a:xfrm>
          <a:prstGeom prst="roundRect">
            <a:avLst>
              <a:gd name="adj" fmla="val 50000"/>
            </a:avLst>
          </a:prstGeom>
          <a:solidFill>
            <a:srgbClr val="E6EFE8"/>
          </a:solidFill>
          <a:ln w="12700">
            <a:solidFill>
              <a:srgbClr val="FFFFFF">
                <a:alpha val="0"/>
              </a:srgbClr>
            </a:solidFill>
            <a:prstDash val="solid"/>
          </a:ln>
        </p:spPr>
      </p:sp>
      <p:sp>
        <p:nvSpPr>
          <p:cNvPr id="46" name="Text 43"/>
          <p:cNvSpPr txBox="1"/>
          <p:nvPr/>
        </p:nvSpPr>
        <p:spPr>
          <a:xfrm>
            <a:off x="3145536" y="5129784"/>
            <a:ext cx="658368" cy="256032"/>
          </a:xfrm>
          <a:prstGeom prst="rect">
            <a:avLst/>
          </a:prstGeom>
          <a:noFill/>
          <a:ln/>
        </p:spPr>
        <p:txBody>
          <a:bodyPr wrap="square" lIns="0" tIns="0" rIns="0" bIns="0" rtlCol="0" anchor="ctr">
            <a:normAutofit/>
          </a:bodyPr>
          <a:lstStyle/>
          <a:p>
            <a:pPr algn="ctr" indent="0" marL="0">
              <a:buNone/>
            </a:pPr>
            <a:r>
              <a:rPr lang="en-US" sz="1000" b="1" dirty="0">
                <a:solidFill>
                  <a:srgbClr val="2F7667"/>
                </a:solidFill>
                <a:latin typeface="Manrope" pitchFamily="34" charset="0"/>
                <a:ea typeface="Manrope" pitchFamily="34" charset="-122"/>
                <a:cs typeface="Manrope" pitchFamily="34" charset="-120"/>
              </a:rPr>
              <a:t>MEDIUM</a:t>
            </a:r>
            <a:endParaRPr lang="en-US" sz="1000" dirty="0"/>
          </a:p>
        </p:txBody>
      </p:sp>
      <p:sp>
        <p:nvSpPr>
          <p:cNvPr id="47" name="Text 44"/>
          <p:cNvSpPr txBox="1"/>
          <p:nvPr/>
        </p:nvSpPr>
        <p:spPr>
          <a:xfrm>
            <a:off x="4160520" y="5093208"/>
            <a:ext cx="4754880" cy="356616"/>
          </a:xfrm>
          <a:prstGeom prst="rect">
            <a:avLst/>
          </a:prstGeom>
          <a:noFill/>
          <a:ln/>
        </p:spPr>
        <p:txBody>
          <a:bodyPr wrap="square" lIns="0" tIns="0" rIns="0" bIns="0" rtlCol="0" anchor="ctr">
            <a:normAutofit/>
          </a:bodyPr>
          <a:lstStyle/>
          <a:p>
            <a:pPr algn="l" indent="0" marL="0">
              <a:buNone/>
            </a:pPr>
            <a:r>
              <a:rPr lang="en-US" sz="1250" dirty="0">
                <a:solidFill>
                  <a:srgbClr val="17231F"/>
                </a:solidFill>
                <a:latin typeface="Manrope" pitchFamily="34" charset="0"/>
                <a:ea typeface="Manrope" pitchFamily="34" charset="-122"/>
                <a:cs typeface="Manrope" pitchFamily="34" charset="-120"/>
              </a:rPr>
              <a:t>45-minute training, restaurant champion, activation tracking</a:t>
            </a:r>
            <a:endParaRPr lang="en-US" sz="1250" dirty="0"/>
          </a:p>
        </p:txBody>
      </p:sp>
      <p:sp>
        <p:nvSpPr>
          <p:cNvPr id="48" name="Text 45"/>
          <p:cNvSpPr txBox="1"/>
          <p:nvPr/>
        </p:nvSpPr>
        <p:spPr>
          <a:xfrm>
            <a:off x="9253728" y="5093208"/>
            <a:ext cx="1856232" cy="356616"/>
          </a:xfrm>
          <a:prstGeom prst="rect">
            <a:avLst/>
          </a:prstGeom>
          <a:noFill/>
          <a:ln/>
        </p:spPr>
        <p:txBody>
          <a:bodyPr wrap="square" lIns="0" tIns="0" rIns="0" bIns="0" rtlCol="0" anchor="ctr">
            <a:normAutofit/>
          </a:bodyPr>
          <a:lstStyle/>
          <a:p>
            <a:pPr algn="r" indent="0" marL="0">
              <a:buNone/>
            </a:pPr>
            <a:r>
              <a:rPr lang="en-US" sz="1140" b="1" dirty="0">
                <a:solidFill>
                  <a:srgbClr val="66736A"/>
                </a:solidFill>
                <a:latin typeface="Manrope" pitchFamily="34" charset="0"/>
                <a:ea typeface="Manrope" pitchFamily="34" charset="-122"/>
                <a:cs typeface="Manrope" pitchFamily="34" charset="-120"/>
              </a:rPr>
              <a:t>During pilot</a:t>
            </a:r>
            <a:endParaRPr lang="en-US" sz="1140" dirty="0"/>
          </a:p>
        </p:txBody>
      </p:sp>
      <p:sp>
        <p:nvSpPr>
          <p:cNvPr id="49" name="Shape 46"/>
          <p:cNvSpPr/>
          <p:nvPr/>
        </p:nvSpPr>
        <p:spPr>
          <a:xfrm>
            <a:off x="731520" y="5568696"/>
            <a:ext cx="10515600" cy="0"/>
          </a:xfrm>
          <a:prstGeom prst="line">
            <a:avLst/>
          </a:prstGeom>
          <a:noFill/>
          <a:ln w="7620">
            <a:solidFill>
              <a:srgbClr val="D4DCD5"/>
            </a:solidFill>
            <a:prstDash val="solid"/>
          </a:ln>
        </p:spPr>
      </p:sp>
      <p:sp>
        <p:nvSpPr>
          <p:cNvPr id="50" name="Text 47"/>
          <p:cNvSpPr txBox="1"/>
          <p:nvPr/>
        </p:nvSpPr>
        <p:spPr>
          <a:xfrm>
            <a:off x="658368" y="6565392"/>
            <a:ext cx="5303520" cy="118872"/>
          </a:xfrm>
          <a:prstGeom prst="rect">
            <a:avLst/>
          </a:prstGeom>
          <a:noFill/>
          <a:ln/>
        </p:spPr>
        <p:txBody>
          <a:bodyPr wrap="square" lIns="0" tIns="0" rIns="0" bIns="0" rtlCol="0" anchor="t">
            <a:normAutofit/>
          </a:bodyPr>
          <a:lstStyle/>
          <a:p>
            <a:pPr algn="l" indent="0" marL="0">
              <a:buNone/>
            </a:pPr>
            <a:r>
              <a:rPr lang="en-US" sz="850" dirty="0">
                <a:solidFill>
                  <a:srgbClr val="66736A"/>
                </a:solidFill>
                <a:latin typeface="Manrope" pitchFamily="34" charset="0"/>
                <a:ea typeface="Manrope" pitchFamily="34" charset="-122"/>
                <a:cs typeface="Manrope" pitchFamily="34" charset="-120"/>
              </a:rPr>
              <a:t>This register is a launch plan, not a claim of completed compliance</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384048" y="6510528"/>
            <a:ext cx="11402568" cy="0"/>
          </a:xfrm>
          <a:prstGeom prst="line">
            <a:avLst/>
          </a:prstGeom>
          <a:noFill/>
          <a:ln w="8890">
            <a:solidFill>
              <a:srgbClr val="D4DCD5"/>
            </a:solidFill>
            <a:prstDash val="solid"/>
          </a:ln>
        </p:spPr>
      </p:sp>
      <p:pic>
        <p:nvPicPr>
          <p:cNvPr id="3" name="Image 0" descr="/Users/tank/Downloads/Resuto-main/.codex-build/resuto-impactx-pitch/resuto-original-mark.png">    </p:cNvPr>
          <p:cNvPicPr>
            <a:picLocks noChangeAspect="1"/>
          </p:cNvPicPr>
          <p:nvPr/>
        </p:nvPicPr>
        <p:blipFill>
          <a:blip r:embed="rId1"/>
          <a:stretch>
            <a:fillRect/>
          </a:stretch>
        </p:blipFill>
        <p:spPr>
          <a:xfrm>
            <a:off x="384048" y="210312"/>
            <a:ext cx="356616" cy="338328"/>
          </a:xfrm>
          <a:prstGeom prst="rect">
            <a:avLst/>
          </a:prstGeom>
        </p:spPr>
      </p:pic>
      <p:sp>
        <p:nvSpPr>
          <p:cNvPr id="4" name="Text 1"/>
          <p:cNvSpPr txBox="1"/>
          <p:nvPr/>
        </p:nvSpPr>
        <p:spPr>
          <a:xfrm>
            <a:off x="786384" y="283464"/>
            <a:ext cx="914400" cy="164592"/>
          </a:xfrm>
          <a:prstGeom prst="rect">
            <a:avLst/>
          </a:prstGeom>
          <a:noFill/>
          <a:ln/>
        </p:spPr>
        <p:txBody>
          <a:bodyPr wrap="square" lIns="0" tIns="0" rIns="0" bIns="0" rtlCol="0" anchor="t">
            <a:normAutofit/>
          </a:bodyPr>
          <a:lstStyle/>
          <a:p>
            <a:pPr algn="l" indent="0" marL="0">
              <a:buNone/>
            </a:pPr>
            <a:r>
              <a:rPr lang="en-US" sz="900" b="1" dirty="0">
                <a:solidFill>
                  <a:srgbClr val="173F35"/>
                </a:solidFill>
                <a:latin typeface="Manrope" pitchFamily="34" charset="0"/>
                <a:ea typeface="Manrope" pitchFamily="34" charset="-122"/>
                <a:cs typeface="Manrope" pitchFamily="34" charset="-120"/>
              </a:rPr>
              <a:t>RESUTO</a:t>
            </a:r>
            <a:endParaRPr lang="en-US" sz="900" dirty="0"/>
          </a:p>
        </p:txBody>
      </p:sp>
      <p:sp>
        <p:nvSpPr>
          <p:cNvPr id="5" name="Text 2"/>
          <p:cNvSpPr txBox="1"/>
          <p:nvPr/>
        </p:nvSpPr>
        <p:spPr>
          <a:xfrm>
            <a:off x="9829800" y="274320"/>
            <a:ext cx="1691640" cy="146304"/>
          </a:xfrm>
          <a:prstGeom prst="rect">
            <a:avLst/>
          </a:prstGeom>
          <a:noFill/>
          <a:ln/>
        </p:spPr>
        <p:txBody>
          <a:bodyPr wrap="square" lIns="0" tIns="0" rIns="0" bIns="0" rtlCol="0" anchor="ctr">
            <a:normAutofit/>
          </a:bodyPr>
          <a:lstStyle/>
          <a:p>
            <a:pPr algn="r" indent="0" marL="0">
              <a:buNone/>
            </a:pPr>
            <a:r>
              <a:rPr lang="en-US" sz="850" b="1" spc="140" kern="0" dirty="0">
                <a:solidFill>
                  <a:srgbClr val="D89A32"/>
                </a:solidFill>
                <a:latin typeface="Manrope" pitchFamily="34" charset="0"/>
                <a:ea typeface="Manrope" pitchFamily="34" charset="-122"/>
                <a:cs typeface="Manrope" pitchFamily="34" charset="-120"/>
              </a:rPr>
              <a:t>APPENDIX · Q&amp;A</a:t>
            </a:r>
            <a:endParaRPr lang="en-US" sz="850" dirty="0"/>
          </a:p>
        </p:txBody>
      </p:sp>
      <p:sp>
        <p:nvSpPr>
          <p:cNvPr id="6" name="Text 3"/>
          <p:cNvSpPr txBox="1"/>
          <p:nvPr/>
        </p:nvSpPr>
        <p:spPr>
          <a:xfrm>
            <a:off x="658368" y="557784"/>
            <a:ext cx="10835640" cy="530352"/>
          </a:xfrm>
          <a:prstGeom prst="rect">
            <a:avLst/>
          </a:prstGeom>
          <a:noFill/>
          <a:ln/>
        </p:spPr>
        <p:txBody>
          <a:bodyPr wrap="square" lIns="0" tIns="0" rIns="0" bIns="0" rtlCol="0" anchor="t">
            <a:normAutofit/>
          </a:bodyPr>
          <a:lstStyle/>
          <a:p>
            <a:pPr algn="l" indent="0" marL="0">
              <a:buNone/>
            </a:pPr>
            <a:r>
              <a:rPr lang="en-US" sz="2800" b="1" dirty="0">
                <a:solidFill>
                  <a:srgbClr val="17231F"/>
                </a:solidFill>
                <a:latin typeface="Manrope" pitchFamily="34" charset="0"/>
                <a:ea typeface="Manrope" pitchFamily="34" charset="-122"/>
                <a:cs typeface="Manrope" pitchFamily="34" charset="-120"/>
              </a:rPr>
              <a:t>Likely judging questions</a:t>
            </a:r>
            <a:endParaRPr lang="en-US" sz="2800" dirty="0"/>
          </a:p>
        </p:txBody>
      </p:sp>
      <p:sp>
        <p:nvSpPr>
          <p:cNvPr id="7" name="Text 4"/>
          <p:cNvSpPr txBox="1"/>
          <p:nvPr/>
        </p:nvSpPr>
        <p:spPr>
          <a:xfrm>
            <a:off x="676656" y="1097280"/>
            <a:ext cx="10469880" cy="347472"/>
          </a:xfrm>
          <a:prstGeom prst="rect">
            <a:avLst/>
          </a:prstGeom>
          <a:noFill/>
          <a:ln/>
        </p:spPr>
        <p:txBody>
          <a:bodyPr wrap="square" lIns="0" tIns="0" rIns="0" bIns="0" rtlCol="0" anchor="t">
            <a:normAutofit/>
          </a:bodyPr>
          <a:lstStyle/>
          <a:p>
            <a:pPr algn="l" indent="0" marL="0">
              <a:buNone/>
            </a:pPr>
            <a:r>
              <a:rPr lang="en-US" sz="1450" dirty="0">
                <a:solidFill>
                  <a:srgbClr val="66736A"/>
                </a:solidFill>
                <a:latin typeface="Manrope" pitchFamily="34" charset="0"/>
                <a:ea typeface="Manrope" pitchFamily="34" charset="-122"/>
                <a:cs typeface="Manrope" pitchFamily="34" charset="-120"/>
              </a:rPr>
              <a:t>Short answers grounded in current evidence</a:t>
            </a:r>
            <a:endParaRPr lang="en-US" sz="1450" dirty="0"/>
          </a:p>
        </p:txBody>
      </p:sp>
      <p:sp>
        <p:nvSpPr>
          <p:cNvPr id="8" name="Text 5"/>
          <p:cNvSpPr txBox="1"/>
          <p:nvPr/>
        </p:nvSpPr>
        <p:spPr>
          <a:xfrm>
            <a:off x="749808" y="1499616"/>
            <a:ext cx="2962656" cy="347472"/>
          </a:xfrm>
          <a:prstGeom prst="rect">
            <a:avLst/>
          </a:prstGeom>
          <a:noFill/>
          <a:ln/>
        </p:spPr>
        <p:txBody>
          <a:bodyPr wrap="square" lIns="0" tIns="0" rIns="0" bIns="0" rtlCol="0" anchor="t">
            <a:normAutofit/>
          </a:bodyPr>
          <a:lstStyle/>
          <a:p>
            <a:pPr algn="l" indent="0" marL="0">
              <a:buNone/>
            </a:pPr>
            <a:r>
              <a:rPr lang="en-US" sz="1420" b="1" dirty="0">
                <a:solidFill>
                  <a:srgbClr val="173F35"/>
                </a:solidFill>
                <a:latin typeface="Manrope" pitchFamily="34" charset="0"/>
                <a:ea typeface="Manrope" pitchFamily="34" charset="-122"/>
                <a:cs typeface="Manrope" pitchFamily="34" charset="-120"/>
              </a:rPr>
              <a:t>What is different from a POS?</a:t>
            </a:r>
            <a:endParaRPr lang="en-US" sz="1420" dirty="0"/>
          </a:p>
        </p:txBody>
      </p:sp>
      <p:sp>
        <p:nvSpPr>
          <p:cNvPr id="9" name="Text 6"/>
          <p:cNvSpPr txBox="1"/>
          <p:nvPr/>
        </p:nvSpPr>
        <p:spPr>
          <a:xfrm>
            <a:off x="3913632" y="1463040"/>
            <a:ext cx="7315200" cy="566928"/>
          </a:xfrm>
          <a:prstGeom prst="rect">
            <a:avLst/>
          </a:prstGeom>
          <a:noFill/>
          <a:ln/>
        </p:spPr>
        <p:txBody>
          <a:bodyPr wrap="square" lIns="0" tIns="0" rIns="0" bIns="0" rtlCol="0" anchor="t">
            <a:normAutofit/>
          </a:bodyPr>
          <a:lstStyle/>
          <a:p>
            <a:pPr algn="l" indent="0" marL="0">
              <a:buNone/>
            </a:pPr>
            <a:r>
              <a:rPr lang="en-US" sz="1220" dirty="0">
                <a:solidFill>
                  <a:srgbClr val="17231F"/>
                </a:solidFill>
                <a:latin typeface="Manrope" pitchFamily="34" charset="0"/>
                <a:ea typeface="Manrope" pitchFamily="34" charset="-122"/>
                <a:cs typeface="Manrope" pitchFamily="34" charset="-120"/>
              </a:rPr>
              <a:t>Resuto connects the guest journey and operating state, with table geometry and reviewed AI inside the workflow. It does not claim to replace every production POS today.</a:t>
            </a:r>
            <a:endParaRPr lang="en-US" sz="1220" dirty="0"/>
          </a:p>
        </p:txBody>
      </p:sp>
      <p:sp>
        <p:nvSpPr>
          <p:cNvPr id="10" name="Shape 7"/>
          <p:cNvSpPr/>
          <p:nvPr/>
        </p:nvSpPr>
        <p:spPr>
          <a:xfrm>
            <a:off x="749808" y="2130552"/>
            <a:ext cx="10479024" cy="0"/>
          </a:xfrm>
          <a:prstGeom prst="line">
            <a:avLst/>
          </a:prstGeom>
          <a:noFill/>
          <a:ln w="8255">
            <a:solidFill>
              <a:srgbClr val="D4DCD5"/>
            </a:solidFill>
            <a:prstDash val="solid"/>
          </a:ln>
        </p:spPr>
      </p:sp>
      <p:sp>
        <p:nvSpPr>
          <p:cNvPr id="11" name="Text 8"/>
          <p:cNvSpPr txBox="1"/>
          <p:nvPr/>
        </p:nvSpPr>
        <p:spPr>
          <a:xfrm>
            <a:off x="749808" y="2286000"/>
            <a:ext cx="2962656" cy="347472"/>
          </a:xfrm>
          <a:prstGeom prst="rect">
            <a:avLst/>
          </a:prstGeom>
          <a:noFill/>
          <a:ln/>
        </p:spPr>
        <p:txBody>
          <a:bodyPr wrap="square" lIns="0" tIns="0" rIns="0" bIns="0" rtlCol="0" anchor="t">
            <a:normAutofit/>
          </a:bodyPr>
          <a:lstStyle/>
          <a:p>
            <a:pPr algn="l" indent="0" marL="0">
              <a:buNone/>
            </a:pPr>
            <a:r>
              <a:rPr lang="en-US" sz="1420" b="1" dirty="0">
                <a:solidFill>
                  <a:srgbClr val="173F35"/>
                </a:solidFill>
                <a:latin typeface="Manrope" pitchFamily="34" charset="0"/>
                <a:ea typeface="Manrope" pitchFamily="34" charset="-122"/>
                <a:cs typeface="Manrope" pitchFamily="34" charset="-120"/>
              </a:rPr>
              <a:t>Is the ROI proven?</a:t>
            </a:r>
            <a:endParaRPr lang="en-US" sz="1420" dirty="0"/>
          </a:p>
        </p:txBody>
      </p:sp>
      <p:sp>
        <p:nvSpPr>
          <p:cNvPr id="12" name="Text 9"/>
          <p:cNvSpPr txBox="1"/>
          <p:nvPr/>
        </p:nvSpPr>
        <p:spPr>
          <a:xfrm>
            <a:off x="3913632" y="2249424"/>
            <a:ext cx="7315200" cy="566928"/>
          </a:xfrm>
          <a:prstGeom prst="rect">
            <a:avLst/>
          </a:prstGeom>
          <a:noFill/>
          <a:ln/>
        </p:spPr>
        <p:txBody>
          <a:bodyPr wrap="square" lIns="0" tIns="0" rIns="0" bIns="0" rtlCol="0" anchor="t">
            <a:normAutofit/>
          </a:bodyPr>
          <a:lstStyle/>
          <a:p>
            <a:pPr algn="l" indent="0" marL="0">
              <a:buNone/>
            </a:pPr>
            <a:r>
              <a:rPr lang="en-US" sz="1220" dirty="0">
                <a:solidFill>
                  <a:srgbClr val="17231F"/>
                </a:solidFill>
                <a:latin typeface="Manrope" pitchFamily="34" charset="0"/>
                <a:ea typeface="Manrope" pitchFamily="34" charset="-122"/>
                <a:cs typeface="Manrope" pitchFamily="34" charset="-120"/>
              </a:rPr>
              <a:t>No. The slide is an illustrative model. The pilot records a baseline, measures post-adoption events and ties continuation to evidence.</a:t>
            </a:r>
            <a:endParaRPr lang="en-US" sz="1220" dirty="0"/>
          </a:p>
        </p:txBody>
      </p:sp>
      <p:sp>
        <p:nvSpPr>
          <p:cNvPr id="13" name="Shape 10"/>
          <p:cNvSpPr/>
          <p:nvPr/>
        </p:nvSpPr>
        <p:spPr>
          <a:xfrm>
            <a:off x="749808" y="2916936"/>
            <a:ext cx="10479024" cy="0"/>
          </a:xfrm>
          <a:prstGeom prst="line">
            <a:avLst/>
          </a:prstGeom>
          <a:noFill/>
          <a:ln w="8255">
            <a:solidFill>
              <a:srgbClr val="D4DCD5"/>
            </a:solidFill>
            <a:prstDash val="solid"/>
          </a:ln>
        </p:spPr>
      </p:sp>
      <p:sp>
        <p:nvSpPr>
          <p:cNvPr id="14" name="Text 11"/>
          <p:cNvSpPr txBox="1"/>
          <p:nvPr/>
        </p:nvSpPr>
        <p:spPr>
          <a:xfrm>
            <a:off x="749808" y="3072384"/>
            <a:ext cx="2962656" cy="347472"/>
          </a:xfrm>
          <a:prstGeom prst="rect">
            <a:avLst/>
          </a:prstGeom>
          <a:noFill/>
          <a:ln/>
        </p:spPr>
        <p:txBody>
          <a:bodyPr wrap="square" lIns="0" tIns="0" rIns="0" bIns="0" rtlCol="0" anchor="t">
            <a:normAutofit/>
          </a:bodyPr>
          <a:lstStyle/>
          <a:p>
            <a:pPr algn="l" indent="0" marL="0">
              <a:buNone/>
            </a:pPr>
            <a:r>
              <a:rPr lang="en-US" sz="1420" b="1" dirty="0">
                <a:solidFill>
                  <a:srgbClr val="173F35"/>
                </a:solidFill>
                <a:latin typeface="Manrope" pitchFamily="34" charset="0"/>
                <a:ea typeface="Manrope" pitchFamily="34" charset="-122"/>
                <a:cs typeface="Manrope" pitchFamily="34" charset="-120"/>
              </a:rPr>
              <a:t>Why this price?</a:t>
            </a:r>
            <a:endParaRPr lang="en-US" sz="1420" dirty="0"/>
          </a:p>
        </p:txBody>
      </p:sp>
      <p:sp>
        <p:nvSpPr>
          <p:cNvPr id="15" name="Text 12"/>
          <p:cNvSpPr txBox="1"/>
          <p:nvPr/>
        </p:nvSpPr>
        <p:spPr>
          <a:xfrm>
            <a:off x="3913632" y="3035808"/>
            <a:ext cx="7315200" cy="566928"/>
          </a:xfrm>
          <a:prstGeom prst="rect">
            <a:avLst/>
          </a:prstGeom>
          <a:noFill/>
          <a:ln/>
        </p:spPr>
        <p:txBody>
          <a:bodyPr wrap="square" lIns="0" tIns="0" rIns="0" bIns="0" rtlCol="0" anchor="t">
            <a:normAutofit/>
          </a:bodyPr>
          <a:lstStyle/>
          <a:p>
            <a:pPr algn="l" indent="0" marL="0">
              <a:buNone/>
            </a:pPr>
            <a:r>
              <a:rPr lang="en-US" sz="1220" dirty="0">
                <a:solidFill>
                  <a:srgbClr val="17231F"/>
                </a:solidFill>
                <a:latin typeface="Manrope" pitchFamily="34" charset="0"/>
                <a:ea typeface="Manrope" pitchFamily="34" charset="-122"/>
                <a:cs typeface="Manrope" pitchFamily="34" charset="-120"/>
              </a:rPr>
              <a:t>It sits below the pack’s dated Egypt benchmark and reflects MVP scope. Willingness to pay remains a pilot question.</a:t>
            </a:r>
            <a:endParaRPr lang="en-US" sz="1220" dirty="0"/>
          </a:p>
        </p:txBody>
      </p:sp>
      <p:sp>
        <p:nvSpPr>
          <p:cNvPr id="16" name="Shape 13"/>
          <p:cNvSpPr/>
          <p:nvPr/>
        </p:nvSpPr>
        <p:spPr>
          <a:xfrm>
            <a:off x="749808" y="3703320"/>
            <a:ext cx="10479024" cy="0"/>
          </a:xfrm>
          <a:prstGeom prst="line">
            <a:avLst/>
          </a:prstGeom>
          <a:noFill/>
          <a:ln w="8255">
            <a:solidFill>
              <a:srgbClr val="D4DCD5"/>
            </a:solidFill>
            <a:prstDash val="solid"/>
          </a:ln>
        </p:spPr>
      </p:sp>
      <p:sp>
        <p:nvSpPr>
          <p:cNvPr id="17" name="Text 14"/>
          <p:cNvSpPr txBox="1"/>
          <p:nvPr/>
        </p:nvSpPr>
        <p:spPr>
          <a:xfrm>
            <a:off x="749808" y="3858768"/>
            <a:ext cx="2962656" cy="347472"/>
          </a:xfrm>
          <a:prstGeom prst="rect">
            <a:avLst/>
          </a:prstGeom>
          <a:noFill/>
          <a:ln/>
        </p:spPr>
        <p:txBody>
          <a:bodyPr wrap="square" lIns="0" tIns="0" rIns="0" bIns="0" rtlCol="0" anchor="t">
            <a:normAutofit/>
          </a:bodyPr>
          <a:lstStyle/>
          <a:p>
            <a:pPr algn="l" indent="0" marL="0">
              <a:buNone/>
            </a:pPr>
            <a:r>
              <a:rPr lang="en-US" sz="1420" b="1" dirty="0">
                <a:solidFill>
                  <a:srgbClr val="173F35"/>
                </a:solidFill>
                <a:latin typeface="Manrope" pitchFamily="34" charset="0"/>
                <a:ea typeface="Manrope" pitchFamily="34" charset="-122"/>
                <a:cs typeface="Manrope" pitchFamily="34" charset="-120"/>
              </a:rPr>
              <a:t>Does multi-restaurant isolation work?</a:t>
            </a:r>
            <a:endParaRPr lang="en-US" sz="1420" dirty="0"/>
          </a:p>
        </p:txBody>
      </p:sp>
      <p:sp>
        <p:nvSpPr>
          <p:cNvPr id="18" name="Text 15"/>
          <p:cNvSpPr txBox="1"/>
          <p:nvPr/>
        </p:nvSpPr>
        <p:spPr>
          <a:xfrm>
            <a:off x="3913632" y="3822192"/>
            <a:ext cx="7315200" cy="566928"/>
          </a:xfrm>
          <a:prstGeom prst="rect">
            <a:avLst/>
          </a:prstGeom>
          <a:noFill/>
          <a:ln/>
        </p:spPr>
        <p:txBody>
          <a:bodyPr wrap="square" lIns="0" tIns="0" rIns="0" bIns="0" rtlCol="0" anchor="t">
            <a:normAutofit/>
          </a:bodyPr>
          <a:lstStyle/>
          <a:p>
            <a:pPr algn="l" indent="0" marL="0">
              <a:buNone/>
            </a:pPr>
            <a:r>
              <a:rPr lang="en-US" sz="1220" dirty="0">
                <a:solidFill>
                  <a:srgbClr val="17231F"/>
                </a:solidFill>
                <a:latin typeface="Manrope" pitchFamily="34" charset="0"/>
                <a:ea typeface="Manrope" pitchFamily="34" charset="-122"/>
                <a:cs typeface="Manrope" pitchFamily="34" charset="-120"/>
              </a:rPr>
              <a:t>Firebase membership and tenant storage code exists. The emulator isolation test was skipped today, so production launch remains gated.</a:t>
            </a:r>
            <a:endParaRPr lang="en-US" sz="1220" dirty="0"/>
          </a:p>
        </p:txBody>
      </p:sp>
      <p:sp>
        <p:nvSpPr>
          <p:cNvPr id="19" name="Shape 16"/>
          <p:cNvSpPr/>
          <p:nvPr/>
        </p:nvSpPr>
        <p:spPr>
          <a:xfrm>
            <a:off x="749808" y="4489704"/>
            <a:ext cx="10479024" cy="0"/>
          </a:xfrm>
          <a:prstGeom prst="line">
            <a:avLst/>
          </a:prstGeom>
          <a:noFill/>
          <a:ln w="8255">
            <a:solidFill>
              <a:srgbClr val="D4DCD5"/>
            </a:solidFill>
            <a:prstDash val="solid"/>
          </a:ln>
        </p:spPr>
      </p:sp>
      <p:sp>
        <p:nvSpPr>
          <p:cNvPr id="20" name="Text 17"/>
          <p:cNvSpPr txBox="1"/>
          <p:nvPr/>
        </p:nvSpPr>
        <p:spPr>
          <a:xfrm>
            <a:off x="749808" y="4645152"/>
            <a:ext cx="2962656" cy="347472"/>
          </a:xfrm>
          <a:prstGeom prst="rect">
            <a:avLst/>
          </a:prstGeom>
          <a:noFill/>
          <a:ln/>
        </p:spPr>
        <p:txBody>
          <a:bodyPr wrap="square" lIns="0" tIns="0" rIns="0" bIns="0" rtlCol="0" anchor="t">
            <a:normAutofit/>
          </a:bodyPr>
          <a:lstStyle/>
          <a:p>
            <a:pPr algn="l" indent="0" marL="0">
              <a:buNone/>
            </a:pPr>
            <a:r>
              <a:rPr lang="en-US" sz="1420" b="1" dirty="0">
                <a:solidFill>
                  <a:srgbClr val="173F35"/>
                </a:solidFill>
                <a:latin typeface="Manrope" pitchFamily="34" charset="0"/>
                <a:ea typeface="Manrope" pitchFamily="34" charset="-122"/>
                <a:cs typeface="Manrope" pitchFamily="34" charset="-120"/>
              </a:rPr>
              <a:t>What happens when Gemini fails?</a:t>
            </a:r>
            <a:endParaRPr lang="en-US" sz="1420" dirty="0"/>
          </a:p>
        </p:txBody>
      </p:sp>
      <p:sp>
        <p:nvSpPr>
          <p:cNvPr id="21" name="Text 18"/>
          <p:cNvSpPr txBox="1"/>
          <p:nvPr/>
        </p:nvSpPr>
        <p:spPr>
          <a:xfrm>
            <a:off x="3913632" y="4608576"/>
            <a:ext cx="7315200" cy="566928"/>
          </a:xfrm>
          <a:prstGeom prst="rect">
            <a:avLst/>
          </a:prstGeom>
          <a:noFill/>
          <a:ln/>
        </p:spPr>
        <p:txBody>
          <a:bodyPr wrap="square" lIns="0" tIns="0" rIns="0" bIns="0" rtlCol="0" anchor="t">
            <a:normAutofit/>
          </a:bodyPr>
          <a:lstStyle/>
          <a:p>
            <a:pPr algn="l" indent="0" marL="0">
              <a:buNone/>
            </a:pPr>
            <a:r>
              <a:rPr lang="en-US" sz="1220" dirty="0">
                <a:solidFill>
                  <a:srgbClr val="17231F"/>
                </a:solidFill>
                <a:latin typeface="Manrope" pitchFamily="34" charset="0"/>
                <a:ea typeface="Manrope" pitchFamily="34" charset="-122"/>
                <a:cs typeface="Manrope" pitchFamily="34" charset="-120"/>
              </a:rPr>
              <a:t>The system validates output and returns labeled demo rules or a clear error. It does not publish or place an order automatically.</a:t>
            </a:r>
            <a:endParaRPr lang="en-US" sz="1220" dirty="0"/>
          </a:p>
        </p:txBody>
      </p:sp>
      <p:sp>
        <p:nvSpPr>
          <p:cNvPr id="22" name="Shape 19"/>
          <p:cNvSpPr/>
          <p:nvPr/>
        </p:nvSpPr>
        <p:spPr>
          <a:xfrm>
            <a:off x="749808" y="5276088"/>
            <a:ext cx="10479024" cy="0"/>
          </a:xfrm>
          <a:prstGeom prst="line">
            <a:avLst/>
          </a:prstGeom>
          <a:noFill/>
          <a:ln w="8255">
            <a:solidFill>
              <a:srgbClr val="D4DCD5"/>
            </a:solidFill>
            <a:prstDash val="solid"/>
          </a:ln>
        </p:spPr>
      </p:sp>
      <p:sp>
        <p:nvSpPr>
          <p:cNvPr id="23" name="Text 20"/>
          <p:cNvSpPr txBox="1"/>
          <p:nvPr/>
        </p:nvSpPr>
        <p:spPr>
          <a:xfrm>
            <a:off x="749808" y="5431536"/>
            <a:ext cx="2962656" cy="347472"/>
          </a:xfrm>
          <a:prstGeom prst="rect">
            <a:avLst/>
          </a:prstGeom>
          <a:noFill/>
          <a:ln/>
        </p:spPr>
        <p:txBody>
          <a:bodyPr wrap="square" lIns="0" tIns="0" rIns="0" bIns="0" rtlCol="0" anchor="t">
            <a:normAutofit/>
          </a:bodyPr>
          <a:lstStyle/>
          <a:p>
            <a:pPr algn="l" indent="0" marL="0">
              <a:buNone/>
            </a:pPr>
            <a:r>
              <a:rPr lang="en-US" sz="1420" b="1" dirty="0">
                <a:solidFill>
                  <a:srgbClr val="173F35"/>
                </a:solidFill>
                <a:latin typeface="Manrope" pitchFamily="34" charset="0"/>
                <a:ea typeface="Manrope" pitchFamily="34" charset="-122"/>
                <a:cs typeface="Manrope" pitchFamily="34" charset="-120"/>
              </a:rPr>
              <a:t>Can you operate in Saudi Arabia?</a:t>
            </a:r>
            <a:endParaRPr lang="en-US" sz="1420" dirty="0"/>
          </a:p>
        </p:txBody>
      </p:sp>
      <p:sp>
        <p:nvSpPr>
          <p:cNvPr id="24" name="Text 21"/>
          <p:cNvSpPr txBox="1"/>
          <p:nvPr/>
        </p:nvSpPr>
        <p:spPr>
          <a:xfrm>
            <a:off x="3913632" y="5394960"/>
            <a:ext cx="7315200" cy="566928"/>
          </a:xfrm>
          <a:prstGeom prst="rect">
            <a:avLst/>
          </a:prstGeom>
          <a:noFill/>
          <a:ln/>
        </p:spPr>
        <p:txBody>
          <a:bodyPr wrap="square" lIns="0" tIns="0" rIns="0" bIns="0" rtlCol="0" anchor="t">
            <a:normAutofit/>
          </a:bodyPr>
          <a:lstStyle/>
          <a:p>
            <a:pPr algn="l" indent="0" marL="0">
              <a:buNone/>
            </a:pPr>
            <a:r>
              <a:rPr lang="en-US" sz="1220" dirty="0">
                <a:solidFill>
                  <a:srgbClr val="17231F"/>
                </a:solidFill>
                <a:latin typeface="Manrope" pitchFamily="34" charset="0"/>
                <a:ea typeface="Manrope" pitchFamily="34" charset="-122"/>
                <a:cs typeface="Manrope" pitchFamily="34" charset="-120"/>
              </a:rPr>
              <a:t>Only after local tax review, ZATCA integration and payment acceptance. The proposal treats Saudi Arabia as a gated expansion.</a:t>
            </a:r>
            <a:endParaRPr lang="en-US" sz="1220" dirty="0"/>
          </a:p>
        </p:txBody>
      </p:sp>
      <p:sp>
        <p:nvSpPr>
          <p:cNvPr id="25" name="Shape 22"/>
          <p:cNvSpPr/>
          <p:nvPr/>
        </p:nvSpPr>
        <p:spPr>
          <a:xfrm>
            <a:off x="749808" y="6062472"/>
            <a:ext cx="10479024" cy="0"/>
          </a:xfrm>
          <a:prstGeom prst="line">
            <a:avLst/>
          </a:prstGeom>
          <a:noFill/>
          <a:ln w="8255">
            <a:solidFill>
              <a:srgbClr val="D4DCD5"/>
            </a:solidFill>
            <a:prstDash val="solid"/>
          </a:ln>
        </p:spPr>
      </p:sp>
      <p:sp>
        <p:nvSpPr>
          <p:cNvPr id="26" name="Text 23"/>
          <p:cNvSpPr txBox="1"/>
          <p:nvPr/>
        </p:nvSpPr>
        <p:spPr>
          <a:xfrm>
            <a:off x="658368" y="6565392"/>
            <a:ext cx="5303520" cy="118872"/>
          </a:xfrm>
          <a:prstGeom prst="rect">
            <a:avLst/>
          </a:prstGeom>
          <a:noFill/>
          <a:ln/>
        </p:spPr>
        <p:txBody>
          <a:bodyPr wrap="square" lIns="0" tIns="0" rIns="0" bIns="0" rtlCol="0" anchor="t">
            <a:normAutofit/>
          </a:bodyPr>
          <a:lstStyle/>
          <a:p>
            <a:pPr algn="l" indent="0" marL="0">
              <a:buNone/>
            </a:pPr>
            <a:r>
              <a:rPr lang="en-US" sz="850" dirty="0">
                <a:solidFill>
                  <a:srgbClr val="66736A"/>
                </a:solidFill>
                <a:latin typeface="Manrope" pitchFamily="34" charset="0"/>
                <a:ea typeface="Manrope" pitchFamily="34" charset="-122"/>
                <a:cs typeface="Manrope" pitchFamily="34" charset="-120"/>
              </a:rPr>
              <a:t>Start with the direct answer, give one proof, then stop</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384048" y="6510528"/>
            <a:ext cx="11402568" cy="0"/>
          </a:xfrm>
          <a:prstGeom prst="line">
            <a:avLst/>
          </a:prstGeom>
          <a:noFill/>
          <a:ln w="8890">
            <a:solidFill>
              <a:srgbClr val="D4DCD5"/>
            </a:solidFill>
            <a:prstDash val="solid"/>
          </a:ln>
        </p:spPr>
      </p:sp>
      <p:pic>
        <p:nvPicPr>
          <p:cNvPr id="3" name="Image 0" descr="/Users/tank/Downloads/Resuto-main/.codex-build/resuto-impactx-pitch/resuto-original-mark.png">    </p:cNvPr>
          <p:cNvPicPr>
            <a:picLocks noChangeAspect="1"/>
          </p:cNvPicPr>
          <p:nvPr/>
        </p:nvPicPr>
        <p:blipFill>
          <a:blip r:embed="rId1"/>
          <a:stretch>
            <a:fillRect/>
          </a:stretch>
        </p:blipFill>
        <p:spPr>
          <a:xfrm>
            <a:off x="384048" y="210312"/>
            <a:ext cx="356616" cy="338328"/>
          </a:xfrm>
          <a:prstGeom prst="rect">
            <a:avLst/>
          </a:prstGeom>
        </p:spPr>
      </p:pic>
      <p:sp>
        <p:nvSpPr>
          <p:cNvPr id="4" name="Text 1"/>
          <p:cNvSpPr txBox="1"/>
          <p:nvPr/>
        </p:nvSpPr>
        <p:spPr>
          <a:xfrm>
            <a:off x="786384" y="283464"/>
            <a:ext cx="914400" cy="164592"/>
          </a:xfrm>
          <a:prstGeom prst="rect">
            <a:avLst/>
          </a:prstGeom>
          <a:noFill/>
          <a:ln/>
        </p:spPr>
        <p:txBody>
          <a:bodyPr wrap="square" lIns="0" tIns="0" rIns="0" bIns="0" rtlCol="0" anchor="t">
            <a:normAutofit/>
          </a:bodyPr>
          <a:lstStyle/>
          <a:p>
            <a:pPr algn="l" indent="0" marL="0">
              <a:buNone/>
            </a:pPr>
            <a:r>
              <a:rPr lang="en-US" sz="900" b="1" dirty="0">
                <a:solidFill>
                  <a:srgbClr val="173F35"/>
                </a:solidFill>
                <a:latin typeface="Manrope" pitchFamily="34" charset="0"/>
                <a:ea typeface="Manrope" pitchFamily="34" charset="-122"/>
                <a:cs typeface="Manrope" pitchFamily="34" charset="-120"/>
              </a:rPr>
              <a:t>RESUTO</a:t>
            </a:r>
            <a:endParaRPr lang="en-US" sz="900" dirty="0"/>
          </a:p>
        </p:txBody>
      </p:sp>
      <p:sp>
        <p:nvSpPr>
          <p:cNvPr id="5" name="Text 2"/>
          <p:cNvSpPr txBox="1"/>
          <p:nvPr/>
        </p:nvSpPr>
        <p:spPr>
          <a:xfrm>
            <a:off x="9829800" y="274320"/>
            <a:ext cx="1691640" cy="146304"/>
          </a:xfrm>
          <a:prstGeom prst="rect">
            <a:avLst/>
          </a:prstGeom>
          <a:noFill/>
          <a:ln/>
        </p:spPr>
        <p:txBody>
          <a:bodyPr wrap="square" lIns="0" tIns="0" rIns="0" bIns="0" rtlCol="0" anchor="ctr">
            <a:normAutofit/>
          </a:bodyPr>
          <a:lstStyle/>
          <a:p>
            <a:pPr algn="r" indent="0" marL="0">
              <a:buNone/>
            </a:pPr>
            <a:r>
              <a:rPr lang="en-US" sz="850" b="1" spc="140" kern="0" dirty="0">
                <a:solidFill>
                  <a:srgbClr val="D89A32"/>
                </a:solidFill>
                <a:latin typeface="Manrope" pitchFamily="34" charset="0"/>
                <a:ea typeface="Manrope" pitchFamily="34" charset="-122"/>
                <a:cs typeface="Manrope" pitchFamily="34" charset="-120"/>
              </a:rPr>
              <a:t>APPENDIX · EVIDENCE</a:t>
            </a:r>
            <a:endParaRPr lang="en-US" sz="850" dirty="0"/>
          </a:p>
        </p:txBody>
      </p:sp>
      <p:sp>
        <p:nvSpPr>
          <p:cNvPr id="6" name="Text 3"/>
          <p:cNvSpPr txBox="1"/>
          <p:nvPr/>
        </p:nvSpPr>
        <p:spPr>
          <a:xfrm>
            <a:off x="658368" y="557784"/>
            <a:ext cx="10835640" cy="530352"/>
          </a:xfrm>
          <a:prstGeom prst="rect">
            <a:avLst/>
          </a:prstGeom>
          <a:noFill/>
          <a:ln/>
        </p:spPr>
        <p:txBody>
          <a:bodyPr wrap="square" lIns="0" tIns="0" rIns="0" bIns="0" rtlCol="0" anchor="t">
            <a:normAutofit/>
          </a:bodyPr>
          <a:lstStyle/>
          <a:p>
            <a:pPr algn="l" indent="0" marL="0">
              <a:buNone/>
            </a:pPr>
            <a:r>
              <a:rPr lang="en-US" sz="2800" b="1" dirty="0">
                <a:solidFill>
                  <a:srgbClr val="17231F"/>
                </a:solidFill>
                <a:latin typeface="Manrope" pitchFamily="34" charset="0"/>
                <a:ea typeface="Manrope" pitchFamily="34" charset="-122"/>
                <a:cs typeface="Manrope" pitchFamily="34" charset="-120"/>
              </a:rPr>
              <a:t>Judging coverage and source trail</a:t>
            </a:r>
            <a:endParaRPr lang="en-US" sz="2800" dirty="0"/>
          </a:p>
        </p:txBody>
      </p:sp>
      <p:sp>
        <p:nvSpPr>
          <p:cNvPr id="7" name="Text 4"/>
          <p:cNvSpPr txBox="1"/>
          <p:nvPr/>
        </p:nvSpPr>
        <p:spPr>
          <a:xfrm>
            <a:off x="676656" y="1097280"/>
            <a:ext cx="10469880" cy="347472"/>
          </a:xfrm>
          <a:prstGeom prst="rect">
            <a:avLst/>
          </a:prstGeom>
          <a:noFill/>
          <a:ln/>
        </p:spPr>
        <p:txBody>
          <a:bodyPr wrap="square" lIns="0" tIns="0" rIns="0" bIns="0" rtlCol="0" anchor="t">
            <a:normAutofit/>
          </a:bodyPr>
          <a:lstStyle/>
          <a:p>
            <a:pPr algn="l" indent="0" marL="0">
              <a:buNone/>
            </a:pPr>
            <a:r>
              <a:rPr lang="en-US" sz="1450" dirty="0">
                <a:solidFill>
                  <a:srgbClr val="66736A"/>
                </a:solidFill>
                <a:latin typeface="Manrope" pitchFamily="34" charset="0"/>
                <a:ea typeface="Manrope" pitchFamily="34" charset="-122"/>
                <a:cs typeface="Manrope" pitchFamily="34" charset="-120"/>
              </a:rPr>
              <a:t>Every core criterion maps to a main slide and a verifiable source</a:t>
            </a:r>
            <a:endParaRPr lang="en-US" sz="14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713232" y="1463040"/>
          <a:ext cx="6931152" cy="4864608"/>
        </p:xfrm>
        <a:graphic>
          <a:graphicData uri="http://schemas.openxmlformats.org/drawingml/2006/table">
            <a:tbl>
              <a:tblPr/>
              <a:tblGrid>
                <a:gridCol w="2048256"/>
                <a:gridCol w="1042416"/>
                <a:gridCol w="3840480"/>
              </a:tblGrid>
              <a:tr h="438912">
                <a:tc>
                  <a:txBody>
                    <a:bodyPr/>
                    <a:lstStyle/>
                    <a:p>
                      <a:pPr indent="0" marL="0">
                        <a:buNone/>
                      </a:pPr>
                      <a:r>
                        <a:rPr lang="en-US" sz="1160" dirty="0">
                          <a:solidFill>
                            <a:srgbClr val="17231F"/>
                          </a:solidFill>
                          <a:latin typeface="Manrope" pitchFamily="34" charset="0"/>
                          <a:ea typeface="Manrope" pitchFamily="34" charset="-122"/>
                          <a:cs typeface="Manrope" pitchFamily="34" charset="-120"/>
                        </a:rPr>
                        <a:t>Criterion</a:t>
                      </a:r>
                      <a:endParaRPr lang="en-US" sz="1160" dirty="0">
                        <a:latin typeface="Manrope" charset="0"/>
                        <a:ea typeface="Manrope" charset="0"/>
                        <a:cs typeface="Manrope" charset="0"/>
                      </a:endParaRPr>
                    </a:p>
                  </a:txBody>
                  <a:tcPr marL="82296" marR="82296" marT="82296" marB="82296" anchor="ctr">
                    <a:lnL w="9525" cap="flat" cmpd="sng" algn="ctr">
                      <a:solidFill>
                        <a:srgbClr val="D4DCD5"/>
                      </a:solidFill>
                      <a:prstDash val="solid"/>
                      <a:round/>
                      <a:headEnd type="none" w="med" len="med"/>
                      <a:tailEnd type="none" w="med" len="med"/>
                    </a:lnL>
                    <a:lnR w="9525" cap="flat" cmpd="sng" algn="ctr">
                      <a:solidFill>
                        <a:srgbClr val="D4DCD5"/>
                      </a:solidFill>
                      <a:prstDash val="solid"/>
                      <a:round/>
                      <a:headEnd type="none" w="med" len="med"/>
                      <a:tailEnd type="none" w="med" len="med"/>
                    </a:lnR>
                    <a:lnT w="9525" cap="flat" cmpd="sng" algn="ctr">
                      <a:solidFill>
                        <a:srgbClr val="D4DCD5"/>
                      </a:solidFill>
                      <a:prstDash val="solid"/>
                      <a:round/>
                      <a:headEnd type="none" w="med" len="med"/>
                      <a:tailEnd type="none" w="med" len="med"/>
                    </a:lnT>
                    <a:lnB w="9525"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60" dirty="0">
                          <a:solidFill>
                            <a:srgbClr val="17231F"/>
                          </a:solidFill>
                          <a:latin typeface="Manrope" pitchFamily="34" charset="0"/>
                          <a:ea typeface="Manrope" pitchFamily="34" charset="-122"/>
                          <a:cs typeface="Manrope" pitchFamily="34" charset="-120"/>
                        </a:rPr>
                        <a:t>Main slide</a:t>
                      </a:r>
                      <a:endParaRPr lang="en-US" sz="1160" dirty="0">
                        <a:latin typeface="Manrope" charset="0"/>
                        <a:ea typeface="Manrope" charset="0"/>
                        <a:cs typeface="Manrope" charset="0"/>
                      </a:endParaRPr>
                    </a:p>
                  </a:txBody>
                  <a:tcPr marL="82296" marR="82296" marT="82296" marB="82296" anchor="ctr">
                    <a:lnL w="9525" cap="flat" cmpd="sng" algn="ctr">
                      <a:solidFill>
                        <a:srgbClr val="D4DCD5"/>
                      </a:solidFill>
                      <a:prstDash val="solid"/>
                      <a:round/>
                      <a:headEnd type="none" w="med" len="med"/>
                      <a:tailEnd type="none" w="med" len="med"/>
                    </a:lnL>
                    <a:lnR w="9525" cap="flat" cmpd="sng" algn="ctr">
                      <a:solidFill>
                        <a:srgbClr val="D4DCD5"/>
                      </a:solidFill>
                      <a:prstDash val="solid"/>
                      <a:round/>
                      <a:headEnd type="none" w="med" len="med"/>
                      <a:tailEnd type="none" w="med" len="med"/>
                    </a:lnR>
                    <a:lnT w="9525" cap="flat" cmpd="sng" algn="ctr">
                      <a:solidFill>
                        <a:srgbClr val="D4DCD5"/>
                      </a:solidFill>
                      <a:prstDash val="solid"/>
                      <a:round/>
                      <a:headEnd type="none" w="med" len="med"/>
                      <a:tailEnd type="none" w="med" len="med"/>
                    </a:lnT>
                    <a:lnB w="9525"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60" dirty="0">
                          <a:solidFill>
                            <a:srgbClr val="17231F"/>
                          </a:solidFill>
                          <a:latin typeface="Manrope" pitchFamily="34" charset="0"/>
                          <a:ea typeface="Manrope" pitchFamily="34" charset="-122"/>
                          <a:cs typeface="Manrope" pitchFamily="34" charset="-120"/>
                        </a:rPr>
                        <a:t>Evidence</a:t>
                      </a:r>
                      <a:endParaRPr lang="en-US" sz="1160" dirty="0">
                        <a:latin typeface="Manrope" charset="0"/>
                        <a:ea typeface="Manrope" charset="0"/>
                        <a:cs typeface="Manrope" charset="0"/>
                      </a:endParaRPr>
                    </a:p>
                  </a:txBody>
                  <a:tcPr marL="82296" marR="82296" marT="82296" marB="82296" anchor="ctr">
                    <a:lnL w="9525" cap="flat" cmpd="sng" algn="ctr">
                      <a:solidFill>
                        <a:srgbClr val="D4DCD5"/>
                      </a:solidFill>
                      <a:prstDash val="solid"/>
                      <a:round/>
                      <a:headEnd type="none" w="med" len="med"/>
                      <a:tailEnd type="none" w="med" len="med"/>
                    </a:lnL>
                    <a:lnR w="9525" cap="flat" cmpd="sng" algn="ctr">
                      <a:solidFill>
                        <a:srgbClr val="D4DCD5"/>
                      </a:solidFill>
                      <a:prstDash val="solid"/>
                      <a:round/>
                      <a:headEnd type="none" w="med" len="med"/>
                      <a:tailEnd type="none" w="med" len="med"/>
                    </a:lnR>
                    <a:lnT w="9525" cap="flat" cmpd="sng" algn="ctr">
                      <a:solidFill>
                        <a:srgbClr val="D4DCD5"/>
                      </a:solidFill>
                      <a:prstDash val="solid"/>
                      <a:round/>
                      <a:headEnd type="none" w="med" len="med"/>
                      <a:tailEnd type="none" w="med" len="med"/>
                    </a:lnT>
                    <a:lnB w="9525" cap="flat" cmpd="sng" algn="ctr">
                      <a:solidFill>
                        <a:srgbClr val="D4DCD5"/>
                      </a:solidFill>
                      <a:prstDash val="solid"/>
                      <a:round/>
                      <a:headEnd type="none" w="med" len="med"/>
                      <a:tailEnd type="none" w="med" len="med"/>
                    </a:lnB>
                    <a:solidFill>
                      <a:srgbClr val="FFFFFF"/>
                    </a:solidFill>
                  </a:tcPr>
                </a:tc>
              </a:tr>
              <a:tr h="438912">
                <a:tc>
                  <a:txBody>
                    <a:bodyPr/>
                    <a:lstStyle/>
                    <a:p>
                      <a:pPr indent="0" marL="0">
                        <a:buNone/>
                      </a:pPr>
                      <a:r>
                        <a:rPr lang="en-US" sz="1160" dirty="0">
                          <a:solidFill>
                            <a:srgbClr val="17231F"/>
                          </a:solidFill>
                          <a:latin typeface="Manrope" pitchFamily="34" charset="0"/>
                          <a:ea typeface="Manrope" pitchFamily="34" charset="-122"/>
                          <a:cs typeface="Manrope" pitchFamily="34" charset="-120"/>
                        </a:rPr>
                        <a:t>Problem definition</a:t>
                      </a:r>
                      <a:endParaRPr lang="en-US" sz="1160" dirty="0">
                        <a:latin typeface="Manrope" charset="0"/>
                        <a:ea typeface="Manrope" charset="0"/>
                        <a:cs typeface="Manrope" charset="0"/>
                      </a:endParaRPr>
                    </a:p>
                  </a:txBody>
                  <a:tcPr marL="82296" marR="82296" marT="82296" marB="82296" anchor="ctr">
                    <a:lnL w="9525" cap="flat" cmpd="sng" algn="ctr">
                      <a:solidFill>
                        <a:srgbClr val="D4DCD5"/>
                      </a:solidFill>
                      <a:prstDash val="solid"/>
                      <a:round/>
                      <a:headEnd type="none" w="med" len="med"/>
                      <a:tailEnd type="none" w="med" len="med"/>
                    </a:lnL>
                    <a:lnR w="9525" cap="flat" cmpd="sng" algn="ctr">
                      <a:solidFill>
                        <a:srgbClr val="D4DCD5"/>
                      </a:solidFill>
                      <a:prstDash val="solid"/>
                      <a:round/>
                      <a:headEnd type="none" w="med" len="med"/>
                      <a:tailEnd type="none" w="med" len="med"/>
                    </a:lnR>
                    <a:lnT w="9525" cap="flat" cmpd="sng" algn="ctr">
                      <a:solidFill>
                        <a:srgbClr val="D4DCD5"/>
                      </a:solidFill>
                      <a:prstDash val="solid"/>
                      <a:round/>
                      <a:headEnd type="none" w="med" len="med"/>
                      <a:tailEnd type="none" w="med" len="med"/>
                    </a:lnT>
                    <a:lnB w="9525"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60" dirty="0">
                          <a:solidFill>
                            <a:srgbClr val="17231F"/>
                          </a:solidFill>
                          <a:latin typeface="Manrope" pitchFamily="34" charset="0"/>
                          <a:ea typeface="Manrope" pitchFamily="34" charset="-122"/>
                          <a:cs typeface="Manrope" pitchFamily="34" charset="-120"/>
                        </a:rPr>
                        <a:t>2</a:t>
                      </a:r>
                      <a:endParaRPr lang="en-US" sz="1160" dirty="0">
                        <a:latin typeface="Manrope" charset="0"/>
                        <a:ea typeface="Manrope" charset="0"/>
                        <a:cs typeface="Manrope" charset="0"/>
                      </a:endParaRPr>
                    </a:p>
                  </a:txBody>
                  <a:tcPr marL="82296" marR="82296" marT="82296" marB="82296" anchor="ctr">
                    <a:lnL w="9525" cap="flat" cmpd="sng" algn="ctr">
                      <a:solidFill>
                        <a:srgbClr val="D4DCD5"/>
                      </a:solidFill>
                      <a:prstDash val="solid"/>
                      <a:round/>
                      <a:headEnd type="none" w="med" len="med"/>
                      <a:tailEnd type="none" w="med" len="med"/>
                    </a:lnL>
                    <a:lnR w="9525" cap="flat" cmpd="sng" algn="ctr">
                      <a:solidFill>
                        <a:srgbClr val="D4DCD5"/>
                      </a:solidFill>
                      <a:prstDash val="solid"/>
                      <a:round/>
                      <a:headEnd type="none" w="med" len="med"/>
                      <a:tailEnd type="none" w="med" len="med"/>
                    </a:lnR>
                    <a:lnT w="9525" cap="flat" cmpd="sng" algn="ctr">
                      <a:solidFill>
                        <a:srgbClr val="D4DCD5"/>
                      </a:solidFill>
                      <a:prstDash val="solid"/>
                      <a:round/>
                      <a:headEnd type="none" w="med" len="med"/>
                      <a:tailEnd type="none" w="med" len="med"/>
                    </a:lnT>
                    <a:lnB w="9525"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60" dirty="0">
                          <a:solidFill>
                            <a:srgbClr val="17231F"/>
                          </a:solidFill>
                          <a:latin typeface="Manrope" pitchFamily="34" charset="0"/>
                          <a:ea typeface="Manrope" pitchFamily="34" charset="-122"/>
                          <a:cs typeface="Manrope" pitchFamily="34" charset="-120"/>
                        </a:rPr>
                        <a:t>Pack positioning + explicit research limitation</a:t>
                      </a:r>
                      <a:endParaRPr lang="en-US" sz="1160" dirty="0">
                        <a:latin typeface="Manrope" charset="0"/>
                        <a:ea typeface="Manrope" charset="0"/>
                        <a:cs typeface="Manrope" charset="0"/>
                      </a:endParaRPr>
                    </a:p>
                  </a:txBody>
                  <a:tcPr marL="82296" marR="82296" marT="82296" marB="82296" anchor="ctr">
                    <a:lnL w="9525" cap="flat" cmpd="sng" algn="ctr">
                      <a:solidFill>
                        <a:srgbClr val="D4DCD5"/>
                      </a:solidFill>
                      <a:prstDash val="solid"/>
                      <a:round/>
                      <a:headEnd type="none" w="med" len="med"/>
                      <a:tailEnd type="none" w="med" len="med"/>
                    </a:lnL>
                    <a:lnR w="9525" cap="flat" cmpd="sng" algn="ctr">
                      <a:solidFill>
                        <a:srgbClr val="D4DCD5"/>
                      </a:solidFill>
                      <a:prstDash val="solid"/>
                      <a:round/>
                      <a:headEnd type="none" w="med" len="med"/>
                      <a:tailEnd type="none" w="med" len="med"/>
                    </a:lnR>
                    <a:lnT w="9525" cap="flat" cmpd="sng" algn="ctr">
                      <a:solidFill>
                        <a:srgbClr val="D4DCD5"/>
                      </a:solidFill>
                      <a:prstDash val="solid"/>
                      <a:round/>
                      <a:headEnd type="none" w="med" len="med"/>
                      <a:tailEnd type="none" w="med" len="med"/>
                    </a:lnT>
                    <a:lnB w="9525" cap="flat" cmpd="sng" algn="ctr">
                      <a:solidFill>
                        <a:srgbClr val="D4DCD5"/>
                      </a:solidFill>
                      <a:prstDash val="solid"/>
                      <a:round/>
                      <a:headEnd type="none" w="med" len="med"/>
                      <a:tailEnd type="none" w="med" len="med"/>
                    </a:lnB>
                    <a:solidFill>
                      <a:srgbClr val="FFFFFF"/>
                    </a:solidFill>
                  </a:tcPr>
                </a:tc>
              </a:tr>
              <a:tr h="438912">
                <a:tc>
                  <a:txBody>
                    <a:bodyPr/>
                    <a:lstStyle/>
                    <a:p>
                      <a:pPr indent="0" marL="0">
                        <a:buNone/>
                      </a:pPr>
                      <a:r>
                        <a:rPr lang="en-US" sz="1160" dirty="0">
                          <a:solidFill>
                            <a:srgbClr val="17231F"/>
                          </a:solidFill>
                          <a:latin typeface="Manrope" pitchFamily="34" charset="0"/>
                          <a:ea typeface="Manrope" pitchFamily="34" charset="-122"/>
                          <a:cs typeface="Manrope" pitchFamily="34" charset="-120"/>
                        </a:rPr>
                        <a:t>Impact / SDG</a:t>
                      </a:r>
                      <a:endParaRPr lang="en-US" sz="1160" dirty="0">
                        <a:latin typeface="Manrope" charset="0"/>
                        <a:ea typeface="Manrope" charset="0"/>
                        <a:cs typeface="Manrope" charset="0"/>
                      </a:endParaRPr>
                    </a:p>
                  </a:txBody>
                  <a:tcPr marL="82296" marR="82296" marT="82296" marB="82296" anchor="ctr">
                    <a:lnL w="9525" cap="flat" cmpd="sng" algn="ctr">
                      <a:solidFill>
                        <a:srgbClr val="D4DCD5"/>
                      </a:solidFill>
                      <a:prstDash val="solid"/>
                      <a:round/>
                      <a:headEnd type="none" w="med" len="med"/>
                      <a:tailEnd type="none" w="med" len="med"/>
                    </a:lnL>
                    <a:lnR w="9525" cap="flat" cmpd="sng" algn="ctr">
                      <a:solidFill>
                        <a:srgbClr val="D4DCD5"/>
                      </a:solidFill>
                      <a:prstDash val="solid"/>
                      <a:round/>
                      <a:headEnd type="none" w="med" len="med"/>
                      <a:tailEnd type="none" w="med" len="med"/>
                    </a:lnR>
                    <a:lnT w="9525" cap="flat" cmpd="sng" algn="ctr">
                      <a:solidFill>
                        <a:srgbClr val="D4DCD5"/>
                      </a:solidFill>
                      <a:prstDash val="solid"/>
                      <a:round/>
                      <a:headEnd type="none" w="med" len="med"/>
                      <a:tailEnd type="none" w="med" len="med"/>
                    </a:lnT>
                    <a:lnB w="9525"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60" dirty="0">
                          <a:solidFill>
                            <a:srgbClr val="17231F"/>
                          </a:solidFill>
                          <a:latin typeface="Manrope" pitchFamily="34" charset="0"/>
                          <a:ea typeface="Manrope" pitchFamily="34" charset="-122"/>
                          <a:cs typeface="Manrope" pitchFamily="34" charset="-120"/>
                        </a:rPr>
                        <a:t>8</a:t>
                      </a:r>
                      <a:endParaRPr lang="en-US" sz="1160" dirty="0">
                        <a:latin typeface="Manrope" charset="0"/>
                        <a:ea typeface="Manrope" charset="0"/>
                        <a:cs typeface="Manrope" charset="0"/>
                      </a:endParaRPr>
                    </a:p>
                  </a:txBody>
                  <a:tcPr marL="82296" marR="82296" marT="82296" marB="82296" anchor="ctr">
                    <a:lnL w="9525" cap="flat" cmpd="sng" algn="ctr">
                      <a:solidFill>
                        <a:srgbClr val="D4DCD5"/>
                      </a:solidFill>
                      <a:prstDash val="solid"/>
                      <a:round/>
                      <a:headEnd type="none" w="med" len="med"/>
                      <a:tailEnd type="none" w="med" len="med"/>
                    </a:lnL>
                    <a:lnR w="9525" cap="flat" cmpd="sng" algn="ctr">
                      <a:solidFill>
                        <a:srgbClr val="D4DCD5"/>
                      </a:solidFill>
                      <a:prstDash val="solid"/>
                      <a:round/>
                      <a:headEnd type="none" w="med" len="med"/>
                      <a:tailEnd type="none" w="med" len="med"/>
                    </a:lnR>
                    <a:lnT w="9525" cap="flat" cmpd="sng" algn="ctr">
                      <a:solidFill>
                        <a:srgbClr val="D4DCD5"/>
                      </a:solidFill>
                      <a:prstDash val="solid"/>
                      <a:round/>
                      <a:headEnd type="none" w="med" len="med"/>
                      <a:tailEnd type="none" w="med" len="med"/>
                    </a:lnT>
                    <a:lnB w="9525"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60" dirty="0">
                          <a:solidFill>
                            <a:srgbClr val="17231F"/>
                          </a:solidFill>
                          <a:latin typeface="Manrope" pitchFamily="34" charset="0"/>
                          <a:ea typeface="Manrope" pitchFamily="34" charset="-122"/>
                          <a:cs typeface="Manrope" pitchFamily="34" charset="-120"/>
                        </a:rPr>
                        <a:t>Pilot KPIs, baseline and SDG 8 link</a:t>
                      </a:r>
                      <a:endParaRPr lang="en-US" sz="1160" dirty="0">
                        <a:latin typeface="Manrope" charset="0"/>
                        <a:ea typeface="Manrope" charset="0"/>
                        <a:cs typeface="Manrope" charset="0"/>
                      </a:endParaRPr>
                    </a:p>
                  </a:txBody>
                  <a:tcPr marL="82296" marR="82296" marT="82296" marB="82296" anchor="ctr">
                    <a:lnL w="9525" cap="flat" cmpd="sng" algn="ctr">
                      <a:solidFill>
                        <a:srgbClr val="D4DCD5"/>
                      </a:solidFill>
                      <a:prstDash val="solid"/>
                      <a:round/>
                      <a:headEnd type="none" w="med" len="med"/>
                      <a:tailEnd type="none" w="med" len="med"/>
                    </a:lnL>
                    <a:lnR w="9525" cap="flat" cmpd="sng" algn="ctr">
                      <a:solidFill>
                        <a:srgbClr val="D4DCD5"/>
                      </a:solidFill>
                      <a:prstDash val="solid"/>
                      <a:round/>
                      <a:headEnd type="none" w="med" len="med"/>
                      <a:tailEnd type="none" w="med" len="med"/>
                    </a:lnR>
                    <a:lnT w="9525" cap="flat" cmpd="sng" algn="ctr">
                      <a:solidFill>
                        <a:srgbClr val="D4DCD5"/>
                      </a:solidFill>
                      <a:prstDash val="solid"/>
                      <a:round/>
                      <a:headEnd type="none" w="med" len="med"/>
                      <a:tailEnd type="none" w="med" len="med"/>
                    </a:lnT>
                    <a:lnB w="9525" cap="flat" cmpd="sng" algn="ctr">
                      <a:solidFill>
                        <a:srgbClr val="D4DCD5"/>
                      </a:solidFill>
                      <a:prstDash val="solid"/>
                      <a:round/>
                      <a:headEnd type="none" w="med" len="med"/>
                      <a:tailEnd type="none" w="med" len="med"/>
                    </a:lnB>
                    <a:solidFill>
                      <a:srgbClr val="FFFFFF"/>
                    </a:solidFill>
                  </a:tcPr>
                </a:tc>
              </a:tr>
              <a:tr h="438912">
                <a:tc>
                  <a:txBody>
                    <a:bodyPr/>
                    <a:lstStyle/>
                    <a:p>
                      <a:pPr indent="0" marL="0">
                        <a:buNone/>
                      </a:pPr>
                      <a:r>
                        <a:rPr lang="en-US" sz="1160" dirty="0">
                          <a:solidFill>
                            <a:srgbClr val="17231F"/>
                          </a:solidFill>
                          <a:latin typeface="Manrope" pitchFamily="34" charset="0"/>
                          <a:ea typeface="Manrope" pitchFamily="34" charset="-122"/>
                          <a:cs typeface="Manrope" pitchFamily="34" charset="-120"/>
                        </a:rPr>
                        <a:t>Innovation</a:t>
                      </a:r>
                      <a:endParaRPr lang="en-US" sz="1160" dirty="0">
                        <a:latin typeface="Manrope" charset="0"/>
                        <a:ea typeface="Manrope" charset="0"/>
                        <a:cs typeface="Manrope" charset="0"/>
                      </a:endParaRPr>
                    </a:p>
                  </a:txBody>
                  <a:tcPr marL="82296" marR="82296" marT="82296" marB="82296" anchor="ctr">
                    <a:lnL w="9525" cap="flat" cmpd="sng" algn="ctr">
                      <a:solidFill>
                        <a:srgbClr val="D4DCD5"/>
                      </a:solidFill>
                      <a:prstDash val="solid"/>
                      <a:round/>
                      <a:headEnd type="none" w="med" len="med"/>
                      <a:tailEnd type="none" w="med" len="med"/>
                    </a:lnL>
                    <a:lnR w="9525" cap="flat" cmpd="sng" algn="ctr">
                      <a:solidFill>
                        <a:srgbClr val="D4DCD5"/>
                      </a:solidFill>
                      <a:prstDash val="solid"/>
                      <a:round/>
                      <a:headEnd type="none" w="med" len="med"/>
                      <a:tailEnd type="none" w="med" len="med"/>
                    </a:lnR>
                    <a:lnT w="9525" cap="flat" cmpd="sng" algn="ctr">
                      <a:solidFill>
                        <a:srgbClr val="D4DCD5"/>
                      </a:solidFill>
                      <a:prstDash val="solid"/>
                      <a:round/>
                      <a:headEnd type="none" w="med" len="med"/>
                      <a:tailEnd type="none" w="med" len="med"/>
                    </a:lnT>
                    <a:lnB w="9525"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60" dirty="0">
                          <a:solidFill>
                            <a:srgbClr val="17231F"/>
                          </a:solidFill>
                          <a:latin typeface="Manrope" pitchFamily="34" charset="0"/>
                          <a:ea typeface="Manrope" pitchFamily="34" charset="-122"/>
                          <a:cs typeface="Manrope" pitchFamily="34" charset="-120"/>
                        </a:rPr>
                        <a:t>3, 6</a:t>
                      </a:r>
                      <a:endParaRPr lang="en-US" sz="1160" dirty="0">
                        <a:latin typeface="Manrope" charset="0"/>
                        <a:ea typeface="Manrope" charset="0"/>
                        <a:cs typeface="Manrope" charset="0"/>
                      </a:endParaRPr>
                    </a:p>
                  </a:txBody>
                  <a:tcPr marL="82296" marR="82296" marT="82296" marB="82296" anchor="ctr">
                    <a:lnL w="9525" cap="flat" cmpd="sng" algn="ctr">
                      <a:solidFill>
                        <a:srgbClr val="D4DCD5"/>
                      </a:solidFill>
                      <a:prstDash val="solid"/>
                      <a:round/>
                      <a:headEnd type="none" w="med" len="med"/>
                      <a:tailEnd type="none" w="med" len="med"/>
                    </a:lnL>
                    <a:lnR w="9525" cap="flat" cmpd="sng" algn="ctr">
                      <a:solidFill>
                        <a:srgbClr val="D4DCD5"/>
                      </a:solidFill>
                      <a:prstDash val="solid"/>
                      <a:round/>
                      <a:headEnd type="none" w="med" len="med"/>
                      <a:tailEnd type="none" w="med" len="med"/>
                    </a:lnR>
                    <a:lnT w="9525" cap="flat" cmpd="sng" algn="ctr">
                      <a:solidFill>
                        <a:srgbClr val="D4DCD5"/>
                      </a:solidFill>
                      <a:prstDash val="solid"/>
                      <a:round/>
                      <a:headEnd type="none" w="med" len="med"/>
                      <a:tailEnd type="none" w="med" len="med"/>
                    </a:lnT>
                    <a:lnB w="9525"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60" dirty="0">
                          <a:solidFill>
                            <a:srgbClr val="17231F"/>
                          </a:solidFill>
                          <a:latin typeface="Manrope" pitchFamily="34" charset="0"/>
                          <a:ea typeface="Manrope" pitchFamily="34" charset="-122"/>
                          <a:cs typeface="Manrope" pitchFamily="34" charset="-120"/>
                        </a:rPr>
                        <a:t>Connected state + Gemini inside reviewed workflows</a:t>
                      </a:r>
                      <a:endParaRPr lang="en-US" sz="1160" dirty="0">
                        <a:latin typeface="Manrope" charset="0"/>
                        <a:ea typeface="Manrope" charset="0"/>
                        <a:cs typeface="Manrope" charset="0"/>
                      </a:endParaRPr>
                    </a:p>
                  </a:txBody>
                  <a:tcPr marL="82296" marR="82296" marT="82296" marB="82296" anchor="ctr">
                    <a:lnL w="9525" cap="flat" cmpd="sng" algn="ctr">
                      <a:solidFill>
                        <a:srgbClr val="D4DCD5"/>
                      </a:solidFill>
                      <a:prstDash val="solid"/>
                      <a:round/>
                      <a:headEnd type="none" w="med" len="med"/>
                      <a:tailEnd type="none" w="med" len="med"/>
                    </a:lnL>
                    <a:lnR w="9525" cap="flat" cmpd="sng" algn="ctr">
                      <a:solidFill>
                        <a:srgbClr val="D4DCD5"/>
                      </a:solidFill>
                      <a:prstDash val="solid"/>
                      <a:round/>
                      <a:headEnd type="none" w="med" len="med"/>
                      <a:tailEnd type="none" w="med" len="med"/>
                    </a:lnR>
                    <a:lnT w="9525" cap="flat" cmpd="sng" algn="ctr">
                      <a:solidFill>
                        <a:srgbClr val="D4DCD5"/>
                      </a:solidFill>
                      <a:prstDash val="solid"/>
                      <a:round/>
                      <a:headEnd type="none" w="med" len="med"/>
                      <a:tailEnd type="none" w="med" len="med"/>
                    </a:lnT>
                    <a:lnB w="9525" cap="flat" cmpd="sng" algn="ctr">
                      <a:solidFill>
                        <a:srgbClr val="D4DCD5"/>
                      </a:solidFill>
                      <a:prstDash val="solid"/>
                      <a:round/>
                      <a:headEnd type="none" w="med" len="med"/>
                      <a:tailEnd type="none" w="med" len="med"/>
                    </a:lnB>
                    <a:solidFill>
                      <a:srgbClr val="FFFFFF"/>
                    </a:solidFill>
                  </a:tcPr>
                </a:tc>
              </a:tr>
              <a:tr h="438912">
                <a:tc>
                  <a:txBody>
                    <a:bodyPr/>
                    <a:lstStyle/>
                    <a:p>
                      <a:pPr indent="0" marL="0">
                        <a:buNone/>
                      </a:pPr>
                      <a:r>
                        <a:rPr lang="en-US" sz="1160" dirty="0">
                          <a:solidFill>
                            <a:srgbClr val="17231F"/>
                          </a:solidFill>
                          <a:latin typeface="Manrope" pitchFamily="34" charset="0"/>
                          <a:ea typeface="Manrope" pitchFamily="34" charset="-122"/>
                          <a:cs typeface="Manrope" pitchFamily="34" charset="-120"/>
                        </a:rPr>
                        <a:t>Solution / UX</a:t>
                      </a:r>
                      <a:endParaRPr lang="en-US" sz="1160" dirty="0">
                        <a:latin typeface="Manrope" charset="0"/>
                        <a:ea typeface="Manrope" charset="0"/>
                        <a:cs typeface="Manrope" charset="0"/>
                      </a:endParaRPr>
                    </a:p>
                  </a:txBody>
                  <a:tcPr marL="82296" marR="82296" marT="82296" marB="82296" anchor="ctr">
                    <a:lnL w="9525" cap="flat" cmpd="sng" algn="ctr">
                      <a:solidFill>
                        <a:srgbClr val="D4DCD5"/>
                      </a:solidFill>
                      <a:prstDash val="solid"/>
                      <a:round/>
                      <a:headEnd type="none" w="med" len="med"/>
                      <a:tailEnd type="none" w="med" len="med"/>
                    </a:lnL>
                    <a:lnR w="9525" cap="flat" cmpd="sng" algn="ctr">
                      <a:solidFill>
                        <a:srgbClr val="D4DCD5"/>
                      </a:solidFill>
                      <a:prstDash val="solid"/>
                      <a:round/>
                      <a:headEnd type="none" w="med" len="med"/>
                      <a:tailEnd type="none" w="med" len="med"/>
                    </a:lnR>
                    <a:lnT w="9525" cap="flat" cmpd="sng" algn="ctr">
                      <a:solidFill>
                        <a:srgbClr val="D4DCD5"/>
                      </a:solidFill>
                      <a:prstDash val="solid"/>
                      <a:round/>
                      <a:headEnd type="none" w="med" len="med"/>
                      <a:tailEnd type="none" w="med" len="med"/>
                    </a:lnT>
                    <a:lnB w="9525"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60" dirty="0">
                          <a:solidFill>
                            <a:srgbClr val="17231F"/>
                          </a:solidFill>
                          <a:latin typeface="Manrope" pitchFamily="34" charset="0"/>
                          <a:ea typeface="Manrope" pitchFamily="34" charset="-122"/>
                          <a:cs typeface="Manrope" pitchFamily="34" charset="-120"/>
                        </a:rPr>
                        <a:t>4, 5</a:t>
                      </a:r>
                      <a:endParaRPr lang="en-US" sz="1160" dirty="0">
                        <a:latin typeface="Manrope" charset="0"/>
                        <a:ea typeface="Manrope" charset="0"/>
                        <a:cs typeface="Manrope" charset="0"/>
                      </a:endParaRPr>
                    </a:p>
                  </a:txBody>
                  <a:tcPr marL="82296" marR="82296" marT="82296" marB="82296" anchor="ctr">
                    <a:lnL w="9525" cap="flat" cmpd="sng" algn="ctr">
                      <a:solidFill>
                        <a:srgbClr val="D4DCD5"/>
                      </a:solidFill>
                      <a:prstDash val="solid"/>
                      <a:round/>
                      <a:headEnd type="none" w="med" len="med"/>
                      <a:tailEnd type="none" w="med" len="med"/>
                    </a:lnL>
                    <a:lnR w="9525" cap="flat" cmpd="sng" algn="ctr">
                      <a:solidFill>
                        <a:srgbClr val="D4DCD5"/>
                      </a:solidFill>
                      <a:prstDash val="solid"/>
                      <a:round/>
                      <a:headEnd type="none" w="med" len="med"/>
                      <a:tailEnd type="none" w="med" len="med"/>
                    </a:lnR>
                    <a:lnT w="9525" cap="flat" cmpd="sng" algn="ctr">
                      <a:solidFill>
                        <a:srgbClr val="D4DCD5"/>
                      </a:solidFill>
                      <a:prstDash val="solid"/>
                      <a:round/>
                      <a:headEnd type="none" w="med" len="med"/>
                      <a:tailEnd type="none" w="med" len="med"/>
                    </a:lnT>
                    <a:lnB w="9525"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60" dirty="0">
                          <a:solidFill>
                            <a:srgbClr val="17231F"/>
                          </a:solidFill>
                          <a:latin typeface="Manrope" pitchFamily="34" charset="0"/>
                          <a:ea typeface="Manrope" pitchFamily="34" charset="-122"/>
                          <a:cs typeface="Manrope" pitchFamily="34" charset="-120"/>
                        </a:rPr>
                        <a:t>Fresh mobile and kitchen runtime captures</a:t>
                      </a:r>
                      <a:endParaRPr lang="en-US" sz="1160" dirty="0">
                        <a:latin typeface="Manrope" charset="0"/>
                        <a:ea typeface="Manrope" charset="0"/>
                        <a:cs typeface="Manrope" charset="0"/>
                      </a:endParaRPr>
                    </a:p>
                  </a:txBody>
                  <a:tcPr marL="82296" marR="82296" marT="82296" marB="82296" anchor="ctr">
                    <a:lnL w="9525" cap="flat" cmpd="sng" algn="ctr">
                      <a:solidFill>
                        <a:srgbClr val="D4DCD5"/>
                      </a:solidFill>
                      <a:prstDash val="solid"/>
                      <a:round/>
                      <a:headEnd type="none" w="med" len="med"/>
                      <a:tailEnd type="none" w="med" len="med"/>
                    </a:lnL>
                    <a:lnR w="9525" cap="flat" cmpd="sng" algn="ctr">
                      <a:solidFill>
                        <a:srgbClr val="D4DCD5"/>
                      </a:solidFill>
                      <a:prstDash val="solid"/>
                      <a:round/>
                      <a:headEnd type="none" w="med" len="med"/>
                      <a:tailEnd type="none" w="med" len="med"/>
                    </a:lnR>
                    <a:lnT w="9525" cap="flat" cmpd="sng" algn="ctr">
                      <a:solidFill>
                        <a:srgbClr val="D4DCD5"/>
                      </a:solidFill>
                      <a:prstDash val="solid"/>
                      <a:round/>
                      <a:headEnd type="none" w="med" len="med"/>
                      <a:tailEnd type="none" w="med" len="med"/>
                    </a:lnT>
                    <a:lnB w="9525" cap="flat" cmpd="sng" algn="ctr">
                      <a:solidFill>
                        <a:srgbClr val="D4DCD5"/>
                      </a:solidFill>
                      <a:prstDash val="solid"/>
                      <a:round/>
                      <a:headEnd type="none" w="med" len="med"/>
                      <a:tailEnd type="none" w="med" len="med"/>
                    </a:lnB>
                    <a:solidFill>
                      <a:srgbClr val="FFFFFF"/>
                    </a:solidFill>
                  </a:tcPr>
                </a:tc>
              </a:tr>
              <a:tr h="438912">
                <a:tc>
                  <a:txBody>
                    <a:bodyPr/>
                    <a:lstStyle/>
                    <a:p>
                      <a:pPr indent="0" marL="0">
                        <a:buNone/>
                      </a:pPr>
                      <a:r>
                        <a:rPr lang="en-US" sz="1160" dirty="0">
                          <a:solidFill>
                            <a:srgbClr val="17231F"/>
                          </a:solidFill>
                          <a:latin typeface="Manrope" pitchFamily="34" charset="0"/>
                          <a:ea typeface="Manrope" pitchFamily="34" charset="-122"/>
                          <a:cs typeface="Manrope" pitchFamily="34" charset="-120"/>
                        </a:rPr>
                        <a:t>Technical implementation</a:t>
                      </a:r>
                      <a:endParaRPr lang="en-US" sz="1160" dirty="0">
                        <a:latin typeface="Manrope" charset="0"/>
                        <a:ea typeface="Manrope" charset="0"/>
                        <a:cs typeface="Manrope" charset="0"/>
                      </a:endParaRPr>
                    </a:p>
                  </a:txBody>
                  <a:tcPr marL="82296" marR="82296" marT="82296" marB="82296" anchor="ctr">
                    <a:lnL w="9525" cap="flat" cmpd="sng" algn="ctr">
                      <a:solidFill>
                        <a:srgbClr val="D4DCD5"/>
                      </a:solidFill>
                      <a:prstDash val="solid"/>
                      <a:round/>
                      <a:headEnd type="none" w="med" len="med"/>
                      <a:tailEnd type="none" w="med" len="med"/>
                    </a:lnL>
                    <a:lnR w="9525" cap="flat" cmpd="sng" algn="ctr">
                      <a:solidFill>
                        <a:srgbClr val="D4DCD5"/>
                      </a:solidFill>
                      <a:prstDash val="solid"/>
                      <a:round/>
                      <a:headEnd type="none" w="med" len="med"/>
                      <a:tailEnd type="none" w="med" len="med"/>
                    </a:lnR>
                    <a:lnT w="9525" cap="flat" cmpd="sng" algn="ctr">
                      <a:solidFill>
                        <a:srgbClr val="D4DCD5"/>
                      </a:solidFill>
                      <a:prstDash val="solid"/>
                      <a:round/>
                      <a:headEnd type="none" w="med" len="med"/>
                      <a:tailEnd type="none" w="med" len="med"/>
                    </a:lnT>
                    <a:lnB w="9525"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60" dirty="0">
                          <a:solidFill>
                            <a:srgbClr val="17231F"/>
                          </a:solidFill>
                          <a:latin typeface="Manrope" pitchFamily="34" charset="0"/>
                          <a:ea typeface="Manrope" pitchFamily="34" charset="-122"/>
                          <a:cs typeface="Manrope" pitchFamily="34" charset="-120"/>
                        </a:rPr>
                        <a:t>5, 7</a:t>
                      </a:r>
                      <a:endParaRPr lang="en-US" sz="1160" dirty="0">
                        <a:latin typeface="Manrope" charset="0"/>
                        <a:ea typeface="Manrope" charset="0"/>
                        <a:cs typeface="Manrope" charset="0"/>
                      </a:endParaRPr>
                    </a:p>
                  </a:txBody>
                  <a:tcPr marL="82296" marR="82296" marT="82296" marB="82296" anchor="ctr">
                    <a:lnL w="9525" cap="flat" cmpd="sng" algn="ctr">
                      <a:solidFill>
                        <a:srgbClr val="D4DCD5"/>
                      </a:solidFill>
                      <a:prstDash val="solid"/>
                      <a:round/>
                      <a:headEnd type="none" w="med" len="med"/>
                      <a:tailEnd type="none" w="med" len="med"/>
                    </a:lnL>
                    <a:lnR w="9525" cap="flat" cmpd="sng" algn="ctr">
                      <a:solidFill>
                        <a:srgbClr val="D4DCD5"/>
                      </a:solidFill>
                      <a:prstDash val="solid"/>
                      <a:round/>
                      <a:headEnd type="none" w="med" len="med"/>
                      <a:tailEnd type="none" w="med" len="med"/>
                    </a:lnR>
                    <a:lnT w="9525" cap="flat" cmpd="sng" algn="ctr">
                      <a:solidFill>
                        <a:srgbClr val="D4DCD5"/>
                      </a:solidFill>
                      <a:prstDash val="solid"/>
                      <a:round/>
                      <a:headEnd type="none" w="med" len="med"/>
                      <a:tailEnd type="none" w="med" len="med"/>
                    </a:lnT>
                    <a:lnB w="9525"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60" dirty="0">
                          <a:solidFill>
                            <a:srgbClr val="17231F"/>
                          </a:solidFill>
                          <a:latin typeface="Manrope" pitchFamily="34" charset="0"/>
                          <a:ea typeface="Manrope" pitchFamily="34" charset="-122"/>
                          <a:cs typeface="Manrope" pitchFamily="34" charset="-120"/>
                        </a:rPr>
                        <a:t>Real state transition, architecture and passing tests</a:t>
                      </a:r>
                      <a:endParaRPr lang="en-US" sz="1160" dirty="0">
                        <a:latin typeface="Manrope" charset="0"/>
                        <a:ea typeface="Manrope" charset="0"/>
                        <a:cs typeface="Manrope" charset="0"/>
                      </a:endParaRPr>
                    </a:p>
                  </a:txBody>
                  <a:tcPr marL="82296" marR="82296" marT="82296" marB="82296" anchor="ctr">
                    <a:lnL w="9525" cap="flat" cmpd="sng" algn="ctr">
                      <a:solidFill>
                        <a:srgbClr val="D4DCD5"/>
                      </a:solidFill>
                      <a:prstDash val="solid"/>
                      <a:round/>
                      <a:headEnd type="none" w="med" len="med"/>
                      <a:tailEnd type="none" w="med" len="med"/>
                    </a:lnL>
                    <a:lnR w="9525" cap="flat" cmpd="sng" algn="ctr">
                      <a:solidFill>
                        <a:srgbClr val="D4DCD5"/>
                      </a:solidFill>
                      <a:prstDash val="solid"/>
                      <a:round/>
                      <a:headEnd type="none" w="med" len="med"/>
                      <a:tailEnd type="none" w="med" len="med"/>
                    </a:lnR>
                    <a:lnT w="9525" cap="flat" cmpd="sng" algn="ctr">
                      <a:solidFill>
                        <a:srgbClr val="D4DCD5"/>
                      </a:solidFill>
                      <a:prstDash val="solid"/>
                      <a:round/>
                      <a:headEnd type="none" w="med" len="med"/>
                      <a:tailEnd type="none" w="med" len="med"/>
                    </a:lnT>
                    <a:lnB w="9525" cap="flat" cmpd="sng" algn="ctr">
                      <a:solidFill>
                        <a:srgbClr val="D4DCD5"/>
                      </a:solidFill>
                      <a:prstDash val="solid"/>
                      <a:round/>
                      <a:headEnd type="none" w="med" len="med"/>
                      <a:tailEnd type="none" w="med" len="med"/>
                    </a:lnB>
                    <a:solidFill>
                      <a:srgbClr val="FFFFFF"/>
                    </a:solidFill>
                  </a:tcPr>
                </a:tc>
              </a:tr>
              <a:tr h="438912">
                <a:tc>
                  <a:txBody>
                    <a:bodyPr/>
                    <a:lstStyle/>
                    <a:p>
                      <a:pPr indent="0" marL="0">
                        <a:buNone/>
                      </a:pPr>
                      <a:r>
                        <a:rPr lang="en-US" sz="1160" dirty="0">
                          <a:solidFill>
                            <a:srgbClr val="17231F"/>
                          </a:solidFill>
                          <a:latin typeface="Manrope" pitchFamily="34" charset="0"/>
                          <a:ea typeface="Manrope" pitchFamily="34" charset="-122"/>
                          <a:cs typeface="Manrope" pitchFamily="34" charset="-120"/>
                        </a:rPr>
                        <a:t>Feasibility</a:t>
                      </a:r>
                      <a:endParaRPr lang="en-US" sz="1160" dirty="0">
                        <a:latin typeface="Manrope" charset="0"/>
                        <a:ea typeface="Manrope" charset="0"/>
                        <a:cs typeface="Manrope" charset="0"/>
                      </a:endParaRPr>
                    </a:p>
                  </a:txBody>
                  <a:tcPr marL="82296" marR="82296" marT="82296" marB="82296" anchor="ctr">
                    <a:lnL w="9525" cap="flat" cmpd="sng" algn="ctr">
                      <a:solidFill>
                        <a:srgbClr val="D4DCD5"/>
                      </a:solidFill>
                      <a:prstDash val="solid"/>
                      <a:round/>
                      <a:headEnd type="none" w="med" len="med"/>
                      <a:tailEnd type="none" w="med" len="med"/>
                    </a:lnL>
                    <a:lnR w="9525" cap="flat" cmpd="sng" algn="ctr">
                      <a:solidFill>
                        <a:srgbClr val="D4DCD5"/>
                      </a:solidFill>
                      <a:prstDash val="solid"/>
                      <a:round/>
                      <a:headEnd type="none" w="med" len="med"/>
                      <a:tailEnd type="none" w="med" len="med"/>
                    </a:lnR>
                    <a:lnT w="9525" cap="flat" cmpd="sng" algn="ctr">
                      <a:solidFill>
                        <a:srgbClr val="D4DCD5"/>
                      </a:solidFill>
                      <a:prstDash val="solid"/>
                      <a:round/>
                      <a:headEnd type="none" w="med" len="med"/>
                      <a:tailEnd type="none" w="med" len="med"/>
                    </a:lnT>
                    <a:lnB w="9525"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60" dirty="0">
                          <a:solidFill>
                            <a:srgbClr val="17231F"/>
                          </a:solidFill>
                          <a:latin typeface="Manrope" pitchFamily="34" charset="0"/>
                          <a:ea typeface="Manrope" pitchFamily="34" charset="-122"/>
                          <a:cs typeface="Manrope" pitchFamily="34" charset="-120"/>
                        </a:rPr>
                        <a:t>11</a:t>
                      </a:r>
                      <a:endParaRPr lang="en-US" sz="1160" dirty="0">
                        <a:latin typeface="Manrope" charset="0"/>
                        <a:ea typeface="Manrope" charset="0"/>
                        <a:cs typeface="Manrope" charset="0"/>
                      </a:endParaRPr>
                    </a:p>
                  </a:txBody>
                  <a:tcPr marL="82296" marR="82296" marT="82296" marB="82296" anchor="ctr">
                    <a:lnL w="9525" cap="flat" cmpd="sng" algn="ctr">
                      <a:solidFill>
                        <a:srgbClr val="D4DCD5"/>
                      </a:solidFill>
                      <a:prstDash val="solid"/>
                      <a:round/>
                      <a:headEnd type="none" w="med" len="med"/>
                      <a:tailEnd type="none" w="med" len="med"/>
                    </a:lnL>
                    <a:lnR w="9525" cap="flat" cmpd="sng" algn="ctr">
                      <a:solidFill>
                        <a:srgbClr val="D4DCD5"/>
                      </a:solidFill>
                      <a:prstDash val="solid"/>
                      <a:round/>
                      <a:headEnd type="none" w="med" len="med"/>
                      <a:tailEnd type="none" w="med" len="med"/>
                    </a:lnR>
                    <a:lnT w="9525" cap="flat" cmpd="sng" algn="ctr">
                      <a:solidFill>
                        <a:srgbClr val="D4DCD5"/>
                      </a:solidFill>
                      <a:prstDash val="solid"/>
                      <a:round/>
                      <a:headEnd type="none" w="med" len="med"/>
                      <a:tailEnd type="none" w="med" len="med"/>
                    </a:lnT>
                    <a:lnB w="9525"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60" dirty="0">
                          <a:solidFill>
                            <a:srgbClr val="17231F"/>
                          </a:solidFill>
                          <a:latin typeface="Manrope" pitchFamily="34" charset="0"/>
                          <a:ea typeface="Manrope" pitchFamily="34" charset="-122"/>
                          <a:cs typeface="Manrope" pitchFamily="34" charset="-120"/>
                        </a:rPr>
                        <a:t>90-day gated execution plan</a:t>
                      </a:r>
                      <a:endParaRPr lang="en-US" sz="1160" dirty="0">
                        <a:latin typeface="Manrope" charset="0"/>
                        <a:ea typeface="Manrope" charset="0"/>
                        <a:cs typeface="Manrope" charset="0"/>
                      </a:endParaRPr>
                    </a:p>
                  </a:txBody>
                  <a:tcPr marL="82296" marR="82296" marT="82296" marB="82296" anchor="ctr">
                    <a:lnL w="9525" cap="flat" cmpd="sng" algn="ctr">
                      <a:solidFill>
                        <a:srgbClr val="D4DCD5"/>
                      </a:solidFill>
                      <a:prstDash val="solid"/>
                      <a:round/>
                      <a:headEnd type="none" w="med" len="med"/>
                      <a:tailEnd type="none" w="med" len="med"/>
                    </a:lnL>
                    <a:lnR w="9525" cap="flat" cmpd="sng" algn="ctr">
                      <a:solidFill>
                        <a:srgbClr val="D4DCD5"/>
                      </a:solidFill>
                      <a:prstDash val="solid"/>
                      <a:round/>
                      <a:headEnd type="none" w="med" len="med"/>
                      <a:tailEnd type="none" w="med" len="med"/>
                    </a:lnR>
                    <a:lnT w="9525" cap="flat" cmpd="sng" algn="ctr">
                      <a:solidFill>
                        <a:srgbClr val="D4DCD5"/>
                      </a:solidFill>
                      <a:prstDash val="solid"/>
                      <a:round/>
                      <a:headEnd type="none" w="med" len="med"/>
                      <a:tailEnd type="none" w="med" len="med"/>
                    </a:lnT>
                    <a:lnB w="9525" cap="flat" cmpd="sng" algn="ctr">
                      <a:solidFill>
                        <a:srgbClr val="D4DCD5"/>
                      </a:solidFill>
                      <a:prstDash val="solid"/>
                      <a:round/>
                      <a:headEnd type="none" w="med" len="med"/>
                      <a:tailEnd type="none" w="med" len="med"/>
                    </a:lnB>
                    <a:solidFill>
                      <a:srgbClr val="FFFFFF"/>
                    </a:solidFill>
                  </a:tcPr>
                </a:tc>
              </a:tr>
              <a:tr h="438912">
                <a:tc>
                  <a:txBody>
                    <a:bodyPr/>
                    <a:lstStyle/>
                    <a:p>
                      <a:pPr indent="0" marL="0">
                        <a:buNone/>
                      </a:pPr>
                      <a:r>
                        <a:rPr lang="en-US" sz="1160" dirty="0">
                          <a:solidFill>
                            <a:srgbClr val="17231F"/>
                          </a:solidFill>
                          <a:latin typeface="Manrope" pitchFamily="34" charset="0"/>
                          <a:ea typeface="Manrope" pitchFamily="34" charset="-122"/>
                          <a:cs typeface="Manrope" pitchFamily="34" charset="-120"/>
                        </a:rPr>
                        <a:t>ROI / business model</a:t>
                      </a:r>
                      <a:endParaRPr lang="en-US" sz="1160" dirty="0">
                        <a:latin typeface="Manrope" charset="0"/>
                        <a:ea typeface="Manrope" charset="0"/>
                        <a:cs typeface="Manrope" charset="0"/>
                      </a:endParaRPr>
                    </a:p>
                  </a:txBody>
                  <a:tcPr marL="82296" marR="82296" marT="82296" marB="82296" anchor="ctr">
                    <a:lnL w="9525" cap="flat" cmpd="sng" algn="ctr">
                      <a:solidFill>
                        <a:srgbClr val="D4DCD5"/>
                      </a:solidFill>
                      <a:prstDash val="solid"/>
                      <a:round/>
                      <a:headEnd type="none" w="med" len="med"/>
                      <a:tailEnd type="none" w="med" len="med"/>
                    </a:lnL>
                    <a:lnR w="9525" cap="flat" cmpd="sng" algn="ctr">
                      <a:solidFill>
                        <a:srgbClr val="D4DCD5"/>
                      </a:solidFill>
                      <a:prstDash val="solid"/>
                      <a:round/>
                      <a:headEnd type="none" w="med" len="med"/>
                      <a:tailEnd type="none" w="med" len="med"/>
                    </a:lnR>
                    <a:lnT w="9525" cap="flat" cmpd="sng" algn="ctr">
                      <a:solidFill>
                        <a:srgbClr val="D4DCD5"/>
                      </a:solidFill>
                      <a:prstDash val="solid"/>
                      <a:round/>
                      <a:headEnd type="none" w="med" len="med"/>
                      <a:tailEnd type="none" w="med" len="med"/>
                    </a:lnT>
                    <a:lnB w="9525"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60" dirty="0">
                          <a:solidFill>
                            <a:srgbClr val="17231F"/>
                          </a:solidFill>
                          <a:latin typeface="Manrope" pitchFamily="34" charset="0"/>
                          <a:ea typeface="Manrope" pitchFamily="34" charset="-122"/>
                          <a:cs typeface="Manrope" pitchFamily="34" charset="-120"/>
                        </a:rPr>
                        <a:t>9, 10</a:t>
                      </a:r>
                      <a:endParaRPr lang="en-US" sz="1160" dirty="0">
                        <a:latin typeface="Manrope" charset="0"/>
                        <a:ea typeface="Manrope" charset="0"/>
                        <a:cs typeface="Manrope" charset="0"/>
                      </a:endParaRPr>
                    </a:p>
                  </a:txBody>
                  <a:tcPr marL="82296" marR="82296" marT="82296" marB="82296" anchor="ctr">
                    <a:lnL w="9525" cap="flat" cmpd="sng" algn="ctr">
                      <a:solidFill>
                        <a:srgbClr val="D4DCD5"/>
                      </a:solidFill>
                      <a:prstDash val="solid"/>
                      <a:round/>
                      <a:headEnd type="none" w="med" len="med"/>
                      <a:tailEnd type="none" w="med" len="med"/>
                    </a:lnL>
                    <a:lnR w="9525" cap="flat" cmpd="sng" algn="ctr">
                      <a:solidFill>
                        <a:srgbClr val="D4DCD5"/>
                      </a:solidFill>
                      <a:prstDash val="solid"/>
                      <a:round/>
                      <a:headEnd type="none" w="med" len="med"/>
                      <a:tailEnd type="none" w="med" len="med"/>
                    </a:lnR>
                    <a:lnT w="9525" cap="flat" cmpd="sng" algn="ctr">
                      <a:solidFill>
                        <a:srgbClr val="D4DCD5"/>
                      </a:solidFill>
                      <a:prstDash val="solid"/>
                      <a:round/>
                      <a:headEnd type="none" w="med" len="med"/>
                      <a:tailEnd type="none" w="med" len="med"/>
                    </a:lnT>
                    <a:lnB w="9525"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60" dirty="0">
                          <a:solidFill>
                            <a:srgbClr val="17231F"/>
                          </a:solidFill>
                          <a:latin typeface="Manrope" pitchFamily="34" charset="0"/>
                          <a:ea typeface="Manrope" pitchFamily="34" charset="-122"/>
                          <a:cs typeface="Manrope" pitchFamily="34" charset="-120"/>
                        </a:rPr>
                        <a:t>Per-branch price and transparent calculation</a:t>
                      </a:r>
                      <a:endParaRPr lang="en-US" sz="1160" dirty="0">
                        <a:latin typeface="Manrope" charset="0"/>
                        <a:ea typeface="Manrope" charset="0"/>
                        <a:cs typeface="Manrope" charset="0"/>
                      </a:endParaRPr>
                    </a:p>
                  </a:txBody>
                  <a:tcPr marL="82296" marR="82296" marT="82296" marB="82296" anchor="ctr">
                    <a:lnL w="9525" cap="flat" cmpd="sng" algn="ctr">
                      <a:solidFill>
                        <a:srgbClr val="D4DCD5"/>
                      </a:solidFill>
                      <a:prstDash val="solid"/>
                      <a:round/>
                      <a:headEnd type="none" w="med" len="med"/>
                      <a:tailEnd type="none" w="med" len="med"/>
                    </a:lnL>
                    <a:lnR w="9525" cap="flat" cmpd="sng" algn="ctr">
                      <a:solidFill>
                        <a:srgbClr val="D4DCD5"/>
                      </a:solidFill>
                      <a:prstDash val="solid"/>
                      <a:round/>
                      <a:headEnd type="none" w="med" len="med"/>
                      <a:tailEnd type="none" w="med" len="med"/>
                    </a:lnR>
                    <a:lnT w="9525" cap="flat" cmpd="sng" algn="ctr">
                      <a:solidFill>
                        <a:srgbClr val="D4DCD5"/>
                      </a:solidFill>
                      <a:prstDash val="solid"/>
                      <a:round/>
                      <a:headEnd type="none" w="med" len="med"/>
                      <a:tailEnd type="none" w="med" len="med"/>
                    </a:lnT>
                    <a:lnB w="9525" cap="flat" cmpd="sng" algn="ctr">
                      <a:solidFill>
                        <a:srgbClr val="D4DCD5"/>
                      </a:solidFill>
                      <a:prstDash val="solid"/>
                      <a:round/>
                      <a:headEnd type="none" w="med" len="med"/>
                      <a:tailEnd type="none" w="med" len="med"/>
                    </a:lnB>
                    <a:solidFill>
                      <a:srgbClr val="FFFFFF"/>
                    </a:solidFill>
                  </a:tcPr>
                </a:tc>
              </a:tr>
              <a:tr h="438912">
                <a:tc>
                  <a:txBody>
                    <a:bodyPr/>
                    <a:lstStyle/>
                    <a:p>
                      <a:pPr indent="0" marL="0">
                        <a:buNone/>
                      </a:pPr>
                      <a:r>
                        <a:rPr lang="en-US" sz="1160" dirty="0">
                          <a:solidFill>
                            <a:srgbClr val="17231F"/>
                          </a:solidFill>
                          <a:latin typeface="Manrope" pitchFamily="34" charset="0"/>
                          <a:ea typeface="Manrope" pitchFamily="34" charset="-122"/>
                          <a:cs typeface="Manrope" pitchFamily="34" charset="-120"/>
                        </a:rPr>
                        <a:t>Sustainability</a:t>
                      </a:r>
                      <a:endParaRPr lang="en-US" sz="1160" dirty="0">
                        <a:latin typeface="Manrope" charset="0"/>
                        <a:ea typeface="Manrope" charset="0"/>
                        <a:cs typeface="Manrope" charset="0"/>
                      </a:endParaRPr>
                    </a:p>
                  </a:txBody>
                  <a:tcPr marL="82296" marR="82296" marT="82296" marB="82296" anchor="ctr">
                    <a:lnL w="9525" cap="flat" cmpd="sng" algn="ctr">
                      <a:solidFill>
                        <a:srgbClr val="D4DCD5"/>
                      </a:solidFill>
                      <a:prstDash val="solid"/>
                      <a:round/>
                      <a:headEnd type="none" w="med" len="med"/>
                      <a:tailEnd type="none" w="med" len="med"/>
                    </a:lnL>
                    <a:lnR w="9525" cap="flat" cmpd="sng" algn="ctr">
                      <a:solidFill>
                        <a:srgbClr val="D4DCD5"/>
                      </a:solidFill>
                      <a:prstDash val="solid"/>
                      <a:round/>
                      <a:headEnd type="none" w="med" len="med"/>
                      <a:tailEnd type="none" w="med" len="med"/>
                    </a:lnR>
                    <a:lnT w="9525" cap="flat" cmpd="sng" algn="ctr">
                      <a:solidFill>
                        <a:srgbClr val="D4DCD5"/>
                      </a:solidFill>
                      <a:prstDash val="solid"/>
                      <a:round/>
                      <a:headEnd type="none" w="med" len="med"/>
                      <a:tailEnd type="none" w="med" len="med"/>
                    </a:lnT>
                    <a:lnB w="9525"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60" dirty="0">
                          <a:solidFill>
                            <a:srgbClr val="17231F"/>
                          </a:solidFill>
                          <a:latin typeface="Manrope" pitchFamily="34" charset="0"/>
                          <a:ea typeface="Manrope" pitchFamily="34" charset="-122"/>
                          <a:cs typeface="Manrope" pitchFamily="34" charset="-120"/>
                        </a:rPr>
                        <a:t>11</a:t>
                      </a:r>
                      <a:endParaRPr lang="en-US" sz="1160" dirty="0">
                        <a:latin typeface="Manrope" charset="0"/>
                        <a:ea typeface="Manrope" charset="0"/>
                        <a:cs typeface="Manrope" charset="0"/>
                      </a:endParaRPr>
                    </a:p>
                  </a:txBody>
                  <a:tcPr marL="82296" marR="82296" marT="82296" marB="82296" anchor="ctr">
                    <a:lnL w="9525" cap="flat" cmpd="sng" algn="ctr">
                      <a:solidFill>
                        <a:srgbClr val="D4DCD5"/>
                      </a:solidFill>
                      <a:prstDash val="solid"/>
                      <a:round/>
                      <a:headEnd type="none" w="med" len="med"/>
                      <a:tailEnd type="none" w="med" len="med"/>
                    </a:lnL>
                    <a:lnR w="9525" cap="flat" cmpd="sng" algn="ctr">
                      <a:solidFill>
                        <a:srgbClr val="D4DCD5"/>
                      </a:solidFill>
                      <a:prstDash val="solid"/>
                      <a:round/>
                      <a:headEnd type="none" w="med" len="med"/>
                      <a:tailEnd type="none" w="med" len="med"/>
                    </a:lnR>
                    <a:lnT w="9525" cap="flat" cmpd="sng" algn="ctr">
                      <a:solidFill>
                        <a:srgbClr val="D4DCD5"/>
                      </a:solidFill>
                      <a:prstDash val="solid"/>
                      <a:round/>
                      <a:headEnd type="none" w="med" len="med"/>
                      <a:tailEnd type="none" w="med" len="med"/>
                    </a:lnT>
                    <a:lnB w="9525"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60" dirty="0">
                          <a:solidFill>
                            <a:srgbClr val="17231F"/>
                          </a:solidFill>
                          <a:latin typeface="Manrope" pitchFamily="34" charset="0"/>
                          <a:ea typeface="Manrope" pitchFamily="34" charset="-122"/>
                          <a:cs typeface="Manrope" pitchFamily="34" charset="-120"/>
                        </a:rPr>
                        <a:t>Revenue-funded maintenance and cost controls</a:t>
                      </a:r>
                      <a:endParaRPr lang="en-US" sz="1160" dirty="0">
                        <a:latin typeface="Manrope" charset="0"/>
                        <a:ea typeface="Manrope" charset="0"/>
                        <a:cs typeface="Manrope" charset="0"/>
                      </a:endParaRPr>
                    </a:p>
                  </a:txBody>
                  <a:tcPr marL="82296" marR="82296" marT="82296" marB="82296" anchor="ctr">
                    <a:lnL w="9525" cap="flat" cmpd="sng" algn="ctr">
                      <a:solidFill>
                        <a:srgbClr val="D4DCD5"/>
                      </a:solidFill>
                      <a:prstDash val="solid"/>
                      <a:round/>
                      <a:headEnd type="none" w="med" len="med"/>
                      <a:tailEnd type="none" w="med" len="med"/>
                    </a:lnL>
                    <a:lnR w="9525" cap="flat" cmpd="sng" algn="ctr">
                      <a:solidFill>
                        <a:srgbClr val="D4DCD5"/>
                      </a:solidFill>
                      <a:prstDash val="solid"/>
                      <a:round/>
                      <a:headEnd type="none" w="med" len="med"/>
                      <a:tailEnd type="none" w="med" len="med"/>
                    </a:lnR>
                    <a:lnT w="9525" cap="flat" cmpd="sng" algn="ctr">
                      <a:solidFill>
                        <a:srgbClr val="D4DCD5"/>
                      </a:solidFill>
                      <a:prstDash val="solid"/>
                      <a:round/>
                      <a:headEnd type="none" w="med" len="med"/>
                      <a:tailEnd type="none" w="med" len="med"/>
                    </a:lnT>
                    <a:lnB w="9525" cap="flat" cmpd="sng" algn="ctr">
                      <a:solidFill>
                        <a:srgbClr val="D4DCD5"/>
                      </a:solidFill>
                      <a:prstDash val="solid"/>
                      <a:round/>
                      <a:headEnd type="none" w="med" len="med"/>
                      <a:tailEnd type="none" w="med" len="med"/>
                    </a:lnB>
                    <a:solidFill>
                      <a:srgbClr val="FFFFFF"/>
                    </a:solidFill>
                  </a:tcPr>
                </a:tc>
              </a:tr>
              <a:tr h="438912">
                <a:tc>
                  <a:txBody>
                    <a:bodyPr/>
                    <a:lstStyle/>
                    <a:p>
                      <a:pPr indent="0" marL="0">
                        <a:buNone/>
                      </a:pPr>
                      <a:r>
                        <a:rPr lang="en-US" sz="1160" dirty="0">
                          <a:solidFill>
                            <a:srgbClr val="17231F"/>
                          </a:solidFill>
                          <a:latin typeface="Manrope" pitchFamily="34" charset="0"/>
                          <a:ea typeface="Manrope" pitchFamily="34" charset="-122"/>
                          <a:cs typeface="Manrope" pitchFamily="34" charset="-120"/>
                        </a:rPr>
                        <a:t>Presentation</a:t>
                      </a:r>
                      <a:endParaRPr lang="en-US" sz="1160" dirty="0">
                        <a:latin typeface="Manrope" charset="0"/>
                        <a:ea typeface="Manrope" charset="0"/>
                        <a:cs typeface="Manrope" charset="0"/>
                      </a:endParaRPr>
                    </a:p>
                  </a:txBody>
                  <a:tcPr marL="82296" marR="82296" marT="82296" marB="82296" anchor="ctr">
                    <a:lnL w="9525" cap="flat" cmpd="sng" algn="ctr">
                      <a:solidFill>
                        <a:srgbClr val="D4DCD5"/>
                      </a:solidFill>
                      <a:prstDash val="solid"/>
                      <a:round/>
                      <a:headEnd type="none" w="med" len="med"/>
                      <a:tailEnd type="none" w="med" len="med"/>
                    </a:lnL>
                    <a:lnR w="9525" cap="flat" cmpd="sng" algn="ctr">
                      <a:solidFill>
                        <a:srgbClr val="D4DCD5"/>
                      </a:solidFill>
                      <a:prstDash val="solid"/>
                      <a:round/>
                      <a:headEnd type="none" w="med" len="med"/>
                      <a:tailEnd type="none" w="med" len="med"/>
                    </a:lnR>
                    <a:lnT w="9525" cap="flat" cmpd="sng" algn="ctr">
                      <a:solidFill>
                        <a:srgbClr val="D4DCD5"/>
                      </a:solidFill>
                      <a:prstDash val="solid"/>
                      <a:round/>
                      <a:headEnd type="none" w="med" len="med"/>
                      <a:tailEnd type="none" w="med" len="med"/>
                    </a:lnT>
                    <a:lnB w="9525"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60" dirty="0">
                          <a:solidFill>
                            <a:srgbClr val="17231F"/>
                          </a:solidFill>
                          <a:latin typeface="Manrope" pitchFamily="34" charset="0"/>
                          <a:ea typeface="Manrope" pitchFamily="34" charset="-122"/>
                          <a:cs typeface="Manrope" pitchFamily="34" charset="-120"/>
                        </a:rPr>
                        <a:t>1–12</a:t>
                      </a:r>
                      <a:endParaRPr lang="en-US" sz="1160" dirty="0">
                        <a:latin typeface="Manrope" charset="0"/>
                        <a:ea typeface="Manrope" charset="0"/>
                        <a:cs typeface="Manrope" charset="0"/>
                      </a:endParaRPr>
                    </a:p>
                  </a:txBody>
                  <a:tcPr marL="82296" marR="82296" marT="82296" marB="82296" anchor="ctr">
                    <a:lnL w="9525" cap="flat" cmpd="sng" algn="ctr">
                      <a:solidFill>
                        <a:srgbClr val="D4DCD5"/>
                      </a:solidFill>
                      <a:prstDash val="solid"/>
                      <a:round/>
                      <a:headEnd type="none" w="med" len="med"/>
                      <a:tailEnd type="none" w="med" len="med"/>
                    </a:lnL>
                    <a:lnR w="9525" cap="flat" cmpd="sng" algn="ctr">
                      <a:solidFill>
                        <a:srgbClr val="D4DCD5"/>
                      </a:solidFill>
                      <a:prstDash val="solid"/>
                      <a:round/>
                      <a:headEnd type="none" w="med" len="med"/>
                      <a:tailEnd type="none" w="med" len="med"/>
                    </a:lnR>
                    <a:lnT w="9525" cap="flat" cmpd="sng" algn="ctr">
                      <a:solidFill>
                        <a:srgbClr val="D4DCD5"/>
                      </a:solidFill>
                      <a:prstDash val="solid"/>
                      <a:round/>
                      <a:headEnd type="none" w="med" len="med"/>
                      <a:tailEnd type="none" w="med" len="med"/>
                    </a:lnT>
                    <a:lnB w="9525" cap="flat" cmpd="sng" algn="ctr">
                      <a:solidFill>
                        <a:srgbClr val="D4DCD5"/>
                      </a:solidFill>
                      <a:prstDash val="solid"/>
                      <a:round/>
                      <a:headEnd type="none" w="med" len="med"/>
                      <a:tailEnd type="none" w="med" len="med"/>
                    </a:lnB>
                    <a:solidFill>
                      <a:srgbClr val="FFFFFF"/>
                    </a:solidFill>
                  </a:tcPr>
                </a:tc>
                <a:tc>
                  <a:txBody>
                    <a:bodyPr/>
                    <a:lstStyle/>
                    <a:p>
                      <a:pPr indent="0" marL="0">
                        <a:buNone/>
                      </a:pPr>
                      <a:r>
                        <a:rPr lang="en-US" sz="1160" dirty="0">
                          <a:solidFill>
                            <a:srgbClr val="17231F"/>
                          </a:solidFill>
                          <a:latin typeface="Manrope" pitchFamily="34" charset="0"/>
                          <a:ea typeface="Manrope" pitchFamily="34" charset="-122"/>
                          <a:cs typeface="Manrope" pitchFamily="34" charset="-120"/>
                        </a:rPr>
                        <a:t>340-second timed main narrative</a:t>
                      </a:r>
                      <a:endParaRPr lang="en-US" sz="1160" dirty="0">
                        <a:latin typeface="Manrope" charset="0"/>
                        <a:ea typeface="Manrope" charset="0"/>
                        <a:cs typeface="Manrope" charset="0"/>
                      </a:endParaRPr>
                    </a:p>
                  </a:txBody>
                  <a:tcPr marL="82296" marR="82296" marT="82296" marB="82296" anchor="ctr">
                    <a:lnL w="9525" cap="flat" cmpd="sng" algn="ctr">
                      <a:solidFill>
                        <a:srgbClr val="D4DCD5"/>
                      </a:solidFill>
                      <a:prstDash val="solid"/>
                      <a:round/>
                      <a:headEnd type="none" w="med" len="med"/>
                      <a:tailEnd type="none" w="med" len="med"/>
                    </a:lnL>
                    <a:lnR w="9525" cap="flat" cmpd="sng" algn="ctr">
                      <a:solidFill>
                        <a:srgbClr val="D4DCD5"/>
                      </a:solidFill>
                      <a:prstDash val="solid"/>
                      <a:round/>
                      <a:headEnd type="none" w="med" len="med"/>
                      <a:tailEnd type="none" w="med" len="med"/>
                    </a:lnR>
                    <a:lnT w="9525" cap="flat" cmpd="sng" algn="ctr">
                      <a:solidFill>
                        <a:srgbClr val="D4DCD5"/>
                      </a:solidFill>
                      <a:prstDash val="solid"/>
                      <a:round/>
                      <a:headEnd type="none" w="med" len="med"/>
                      <a:tailEnd type="none" w="med" len="med"/>
                    </a:lnT>
                    <a:lnB w="9525" cap="flat" cmpd="sng" algn="ctr">
                      <a:solidFill>
                        <a:srgbClr val="D4DCD5"/>
                      </a:solidFill>
                      <a:prstDash val="solid"/>
                      <a:round/>
                      <a:headEnd type="none" w="med" len="med"/>
                      <a:tailEnd type="none" w="med" len="med"/>
                    </a:lnB>
                    <a:solidFill>
                      <a:srgbClr val="FFFFFF"/>
                    </a:solidFill>
                  </a:tcPr>
                </a:tc>
              </a:tr>
            </a:tbl>
          </a:graphicData>
        </a:graphic>
      </p:graphicFrame>
      <p:sp>
        <p:nvSpPr>
          <p:cNvPr id="9" name="Shape 5"/>
          <p:cNvSpPr/>
          <p:nvPr/>
        </p:nvSpPr>
        <p:spPr>
          <a:xfrm>
            <a:off x="713232" y="1463040"/>
            <a:ext cx="6931152" cy="466344"/>
          </a:xfrm>
          <a:prstGeom prst="rect">
            <a:avLst/>
          </a:prstGeom>
          <a:solidFill>
            <a:srgbClr val="173F35"/>
          </a:solidFill>
          <a:ln w="12700">
            <a:solidFill>
              <a:srgbClr val="FFFFFF">
                <a:alpha val="0"/>
              </a:srgbClr>
            </a:solidFill>
            <a:prstDash val="solid"/>
          </a:ln>
        </p:spPr>
      </p:sp>
      <p:sp>
        <p:nvSpPr>
          <p:cNvPr id="10" name="Text 6"/>
          <p:cNvSpPr txBox="1"/>
          <p:nvPr/>
        </p:nvSpPr>
        <p:spPr>
          <a:xfrm>
            <a:off x="868680" y="1581912"/>
            <a:ext cx="1645920" cy="210312"/>
          </a:xfrm>
          <a:prstGeom prst="rect">
            <a:avLst/>
          </a:prstGeom>
          <a:noFill/>
          <a:ln/>
        </p:spPr>
        <p:txBody>
          <a:bodyPr wrap="square" lIns="0" tIns="0" rIns="0" bIns="0" rtlCol="0" anchor="ctr">
            <a:normAutofit/>
          </a:bodyPr>
          <a:lstStyle/>
          <a:p>
            <a:pPr algn="l" indent="0" marL="0">
              <a:buNone/>
            </a:pPr>
            <a:r>
              <a:rPr lang="en-US" sz="1080" b="1" dirty="0">
                <a:solidFill>
                  <a:srgbClr val="FFFFFF"/>
                </a:solidFill>
                <a:latin typeface="Manrope" pitchFamily="34" charset="0"/>
                <a:ea typeface="Manrope" pitchFamily="34" charset="-122"/>
                <a:cs typeface="Manrope" pitchFamily="34" charset="-120"/>
              </a:rPr>
              <a:t>Criterion</a:t>
            </a:r>
            <a:endParaRPr lang="en-US" sz="1080" dirty="0"/>
          </a:p>
        </p:txBody>
      </p:sp>
      <p:sp>
        <p:nvSpPr>
          <p:cNvPr id="11" name="Text 7"/>
          <p:cNvSpPr txBox="1"/>
          <p:nvPr/>
        </p:nvSpPr>
        <p:spPr>
          <a:xfrm>
            <a:off x="2944368" y="1581912"/>
            <a:ext cx="822960" cy="210312"/>
          </a:xfrm>
          <a:prstGeom prst="rect">
            <a:avLst/>
          </a:prstGeom>
          <a:noFill/>
          <a:ln/>
        </p:spPr>
        <p:txBody>
          <a:bodyPr wrap="square" lIns="0" tIns="0" rIns="0" bIns="0" rtlCol="0" anchor="ctr">
            <a:normAutofit/>
          </a:bodyPr>
          <a:lstStyle/>
          <a:p>
            <a:pPr algn="l" indent="0" marL="0">
              <a:buNone/>
            </a:pPr>
            <a:r>
              <a:rPr lang="en-US" sz="1080" b="1" dirty="0">
                <a:solidFill>
                  <a:srgbClr val="FFFFFF"/>
                </a:solidFill>
                <a:latin typeface="Manrope" pitchFamily="34" charset="0"/>
                <a:ea typeface="Manrope" pitchFamily="34" charset="-122"/>
                <a:cs typeface="Manrope" pitchFamily="34" charset="-120"/>
              </a:rPr>
              <a:t>Main slide</a:t>
            </a:r>
            <a:endParaRPr lang="en-US" sz="1080" dirty="0"/>
          </a:p>
        </p:txBody>
      </p:sp>
      <p:sp>
        <p:nvSpPr>
          <p:cNvPr id="12" name="Text 8"/>
          <p:cNvSpPr txBox="1"/>
          <p:nvPr/>
        </p:nvSpPr>
        <p:spPr>
          <a:xfrm>
            <a:off x="3977640" y="1581912"/>
            <a:ext cx="3291840" cy="210312"/>
          </a:xfrm>
          <a:prstGeom prst="rect">
            <a:avLst/>
          </a:prstGeom>
          <a:noFill/>
          <a:ln/>
        </p:spPr>
        <p:txBody>
          <a:bodyPr wrap="square" lIns="0" tIns="0" rIns="0" bIns="0" rtlCol="0" anchor="ctr">
            <a:normAutofit/>
          </a:bodyPr>
          <a:lstStyle/>
          <a:p>
            <a:pPr algn="l" indent="0" marL="0">
              <a:buNone/>
            </a:pPr>
            <a:r>
              <a:rPr lang="en-US" sz="1080" b="1" dirty="0">
                <a:solidFill>
                  <a:srgbClr val="FFFFFF"/>
                </a:solidFill>
                <a:latin typeface="Manrope" pitchFamily="34" charset="0"/>
                <a:ea typeface="Manrope" pitchFamily="34" charset="-122"/>
                <a:cs typeface="Manrope" pitchFamily="34" charset="-120"/>
              </a:rPr>
              <a:t>Evidence</a:t>
            </a:r>
            <a:endParaRPr lang="en-US" sz="1080" dirty="0"/>
          </a:p>
        </p:txBody>
      </p:sp>
      <p:sp>
        <p:nvSpPr>
          <p:cNvPr id="13" name="Shape 9"/>
          <p:cNvSpPr/>
          <p:nvPr/>
        </p:nvSpPr>
        <p:spPr>
          <a:xfrm>
            <a:off x="8001000" y="1463040"/>
            <a:ext cx="3465576" cy="4864608"/>
          </a:xfrm>
          <a:prstGeom prst="roundRect">
            <a:avLst>
              <a:gd name="adj" fmla="val 5805"/>
            </a:avLst>
          </a:prstGeom>
          <a:solidFill>
            <a:srgbClr val="173F35"/>
          </a:solidFill>
          <a:ln w="12700">
            <a:solidFill>
              <a:srgbClr val="FFFFFF">
                <a:alpha val="0"/>
              </a:srgbClr>
            </a:solidFill>
            <a:prstDash val="solid"/>
          </a:ln>
        </p:spPr>
      </p:sp>
      <p:sp>
        <p:nvSpPr>
          <p:cNvPr id="14" name="Text 10"/>
          <p:cNvSpPr txBox="1"/>
          <p:nvPr/>
        </p:nvSpPr>
        <p:spPr>
          <a:xfrm>
            <a:off x="8321040" y="1810512"/>
            <a:ext cx="2834640" cy="347472"/>
          </a:xfrm>
          <a:prstGeom prst="rect">
            <a:avLst/>
          </a:prstGeom>
          <a:noFill/>
          <a:ln/>
        </p:spPr>
        <p:txBody>
          <a:bodyPr wrap="square" lIns="0" tIns="0" rIns="0" bIns="0" rtlCol="0" anchor="ctr">
            <a:normAutofit/>
          </a:bodyPr>
          <a:lstStyle/>
          <a:p>
            <a:pPr algn="l" indent="0" marL="0">
              <a:buNone/>
            </a:pPr>
            <a:r>
              <a:rPr lang="en-US" sz="2000" b="1" dirty="0">
                <a:solidFill>
                  <a:srgbClr val="BAC879"/>
                </a:solidFill>
                <a:latin typeface="Manrope" pitchFamily="34" charset="0"/>
                <a:ea typeface="Manrope" pitchFamily="34" charset="-122"/>
                <a:cs typeface="Manrope" pitchFamily="34" charset="-120"/>
              </a:rPr>
              <a:t>Primary sources</a:t>
            </a:r>
            <a:endParaRPr lang="en-US" sz="2000" dirty="0"/>
          </a:p>
        </p:txBody>
      </p:sp>
      <p:sp>
        <p:nvSpPr>
          <p:cNvPr id="15" name="Text 11"/>
          <p:cNvSpPr txBox="1"/>
          <p:nvPr/>
        </p:nvSpPr>
        <p:spPr>
          <a:xfrm>
            <a:off x="8321040" y="2468880"/>
            <a:ext cx="2743200" cy="2258568"/>
          </a:xfrm>
          <a:prstGeom prst="rect">
            <a:avLst/>
          </a:prstGeom>
          <a:noFill/>
          <a:ln/>
        </p:spPr>
        <p:txBody>
          <a:bodyPr wrap="square" lIns="0" tIns="0" rIns="0" bIns="0" rtlCol="0" anchor="t">
            <a:normAutofit/>
          </a:bodyPr>
          <a:lstStyle/>
          <a:p>
            <a:pPr algn="l" indent="0" marL="0">
              <a:buNone/>
            </a:pPr>
            <a:r>
              <a:rPr lang="en-US" sz="1500" b="1" dirty="0">
                <a:solidFill>
                  <a:srgbClr val="FFFFFF"/>
                </a:solidFill>
                <a:latin typeface="Manrope" pitchFamily="34" charset="0"/>
                <a:ea typeface="Manrope" pitchFamily="34" charset="-122"/>
                <a:cs typeface="Manrope" pitchFamily="34" charset="-120"/>
              </a:rPr>
              <a:t>IMPACT X Judging Criteria.pdf</a:t>
            </a:r>
            <a:endParaRPr lang="en-US" sz="1500" dirty="0"/>
          </a:p>
          <a:p>
            <a:pPr algn="l" indent="0" marL="0">
              <a:buNone/>
            </a:pPr>
            <a:endParaRPr lang="en-US" sz="1500" dirty="0"/>
          </a:p>
          <a:p>
            <a:pPr algn="l" indent="0" marL="0">
              <a:buNone/>
            </a:pPr>
            <a:r>
              <a:rPr lang="en-US" sz="1500" b="1" dirty="0">
                <a:solidFill>
                  <a:srgbClr val="FFFFFF"/>
                </a:solidFill>
                <a:latin typeface="Manrope" pitchFamily="34" charset="0"/>
                <a:ea typeface="Manrope" pitchFamily="34" charset="-122"/>
                <a:cs typeface="Manrope" pitchFamily="34" charset="-120"/>
              </a:rPr>
              <a:t>resuto-impact-x-judging-pack-ar.pdf</a:t>
            </a:r>
            <a:endParaRPr lang="en-US" sz="1500" dirty="0"/>
          </a:p>
          <a:p>
            <a:pPr algn="l" indent="0" marL="0">
              <a:buNone/>
            </a:pPr>
            <a:endParaRPr lang="en-US" sz="1500" dirty="0"/>
          </a:p>
          <a:p>
            <a:pPr algn="l" indent="0" marL="0">
              <a:buNone/>
            </a:pPr>
            <a:r>
              <a:rPr lang="en-US" sz="1500" b="1" dirty="0">
                <a:solidFill>
                  <a:srgbClr val="FFFFFF"/>
                </a:solidFill>
                <a:latin typeface="Manrope" pitchFamily="34" charset="0"/>
                <a:ea typeface="Manrope" pitchFamily="34" charset="-122"/>
                <a:cs typeface="Manrope" pitchFamily="34" charset="-120"/>
              </a:rPr>
              <a:t>Current repository files</a:t>
            </a:r>
            <a:endParaRPr lang="en-US" sz="1500" dirty="0"/>
          </a:p>
          <a:p>
            <a:pPr algn="l" indent="0" marL="0">
              <a:buNone/>
            </a:pPr>
            <a:endParaRPr lang="en-US" sz="1500" dirty="0"/>
          </a:p>
          <a:p>
            <a:pPr algn="l" indent="0" marL="0">
              <a:buNone/>
            </a:pPr>
            <a:r>
              <a:rPr lang="en-US" sz="1500" b="1" dirty="0">
                <a:solidFill>
                  <a:srgbClr val="FFFFFF"/>
                </a:solidFill>
                <a:latin typeface="Manrope" pitchFamily="34" charset="0"/>
                <a:ea typeface="Manrope" pitchFamily="34" charset="-122"/>
                <a:cs typeface="Manrope" pitchFamily="34" charset="-120"/>
              </a:rPr>
              <a:t>Fresh browser captures</a:t>
            </a:r>
            <a:endParaRPr lang="en-US" sz="1500" dirty="0"/>
          </a:p>
          <a:p>
            <a:pPr algn="l" indent="0" marL="0">
              <a:buNone/>
            </a:pPr>
            <a:endParaRPr lang="en-US" sz="1500" dirty="0"/>
          </a:p>
          <a:p>
            <a:pPr algn="l" indent="0" marL="0">
              <a:buNone/>
            </a:pPr>
            <a:r>
              <a:rPr lang="en-US" sz="1500" b="1" dirty="0">
                <a:solidFill>
                  <a:srgbClr val="FFFFFF"/>
                </a:solidFill>
                <a:latin typeface="Manrope" pitchFamily="34" charset="0"/>
                <a:ea typeface="Manrope" pitchFamily="34" charset="-122"/>
                <a:cs typeface="Manrope" pitchFamily="34" charset="-120"/>
              </a:rPr>
              <a:t>2026-09-10 build and test results</a:t>
            </a:r>
            <a:endParaRPr lang="en-US" sz="1500" dirty="0"/>
          </a:p>
        </p:txBody>
      </p:sp>
      <p:sp>
        <p:nvSpPr>
          <p:cNvPr id="16" name="Text 12"/>
          <p:cNvSpPr txBox="1"/>
          <p:nvPr/>
        </p:nvSpPr>
        <p:spPr>
          <a:xfrm>
            <a:off x="8321040" y="5596128"/>
            <a:ext cx="2788920" cy="310896"/>
          </a:xfrm>
          <a:prstGeom prst="rect">
            <a:avLst/>
          </a:prstGeom>
          <a:noFill/>
          <a:ln/>
        </p:spPr>
        <p:txBody>
          <a:bodyPr wrap="square" lIns="0" tIns="0" rIns="0" bIns="0" rtlCol="0" anchor="ctr">
            <a:normAutofit/>
          </a:bodyPr>
          <a:lstStyle/>
          <a:p>
            <a:pPr algn="l" indent="0" marL="0">
              <a:buNone/>
            </a:pPr>
            <a:r>
              <a:rPr lang="en-US" sz="1150" dirty="0">
                <a:solidFill>
                  <a:srgbClr val="D8E4D9"/>
                </a:solidFill>
                <a:latin typeface="Manrope" pitchFamily="34" charset="0"/>
                <a:ea typeface="Manrope" pitchFamily="34" charset="-122"/>
                <a:cs typeface="Manrope" pitchFamily="34" charset="-120"/>
              </a:rPr>
              <a:t>Detailed mapping: Evidence_Coverage.md</a:t>
            </a:r>
            <a:endParaRPr lang="en-US" sz="1150" dirty="0"/>
          </a:p>
        </p:txBody>
      </p:sp>
      <p:sp>
        <p:nvSpPr>
          <p:cNvPr id="17" name="Text 13"/>
          <p:cNvSpPr txBox="1"/>
          <p:nvPr/>
        </p:nvSpPr>
        <p:spPr>
          <a:xfrm>
            <a:off x="658368" y="6565392"/>
            <a:ext cx="5303520" cy="118872"/>
          </a:xfrm>
          <a:prstGeom prst="rect">
            <a:avLst/>
          </a:prstGeom>
          <a:noFill/>
          <a:ln/>
        </p:spPr>
        <p:txBody>
          <a:bodyPr wrap="square" lIns="0" tIns="0" rIns="0" bIns="0" rtlCol="0" anchor="t">
            <a:normAutofit/>
          </a:bodyPr>
          <a:lstStyle/>
          <a:p>
            <a:pPr algn="l" indent="0" marL="0">
              <a:buNone/>
            </a:pPr>
            <a:r>
              <a:rPr lang="en-US" sz="850" dirty="0">
                <a:solidFill>
                  <a:srgbClr val="66736A"/>
                </a:solidFill>
                <a:latin typeface="Manrope" pitchFamily="34" charset="0"/>
                <a:ea typeface="Manrope" pitchFamily="34" charset="-122"/>
                <a:cs typeface="Manrope" pitchFamily="34" charset="-120"/>
              </a:rPr>
              <a:t>Main presentation: slides 1–12 · Appendix: slides 13–22</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nrop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nrop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Resuto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Resuto IMPACT X Pitch</dc:title>
  <dc:subject>IMPACT X hackathon pitch</dc:subject>
  <dc:creator>Resuto</dc:creator>
  <cp:lastModifiedBy>Resuto</cp:lastModifiedBy>
  <cp:revision>1</cp:revision>
  <dcterms:created xsi:type="dcterms:W3CDTF">2026-09-09T22:49:21Z</dcterms:created>
  <dcterms:modified xsi:type="dcterms:W3CDTF">2026-09-09T22:49:21Z</dcterms:modified>
</cp:coreProperties>
</file>