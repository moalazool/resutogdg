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abe77b204a47dc" /><Relationship Type="http://schemas.openxmlformats.org/officeDocument/2006/relationships/extended-properties" Target="/docProps/app.xml" Id="Rb20afbd6aad94f01" /><Relationship Type="http://schemas.openxmlformats.org/officeDocument/2006/relationships/officeDocument" Target="/ppt/presentation.xml" Id="R84721df91e8a438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aff471d3d5243f9"/>
  </p:sldMasterIdLst>
  <p:notesMasterIdLst>
    <p:notesMasterId xmlns:r="http://schemas.openxmlformats.org/officeDocument/2006/relationships" r:id="R7dd5cc8ce09a4201"/>
  </p:notesMasterIdLst>
  <p:sldIdLst>
    <p:sldId xmlns:r="http://schemas.openxmlformats.org/officeDocument/2006/relationships" id="256" r:id="Rce32aa87cfb44721"/>
    <p:sldId xmlns:r="http://schemas.openxmlformats.org/officeDocument/2006/relationships" id="257" r:id="Rb10fff2db42443d5"/>
    <p:sldId xmlns:r="http://schemas.openxmlformats.org/officeDocument/2006/relationships" id="258" r:id="R2ffe892e22f64227"/>
    <p:sldId xmlns:r="http://schemas.openxmlformats.org/officeDocument/2006/relationships" id="259" r:id="Re0768ee108e9445b"/>
    <p:sldId xmlns:r="http://schemas.openxmlformats.org/officeDocument/2006/relationships" id="260" r:id="R654ee6b08c014b78"/>
    <p:sldId xmlns:r="http://schemas.openxmlformats.org/officeDocument/2006/relationships" id="261" r:id="R30ac90cfb1cd4de7"/>
    <p:sldId xmlns:r="http://schemas.openxmlformats.org/officeDocument/2006/relationships" id="262" r:id="R6ccbe0132c2043ce"/>
    <p:sldId xmlns:r="http://schemas.openxmlformats.org/officeDocument/2006/relationships" id="263" r:id="R757f2975193640da"/>
    <p:sldId xmlns:r="http://schemas.openxmlformats.org/officeDocument/2006/relationships" id="264" r:id="R8b797dbe1833460b"/>
    <p:sldId xmlns:r="http://schemas.openxmlformats.org/officeDocument/2006/relationships" id="265" r:id="Rce04381d8b924dbd"/>
    <p:sldId xmlns:r="http://schemas.openxmlformats.org/officeDocument/2006/relationships" id="266" r:id="Rb9ed09ea939b4d3d"/>
    <p:sldId xmlns:r="http://schemas.openxmlformats.org/officeDocument/2006/relationships" id="267" r:id="Rb9f814995d974b71"/>
    <p:sldId xmlns:r="http://schemas.openxmlformats.org/officeDocument/2006/relationships" id="268" r:id="R0644af76e34c4ca1"/>
    <p:sldId xmlns:r="http://schemas.openxmlformats.org/officeDocument/2006/relationships" id="269" r:id="Rb132790173d94e37"/>
    <p:sldId xmlns:r="http://schemas.openxmlformats.org/officeDocument/2006/relationships" id="270" r:id="R09addcad7b5149b2"/>
    <p:sldId xmlns:r="http://schemas.openxmlformats.org/officeDocument/2006/relationships" id="271" r:id="Recb237c31ddb4b4f"/>
    <p:sldId xmlns:r="http://schemas.openxmlformats.org/officeDocument/2006/relationships" id="272" r:id="R2b8e69b48e174837"/>
    <p:sldId xmlns:r="http://schemas.openxmlformats.org/officeDocument/2006/relationships" id="273" r:id="R1f606e7ff3e34717"/>
    <p:sldId xmlns:r="http://schemas.openxmlformats.org/officeDocument/2006/relationships" id="274" r:id="R858cfc683ac34930"/>
    <p:sldId xmlns:r="http://schemas.openxmlformats.org/officeDocument/2006/relationships" id="275" r:id="R8b93ec346e15404e"/>
    <p:sldId xmlns:r="http://schemas.openxmlformats.org/officeDocument/2006/relationships" id="276" r:id="R27e22d45cf174db9"/>
    <p:sldId xmlns:r="http://schemas.openxmlformats.org/officeDocument/2006/relationships" id="277" r:id="Rc07a5f79936a4a4c"/>
  </p:sldIdLst>
  <p:sldSz cx="12192000" cy="6858000"/>
  <p:notesSz cx="6858000" cy="9144000"/>
  <p:embeddedFontLst>
    <p:embeddedFont>
      <p:font typeface="Inter"/>
      <p:regular xmlns:r="http://schemas.openxmlformats.org/officeDocument/2006/relationships" r:id="R1ae770816ee74e87"/>
      <p:bold xmlns:r="http://schemas.openxmlformats.org/officeDocument/2006/relationships" r:id="Rcacfe866b9844784"/>
    </p:embeddedFont>
    <p:embeddedFont>
      <p:font typeface="Inter Medium"/>
      <p:regular xmlns:r="http://schemas.openxmlformats.org/officeDocument/2006/relationships" r:id="Re2614de5695e4b41"/>
    </p:embeddedFont>
    <p:embeddedFont>
      <p:font typeface="Inter SemiBold"/>
      <p:regular xmlns:r="http://schemas.openxmlformats.org/officeDocument/2006/relationships" r:id="Rdc6060618d1242d2"/>
      <p:bold xmlns:r="http://schemas.openxmlformats.org/officeDocument/2006/relationships" r:id="Rdb517f619c204416"/>
    </p:embeddedFont>
    <p:embeddedFont>
      <p:font typeface="OpenAI Sans"/>
      <p:regular xmlns:r="http://schemas.openxmlformats.org/officeDocument/2006/relationships" r:id="Rd357ae9cc488415b"/>
      <p:bold xmlns:r="http://schemas.openxmlformats.org/officeDocument/2006/relationships" r:id="R416c90b87ea64032"/>
      <p:italic xmlns:r="http://schemas.openxmlformats.org/officeDocument/2006/relationships" r:id="R904a34595fef4a25"/>
      <p:boldItalic xmlns:r="http://schemas.openxmlformats.org/officeDocument/2006/relationships" r:id="R0bdb2bbdf3dc4a6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77c422d2ca94c6c" /><Relationship Type="http://schemas.openxmlformats.org/officeDocument/2006/relationships/slideMaster" Target="/ppt/slideMasters/slideMaster1.xml" Id="R7aff471d3d5243f9" /><Relationship Type="http://schemas.openxmlformats.org/officeDocument/2006/relationships/notesMaster" Target="/ppt/notesMasters/notesMaster1.xml" Id="R7dd5cc8ce09a4201" /><Relationship Type="http://schemas.openxmlformats.org/officeDocument/2006/relationships/presProps" Target="/ppt/presProps.xml" Id="Re6f3e51b76434063" /><Relationship Type="http://schemas.openxmlformats.org/officeDocument/2006/relationships/viewProps" Target="/ppt/viewProps.xml" Id="Rc4e1a684624a4664" /><Relationship Type="http://schemas.openxmlformats.org/officeDocument/2006/relationships/tableStyles" Target="/ppt/tableStyles.xml" Id="Rc9f09ff7a3bf432d" /><Relationship Type="http://schemas.openxmlformats.org/officeDocument/2006/relationships/font" Target="/ppt/fonts/font.dat" Id="R1ae770816ee74e87" /><Relationship Type="http://schemas.openxmlformats.org/officeDocument/2006/relationships/font" Target="/ppt/fonts/font2.dat" Id="Rcacfe866b9844784" /><Relationship Type="http://schemas.openxmlformats.org/officeDocument/2006/relationships/font" Target="/ppt/fonts/font3.dat" Id="Re2614de5695e4b41" /><Relationship Type="http://schemas.openxmlformats.org/officeDocument/2006/relationships/font" Target="/ppt/fonts/font4.dat" Id="Rdc6060618d1242d2" /><Relationship Type="http://schemas.openxmlformats.org/officeDocument/2006/relationships/font" Target="/ppt/fonts/font5.dat" Id="Rdb517f619c204416" /><Relationship Type="http://schemas.openxmlformats.org/officeDocument/2006/relationships/font" Target="/ppt/fonts/font6.dat" Id="Rd357ae9cc488415b" /><Relationship Type="http://schemas.openxmlformats.org/officeDocument/2006/relationships/font" Target="/ppt/fonts/font7.dat" Id="R416c90b87ea64032" /><Relationship Type="http://schemas.openxmlformats.org/officeDocument/2006/relationships/font" Target="/ppt/fonts/font8.dat" Id="R904a34595fef4a25" /><Relationship Type="http://schemas.openxmlformats.org/officeDocument/2006/relationships/font" Target="/ppt/fonts/font9.dat" Id="R0bdb2bbdf3dc4a6f" /><Relationship Type="http://schemas.openxmlformats.org/officeDocument/2006/relationships/slide" Target="/ppt/slides/slide1.xml" Id="Rce32aa87cfb44721" /><Relationship Type="http://schemas.openxmlformats.org/officeDocument/2006/relationships/slide" Target="/ppt/slides/slide2.xml" Id="Rb10fff2db42443d5" /><Relationship Type="http://schemas.openxmlformats.org/officeDocument/2006/relationships/slide" Target="/ppt/slides/slide3.xml" Id="R2ffe892e22f64227" /><Relationship Type="http://schemas.openxmlformats.org/officeDocument/2006/relationships/slide" Target="/ppt/slides/slide4.xml" Id="Re0768ee108e9445b" /><Relationship Type="http://schemas.openxmlformats.org/officeDocument/2006/relationships/slide" Target="/ppt/slides/slide5.xml" Id="R654ee6b08c014b78" /><Relationship Type="http://schemas.openxmlformats.org/officeDocument/2006/relationships/slide" Target="/ppt/slides/slide6.xml" Id="R30ac90cfb1cd4de7" /><Relationship Type="http://schemas.openxmlformats.org/officeDocument/2006/relationships/slide" Target="/ppt/slides/slide7.xml" Id="R6ccbe0132c2043ce" /><Relationship Type="http://schemas.openxmlformats.org/officeDocument/2006/relationships/slide" Target="/ppt/slides/slide8.xml" Id="R757f2975193640da" /><Relationship Type="http://schemas.openxmlformats.org/officeDocument/2006/relationships/slide" Target="/ppt/slides/slide9.xml" Id="R8b797dbe1833460b" /><Relationship Type="http://schemas.openxmlformats.org/officeDocument/2006/relationships/slide" Target="/ppt/slides/slide10.xml" Id="Rce04381d8b924dbd" /><Relationship Type="http://schemas.openxmlformats.org/officeDocument/2006/relationships/slide" Target="/ppt/slides/slide11.xml" Id="Rb9ed09ea939b4d3d" /><Relationship Type="http://schemas.openxmlformats.org/officeDocument/2006/relationships/slide" Target="/ppt/slides/slide12.xml" Id="Rb9f814995d974b71" /><Relationship Type="http://schemas.openxmlformats.org/officeDocument/2006/relationships/slide" Target="/ppt/slides/slide13.xml" Id="R0644af76e34c4ca1" /><Relationship Type="http://schemas.openxmlformats.org/officeDocument/2006/relationships/slide" Target="/ppt/slides/slide14.xml" Id="Rb132790173d94e37" /><Relationship Type="http://schemas.openxmlformats.org/officeDocument/2006/relationships/slide" Target="/ppt/slides/slide15.xml" Id="R09addcad7b5149b2" /><Relationship Type="http://schemas.openxmlformats.org/officeDocument/2006/relationships/slide" Target="/ppt/slides/slide16.xml" Id="Recb237c31ddb4b4f" /><Relationship Type="http://schemas.openxmlformats.org/officeDocument/2006/relationships/slide" Target="/ppt/slides/slide17.xml" Id="R2b8e69b48e174837" /><Relationship Type="http://schemas.openxmlformats.org/officeDocument/2006/relationships/slide" Target="/ppt/slides/slide18.xml" Id="R1f606e7ff3e34717" /><Relationship Type="http://schemas.openxmlformats.org/officeDocument/2006/relationships/slide" Target="/ppt/slides/slide19.xml" Id="R858cfc683ac34930" /><Relationship Type="http://schemas.openxmlformats.org/officeDocument/2006/relationships/slide" Target="/ppt/slides/slide20.xml" Id="R8b93ec346e15404e" /><Relationship Type="http://schemas.openxmlformats.org/officeDocument/2006/relationships/slide" Target="/ppt/slides/slide21.xml" Id="R27e22d45cf174db9" /><Relationship Type="http://schemas.openxmlformats.org/officeDocument/2006/relationships/slide" Target="/ppt/slides/slide22.xml" Id="Rc07a5f79936a4a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83e5acee6240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fa7402e0164f07" /><Relationship Type="http://schemas.openxmlformats.org/officeDocument/2006/relationships/notesMaster" Target="/ppt/notesMasters/notesMaster1.xml" Id="R00feb1e3a05d49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07b3a62fe64fae" /><Relationship Type="http://schemas.openxmlformats.org/officeDocument/2006/relationships/notesMaster" Target="/ppt/notesMasters/notesMaster1.xml" Id="R460bf1edb4eb46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a1c2ba23b345b8" /><Relationship Type="http://schemas.openxmlformats.org/officeDocument/2006/relationships/notesMaster" Target="/ppt/notesMasters/notesMaster1.xml" Id="R9efd97750bb14d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ba01f8c3c34d16" /><Relationship Type="http://schemas.openxmlformats.org/officeDocument/2006/relationships/notesMaster" Target="/ppt/notesMasters/notesMaster1.xml" Id="R21419b776d034a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856de6d1c942ee" /><Relationship Type="http://schemas.openxmlformats.org/officeDocument/2006/relationships/notesMaster" Target="/ppt/notesMasters/notesMaster1.xml" Id="Raef272eb81c742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10cfc3a545415f" /><Relationship Type="http://schemas.openxmlformats.org/officeDocument/2006/relationships/notesMaster" Target="/ppt/notesMasters/notesMaster1.xml" Id="R554b66f5136d47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7f8be6c88e4fc7" /><Relationship Type="http://schemas.openxmlformats.org/officeDocument/2006/relationships/notesMaster" Target="/ppt/notesMasters/notesMaster1.xml" Id="Re5580f25b7f346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4ce434222f4942" /><Relationship Type="http://schemas.openxmlformats.org/officeDocument/2006/relationships/notesMaster" Target="/ppt/notesMasters/notesMaster1.xml" Id="R64d620b519a949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27c1de09de4fcd" /><Relationship Type="http://schemas.openxmlformats.org/officeDocument/2006/relationships/notesMaster" Target="/ppt/notesMasters/notesMaster1.xml" Id="Raa3887ab078949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542d3437fe4893" /><Relationship Type="http://schemas.openxmlformats.org/officeDocument/2006/relationships/notesMaster" Target="/ppt/notesMasters/notesMaster1.xml" Id="Rb364d477ee654c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4e461519f94f96" /><Relationship Type="http://schemas.openxmlformats.org/officeDocument/2006/relationships/notesMaster" Target="/ppt/notesMasters/notesMaster1.xml" Id="R867df077560e49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950220a1ac468d" /><Relationship Type="http://schemas.openxmlformats.org/officeDocument/2006/relationships/notesMaster" Target="/ppt/notesMasters/notesMaster1.xml" Id="Rbc6dc92286bb48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3718a215fe2436a" /><Relationship Type="http://schemas.openxmlformats.org/officeDocument/2006/relationships/notesMaster" Target="/ppt/notesMasters/notesMaster1.xml" Id="Rf6265a56064344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0ae60032964364" /><Relationship Type="http://schemas.openxmlformats.org/officeDocument/2006/relationships/notesMaster" Target="/ppt/notesMasters/notesMaster1.xml" Id="R1eba87d9fe584d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6ff02b8d224bb0" /><Relationship Type="http://schemas.openxmlformats.org/officeDocument/2006/relationships/notesMaster" Target="/ppt/notesMasters/notesMaster1.xml" Id="R7b38dee2835f4f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1e2aa5d1cd475c" /><Relationship Type="http://schemas.openxmlformats.org/officeDocument/2006/relationships/notesMaster" Target="/ppt/notesMasters/notesMaster1.xml" Id="R3be18b8ed4274f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5c08954d30745fb" /><Relationship Type="http://schemas.openxmlformats.org/officeDocument/2006/relationships/notesMaster" Target="/ppt/notesMasters/notesMaster1.xml" Id="R77b4d0c08b8642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4b80a1b8eb4821" /><Relationship Type="http://schemas.openxmlformats.org/officeDocument/2006/relationships/notesMaster" Target="/ppt/notesMasters/notesMaster1.xml" Id="R75b5f027718444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60a748738c243b0" /><Relationship Type="http://schemas.openxmlformats.org/officeDocument/2006/relationships/notesMaster" Target="/ppt/notesMasters/notesMaster1.xml" Id="R0d8188ef23a247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4a4faeb34444ae" /><Relationship Type="http://schemas.openxmlformats.org/officeDocument/2006/relationships/notesMaster" Target="/ppt/notesMasters/notesMaster1.xml" Id="R88af77ecc26b4f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260a7b618642b3" /><Relationship Type="http://schemas.openxmlformats.org/officeDocument/2006/relationships/notesMaster" Target="/ppt/notesMasters/notesMaster1.xml" Id="R4829f120050f4c9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760350d8e545e8" /><Relationship Type="http://schemas.openxmlformats.org/officeDocument/2006/relationships/notesMaster" Target="/ppt/notesMasters/notesMaster1.xml" Id="Ra6cbf0a4092f48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ريزوتو يربط رحلة المطعم من أول حجز حتى إغلاق الزيارة. أمامكم منتج يعمل اليوم، وسنفصل بوضوح بين ما أثبتناه في الـMVP وما يحتاج إلى Pilot قبل البيع التجاري.</a:t>
            </a:r>
            <a:endParaRPr/>
          </a:p>
          <a:p xmlns:a="http://schemas.openxmlformats.org/drawingml/2006/main">
            <a:r>
              <a:t/>
            </a:r>
            <a:endParaRPr/>
          </a:p>
          <a:p xmlns:a="http://schemas.openxmlformats.org/drawingml/2006/main">
            <a:r>
              <a:t>المدة: 15 ثانية</a:t>
            </a:r>
            <a:endParaRPr/>
          </a:p>
          <a:p xmlns:a="http://schemas.openxmlformats.org/drawingml/2006/main">
            <a:r>
              <a:t/>
            </a:r>
            <a:endParaRPr/>
          </a:p>
          <a:p xmlns:a="http://schemas.openxmlformats.org/drawingml/2006/main">
            <a:r>
              <a:t>الانتقال: نبدأ بنقطة الانقطاع داخل الخدمة.</a:t>
            </a:r>
            <a:endParaRPr/>
          </a:p>
          <a:p xmlns:a="http://schemas.openxmlformats.org/drawingml/2006/main">
            <a:r>
              <a:t/>
            </a:r>
            <a:endParaRPr/>
          </a:p>
          <a:p xmlns:a="http://schemas.openxmlformats.org/drawingml/2006/main">
            <a:r>
              <a:t>العرض: ابدأ من العرض فقط.</a:t>
            </a:r>
            <a:endParaRPr/>
          </a:p>
          <a:p xmlns:a="http://schemas.openxmlformats.org/drawingml/2006/main">
            <a:r>
              <a:t/>
            </a:r>
            <a:endParaRPr/>
          </a:p>
          <a:p xmlns:a="http://schemas.openxmlformats.org/drawingml/2006/main">
            <a:r>
              <a:t>الخطة البديلة: هذه الشريحة لا تعتمد على الشبكة.</a:t>
            </a:r>
            <a:endParaRPr/>
          </a:p>
          <a:p xmlns:a="http://schemas.openxmlformats.org/drawingml/2006/main">
            <a:r>
              <a:t/>
            </a:r>
            <a:endParaRPr/>
          </a:p>
          <a:p xmlns:a="http://schemas.openxmlformats.org/drawingml/2006/main">
            <a:r>
              <a:t>[Sources]</a:t>
            </a:r>
            <a:endParaRPr/>
          </a:p>
          <a:p xmlns:a="http://schemas.openxmlformats.org/drawingml/2006/main">
            <a:r>
              <a:t/>
            </a:r>
            <a:endParaRPr/>
          </a:p>
          <a:p xmlns:a="http://schemas.openxmlformats.org/drawingml/2006/main">
            <a:r>
              <a:t>Repository landing page</a:t>
            </a:r>
            <a:endParaRPr/>
          </a:p>
          <a:p xmlns:a="http://schemas.openxmlformats.org/drawingml/2006/main">
            <a:r>
              <a:t/>
            </a:r>
            <a:endParaRPr/>
          </a:p>
          <a:p xmlns:a="http://schemas.openxmlformats.org/drawingml/2006/main">
            <a:r>
              <a:t>IMPACT X Judging Criteria.pdf, pp. 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المشكلة تظهر عند انتقال المسؤولية بين الحجز والطاولة والطلب والمطبخ والدفع. كل انتقال يضيف إعادة إدخال أو تأخيرًا أو خطأً يصعب قياسه. لا ندّعي مقابلات لم تحدث، لذلك يبدأ الـPilot بقياس الواقع.</a:t>
            </a:r>
          </a:p>
          <a:p xmlns:a="http://schemas.openxmlformats.org/drawingml/2006/main">
            <a:r>
              <a:t/>
            </a:r>
          </a:p>
          <a:p xmlns:a="http://schemas.openxmlformats.org/drawingml/2006/main">
            <a:r>
              <a:t>المدة: 25 ثانية</a:t>
            </a:r>
          </a:p>
          <a:p xmlns:a="http://schemas.openxmlformats.org/drawingml/2006/main">
            <a:r>
              <a:t/>
            </a:r>
          </a:p>
          <a:p xmlns:a="http://schemas.openxmlformats.org/drawingml/2006/main">
            <a:r>
              <a:t>الانتقال: الحل يبدأ بملف تشغيلي واحد.</a:t>
            </a:r>
          </a:p>
          <a:p xmlns:a="http://schemas.openxmlformats.org/drawingml/2006/main">
            <a:r>
              <a:t/>
            </a:r>
          </a:p>
          <a:p xmlns:a="http://schemas.openxmlformats.org/drawingml/2006/main">
            <a:r>
              <a:t>العرض: أشر إلى الصفوف بسرعة.</a:t>
            </a:r>
          </a:p>
          <a:p xmlns:a="http://schemas.openxmlformats.org/drawingml/2006/main">
            <a:r>
              <a:t/>
            </a:r>
          </a:p>
          <a:p xmlns:a="http://schemas.openxmlformats.org/drawingml/2006/main">
            <a:r>
              <a:t>الخطة البديلة: اقرأ صف النتيجة فقط إذا ضاق الوقت.</a:t>
            </a:r>
          </a:p>
          <a:p xmlns:a="http://schemas.openxmlformats.org/drawingml/2006/main">
            <a:r>
              <a:t/>
            </a:r>
          </a:p>
          <a:p xmlns:a="http://schemas.openxmlformats.org/drawingml/2006/main">
            <a:r>
              <a:t>[Sources]</a:t>
            </a:r>
          </a:p>
          <a:p xmlns:a="http://schemas.openxmlformats.org/drawingml/2006/main">
            <a:r>
              <a:t/>
            </a:r>
          </a:p>
          <a:p xmlns:a="http://schemas.openxmlformats.org/drawingml/2006/main">
            <a:r>
              <a:t>resuto-impact-x-judging-pack-ar.pdf, pp. 4 and 9</a:t>
            </a:r>
          </a:p>
          <a:p xmlns:a="http://schemas.openxmlformats.org/drawingml/2006/main">
            <a:r>
              <a:t/>
            </a:r>
          </a:p>
          <a:p xmlns:a="http://schemas.openxmlformats.org/drawingml/2006/main">
            <a:r>
              <a:t>Repository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العميل الأول هو مطعم مستقل أو مجموعة صغيرة في مصر. القيمة ليست عدد الشاشات، بل أن كل شاشة تقرأ من نفس الحالة التشغيلية. الصورة من النسخة الحالية وليست Mockup.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المدة: 20 ثانية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الانتقال: الآن نتبع الحالة نفسها خلال الخدمة.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العرض: أشر إلى مساحة التشغيل في الصورة.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الخطة البديلة: الصورة محفوظة داخل العرض.</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local landing capture, 2026-09-10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نفس الحالة التشغيلية تتبع الضيف من اختيار الطاولة حتى إغلاق الزيارة. السعر والمخزون يتحققان على الخادم. انتقالات المطبخ محكومة، والدفع لا يغيّر حالة الطعام تلقائيًا.</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المدة: 20 ثانية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الانتقال: نثبت ذلك من أربع واجهات حقيقية.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العرض: اتبع الأرقام الثلاثة.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الخطة البديلة: المسار كامل على الشريحة.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server.js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platform-domain.js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floor-domain.js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هذه أربع لقطات من نفس المنتج. الضيف اختار طاولة حقيقية، فتح القائمة، ثم أنشأنا طلبًا تجريبيًا رقم 001 بقيمة 135 جنيهًا. ظهر الطلب في شاشة المطبخ وانتقل حتى Ready. الدفع بقي Test mode ولم ننفذ شحنة حقيقية.</a:t>
            </a:r>
          </a:p>
          <a:p xmlns:a="http://schemas.openxmlformats.org/drawingml/2006/main">
            <a:r>
              <a:t/>
            </a:r>
          </a:p>
          <a:p xmlns:a="http://schemas.openxmlformats.org/drawingml/2006/main">
            <a:r>
              <a:t>المدة: 45 ثانية</a:t>
            </a:r>
          </a:p>
          <a:p xmlns:a="http://schemas.openxmlformats.org/drawingml/2006/main">
            <a:r>
              <a:t/>
            </a:r>
          </a:p>
          <a:p xmlns:a="http://schemas.openxmlformats.org/drawingml/2006/main">
            <a:r>
              <a:t>الانتقال: Gemini يعمل داخل هذه الرحلة.</a:t>
            </a:r>
          </a:p>
          <a:p xmlns:a="http://schemas.openxmlformats.org/drawingml/2006/main">
            <a:r>
              <a:t/>
            </a:r>
          </a:p>
          <a:p xmlns:a="http://schemas.openxmlformats.org/drawingml/2006/main">
            <a:r>
              <a:t>العرض: اعرض لقطة الطلب وشاشة Ready فقط.</a:t>
            </a:r>
          </a:p>
          <a:p xmlns:a="http://schemas.openxmlformats.org/drawingml/2006/main">
            <a:r>
              <a:t/>
            </a:r>
          </a:p>
          <a:p xmlns:a="http://schemas.openxmlformats.org/drawingml/2006/main">
            <a:r>
              <a:t>الخطة البديلة: كل اللقطات محفوظة داخل العرض.</a:t>
            </a:r>
          </a:p>
          <a:p xmlns:a="http://schemas.openxmlformats.org/drawingml/2006/main">
            <a:r>
              <a:t/>
            </a:r>
          </a:p>
          <a:p xmlns:a="http://schemas.openxmlformats.org/drawingml/2006/main">
            <a:r>
              <a:t>[Sources]</a:t>
            </a:r>
          </a:p>
          <a:p xmlns:a="http://schemas.openxmlformats.org/drawingml/2006/main">
            <a:r>
              <a:t/>
            </a:r>
          </a:p>
          <a:p xmlns:a="http://schemas.openxmlformats.org/drawingml/2006/main">
            <a:r>
              <a:t>Fresh browser captures dated 2026-09-10</a:t>
            </a:r>
          </a:p>
          <a:p xmlns:a="http://schemas.openxmlformats.org/drawingml/2006/main">
            <a:r>
              <a:t/>
            </a:r>
          </a:p>
          <a:p xmlns:a="http://schemas.openxmlformats.org/drawingml/2006/main">
            <a:r>
              <a:t>npm tests for transitions and payment isolation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Gemini يضيف قيمة في نقطتين. للضيف، يختار من القائمة الحالية ويلتزم بالميزانية والمخزون. وللمدير، يحول النص أو الصورة إلى Draft منظم. اختبرنا الحالتين Live اليوم. كل نتيجة تمر بتحقق ثم مراجعة بشرية، وعند تعطل المزود يظهر fallback واضح.</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المدة: 35 ثانية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الانتقال: البنية التقنية تفصل الذكاء عن القرار التشغيلي.</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العرض: أشر إلى 685 جنيه وعبارة Nothing has been published.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الخطة البديلة: اعرض اللقطتين فقط إذا تعطل المزود.</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gemini-provider.js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ai-service.js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ai-imports.js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Live runtime check, 2026-09-10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محليًا نستخدم SQLite داخل عملية Node واحدة. في Firebase Tenant Mode تتحقق الهوية ثم تختار العضوية مطعمًا واحدًا. الكود موجود، لكن اختبار العزل على Emulator كان Skipped اليوم، لذلك يبقى Gate قبل الإنتاج. الدفع الحي أيضًا يحتاج قبول تاجر.</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المدة: 25 ثانية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الانتقال: التقنية الآن تتحول إلى تجربة أثر.</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العرض: ركز على Local مقابل Hosted.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الخطة البديلة: لا حاجة إلى اتصال حي.</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server.js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firebase-platform.js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docs/FIREBASE-SAAS.md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npm test, 2026-09-10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نأخذ سبعة أيام Baseline ثم 23 يوم تشغيل. نتابع خمسة مؤشرات من أحداث النظام. هدف التجربة أن تمر 80% من الطلبات عبر Resuto، وأن يتحسن مؤشّران على الأقل بنسبة 10%، مع رضا فريق 4 من 5. هذه أهداف وليست نتائج محققة.</a:t>
            </a:r>
          </a:p>
          <a:p xmlns:a="http://schemas.openxmlformats.org/drawingml/2006/main">
            <a:r>
              <a:t/>
            </a:r>
          </a:p>
          <a:p xmlns:a="http://schemas.openxmlformats.org/drawingml/2006/main">
            <a:r>
              <a:t>المدة: 25 ثانية</a:t>
            </a:r>
          </a:p>
          <a:p xmlns:a="http://schemas.openxmlformats.org/drawingml/2006/main">
            <a:r>
              <a:t/>
            </a:r>
          </a:p>
          <a:p xmlns:a="http://schemas.openxmlformats.org/drawingml/2006/main">
            <a:r>
              <a:t>الانتقال: إذا تحقق الأثر، من يدفع؟</a:t>
            </a:r>
          </a:p>
          <a:p xmlns:a="http://schemas.openxmlformats.org/drawingml/2006/main">
            <a:r>
              <a:t/>
            </a:r>
          </a:p>
          <a:p xmlns:a="http://schemas.openxmlformats.org/drawingml/2006/main">
            <a:r>
              <a:t>العرض: اتبع الخط الزمني.</a:t>
            </a:r>
          </a:p>
          <a:p xmlns:a="http://schemas.openxmlformats.org/drawingml/2006/main">
            <a:r>
              <a:t/>
            </a:r>
          </a:p>
          <a:p xmlns:a="http://schemas.openxmlformats.org/drawingml/2006/main">
            <a:r>
              <a:t>الخطة البديلة: الشريحة مستقلة عن الشبكة.</a:t>
            </a:r>
          </a:p>
          <a:p xmlns:a="http://schemas.openxmlformats.org/drawingml/2006/main">
            <a:r>
              <a:t/>
            </a:r>
          </a:p>
          <a:p xmlns:a="http://schemas.openxmlformats.org/drawingml/2006/main">
            <a:r>
              <a:t>[Sources]</a:t>
            </a:r>
          </a:p>
          <a:p xmlns:a="http://schemas.openxmlformats.org/drawingml/2006/main">
            <a:r>
              <a:t/>
            </a:r>
          </a:p>
          <a:p xmlns:a="http://schemas.openxmlformats.org/drawingml/2006/main">
            <a:r>
              <a:t>resuto-impact-x-judging-pack-ar.pdf, p. 18</a:t>
            </a:r>
          </a:p>
          <a:p xmlns:a="http://schemas.openxmlformats.org/drawingml/2006/main">
            <a:r>
              <a:t/>
            </a:r>
          </a:p>
          <a:p xmlns:a="http://schemas.openxmlformats.org/drawingml/2006/main">
            <a:r>
              <a:t>IMPACT X Judging Criteria.pdf, 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في مصر نبدأ بباقة Growth بسعر مقترح 1499 جنيه للفرع شهريًا قبل الضريبة. المشتري هو المالك أو المشغل. نستخدم Pilot بدون رسوم إعداد لاختبار الاستعداد للدفع. السعودية مرحلة تالية مشروطة بالامتثال والدفع المحلي.</a:t>
            </a:r>
          </a:p>
          <a:p xmlns:a="http://schemas.openxmlformats.org/drawingml/2006/main">
            <a:r>
              <a:t/>
            </a:r>
          </a:p>
          <a:p xmlns:a="http://schemas.openxmlformats.org/drawingml/2006/main">
            <a:r>
              <a:t>المدة: 30 ثانية</a:t>
            </a:r>
          </a:p>
          <a:p xmlns:a="http://schemas.openxmlformats.org/drawingml/2006/main">
            <a:r>
              <a:t/>
            </a:r>
          </a:p>
          <a:p xmlns:a="http://schemas.openxmlformats.org/drawingml/2006/main">
            <a:r>
              <a:t>الانتقال: نختبر قيمة الاشتراك بمعادلة واضحة.</a:t>
            </a:r>
          </a:p>
          <a:p xmlns:a="http://schemas.openxmlformats.org/drawingml/2006/main">
            <a:r>
              <a:t/>
            </a:r>
          </a:p>
          <a:p xmlns:a="http://schemas.openxmlformats.org/drawingml/2006/main">
            <a:r>
              <a:t>العرض: اعرض السعر والوحدة فقط.</a:t>
            </a:r>
          </a:p>
          <a:p xmlns:a="http://schemas.openxmlformats.org/drawingml/2006/main">
            <a:r>
              <a:t/>
            </a:r>
          </a:p>
          <a:p xmlns:a="http://schemas.openxmlformats.org/drawingml/2006/main">
            <a:r>
              <a:t>الخطة البديلة: جدول الأسعار الكامل في الملحق.</a:t>
            </a:r>
          </a:p>
          <a:p xmlns:a="http://schemas.openxmlformats.org/drawingml/2006/main">
            <a:r>
              <a:t/>
            </a:r>
          </a:p>
          <a:p xmlns:a="http://schemas.openxmlformats.org/drawingml/2006/main">
            <a:r>
              <a:t>[Sources]</a:t>
            </a:r>
          </a:p>
          <a:p xmlns:a="http://schemas.openxmlformats.org/drawingml/2006/main">
            <a:r>
              <a:t/>
            </a:r>
          </a:p>
          <a:p xmlns:a="http://schemas.openxmlformats.org/drawingml/2006/main">
            <a:r>
              <a:t>resuto-impact-x-judging-pack-ar.pdf, pp. 10-11 and 14</a:t>
            </a:r>
          </a:p>
          <a:p xmlns:a="http://schemas.openxmlformats.org/drawingml/2006/main">
            <a:r>
              <a:t/>
            </a:r>
          </a:p>
          <a:p xmlns:a="http://schemas.openxmlformats.org/drawingml/2006/main">
            <a:r>
              <a:t>Current pricing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هذا مثال حسابي وليس توفيرًا محققًا. الاشتراك 1499 جنيه، والمنفعة الشهرية المفترضة 5100، فينتج صافي 3601 وعائد 240%. سنقيس كل بند في الـPilot ونستبعد أي منفعة لا ترتبط بتغيير تشغيلي واضح.</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المدة: 25 ثانية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الانتقال: المعادلة تصبح خطة تنفيذ.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العرض: اقرأ Total benefit ثم Subscription ثم Net benefit.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الخطة البديلة: الافتراضات التفصيلية في الملحق.</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resuto-impact-x-judging-pack-ar.pdf, pp. 12-13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Recalculated ROI: 240.23%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منذ كتابة الملف تقدّم المشروع: البناء ينجح، 76 اختبارًا نجح، وتجربتا Gemini الحيتان عملتا. الخطوة التالية Pilot في مصر ثم اختبار عزل Firebase والفوترة والمراقبة. السعودية تأتي بعد مراجعة ضريبية وتكامل ZATCA وقبول دفع محلي.</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المدة: 35 ثانية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الانتقال: الطلب النهائي محدد وقابل للتنفيذ.</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العرض: اتبع الأعمدة من اليسار إلى اليمين.</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الخطة البديلة: لا تفتح الملحق إلا عند سؤال محدد.</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build and tests, 2026-09-10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judging pack, pp. 15-17 and 21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طلبنا من لجنة IMPACT X هو دعم تجربة لمدة 30 يومًا مع ثلاثة مطاعم في مصر. نبدأ بخط أساس، نقيس التبني والأثر والعائد، وننتهي بقرار شراء واضح. ريزوتو يعمل اليوم، والـPilot سيحدد إن كان يستحق أن يصبح خدمة مستدامة. شكرًا.</a:t>
            </a:r>
            <a:endParaRPr/>
          </a:p>
          <a:p xmlns:a="http://schemas.openxmlformats.org/drawingml/2006/main">
            <a:r>
              <a:t/>
            </a:r>
            <a:endParaRPr/>
          </a:p>
          <a:p xmlns:a="http://schemas.openxmlformats.org/drawingml/2006/main">
            <a:r>
              <a:t>المدة: 15 ثانية</a:t>
            </a:r>
            <a:endParaRPr/>
          </a:p>
          <a:p xmlns:a="http://schemas.openxmlformats.org/drawingml/2006/main">
            <a:r>
              <a:t/>
            </a:r>
            <a:endParaRPr/>
          </a:p>
          <a:p xmlns:a="http://schemas.openxmlformats.org/drawingml/2006/main">
            <a:r>
              <a:t>الانتقال: توقف وانتظر الأسئلة.</a:t>
            </a:r>
            <a:endParaRPr/>
          </a:p>
          <a:p xmlns:a="http://schemas.openxmlformats.org/drawingml/2006/main">
            <a:r>
              <a:t/>
            </a:r>
            <a:endParaRPr/>
          </a:p>
          <a:p xmlns:a="http://schemas.openxmlformats.org/drawingml/2006/main">
            <a:r>
              <a:t>العرض: لا تفتح أي رابط بعد الخاتمة إلا بطلب الحكم.</a:t>
            </a:r>
            <a:endParaRPr/>
          </a:p>
          <a:p xmlns:a="http://schemas.openxmlformats.org/drawingml/2006/main">
            <a:r>
              <a:t/>
            </a:r>
            <a:endParaRPr/>
          </a:p>
          <a:p xmlns:a="http://schemas.openxmlformats.org/drawingml/2006/main">
            <a:r>
              <a:t>الخطة البديلة: كل الأدلة في الملحق.</a:t>
            </a:r>
            <a:endParaRPr/>
          </a:p>
          <a:p xmlns:a="http://schemas.openxmlformats.org/drawingml/2006/main">
            <a:r>
              <a:t/>
            </a:r>
            <a:endParaRPr/>
          </a:p>
          <a:p xmlns:a="http://schemas.openxmlformats.org/drawingml/2006/main">
            <a:r>
              <a:t>[Sources]</a:t>
            </a:r>
            <a:endParaRPr/>
          </a:p>
          <a:p xmlns:a="http://schemas.openxmlformats.org/drawingml/2006/main">
            <a:r>
              <a:t/>
            </a:r>
            <a:endParaRPr/>
          </a:p>
          <a:p xmlns:a="http://schemas.openxmlformats.org/drawingml/2006/main">
            <a:r>
              <a:t>resuto-impact-x-judging-pack-ar.pdf, pp. 18-19 and 22</a:t>
            </a:r>
            <a:endParaRPr/>
          </a:p>
          <a:p xmlns:a="http://schemas.openxmlformats.org/drawingml/2006/main">
            <a:r>
              <a:t/>
            </a:r>
            <a:endParaRPr/>
          </a:p>
          <a:p xmlns:a="http://schemas.openxmlformats.org/drawingml/2006/main">
            <a:r>
              <a:t>Main timing: 340 seconds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ملحق للأسئلة والتفاصيل.</a:t>
            </a:r>
          </a:p>
          <a:p xmlns:a="http://schemas.openxmlformats.org/drawingml/2006/main">
            <a:r>
              <a:t/>
            </a:r>
          </a:p>
          <a:p xmlns:a="http://schemas.openxmlformats.org/drawingml/2006/main">
            <a:r>
              <a:t>[Sources]</a:t>
            </a:r>
          </a:p>
          <a:p xmlns:a="http://schemas.openxmlformats.org/drawingml/2006/main">
            <a:r>
              <a:t/>
            </a:r>
          </a:p>
          <a:p xmlns:a="http://schemas.openxmlformats.org/drawingml/2006/main">
            <a:r>
              <a:t>Repository review</a:t>
            </a:r>
          </a:p>
          <a:p xmlns:a="http://schemas.openxmlformats.org/drawingml/2006/main">
            <a:r>
              <a:t/>
            </a:r>
          </a:p>
          <a:p xmlns:a="http://schemas.openxmlformats.org/drawingml/2006/main">
            <a:r>
              <a:t>Fresh browser captures</a:t>
            </a:r>
          </a:p>
          <a:p xmlns:a="http://schemas.openxmlformats.org/drawingml/2006/main">
            <a:r>
              <a:t/>
            </a:r>
          </a:p>
          <a:p xmlns:a="http://schemas.openxmlformats.org/drawingml/2006/main">
            <a:r>
              <a:t>npm test, 2026-09-10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ملحق للأسئلة والتفاصيل.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Arabic RTL capture, 2026-09-10</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Olive Room and Smash &amp; Co are fictional demo restaurants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ملحق للأسئلة والتفاصيل.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firebase-platform.js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firestore.rules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docs/FIREBASE-SAAS.md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ملحق للأسئلة والتفاصيل.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gemini-provider.js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ai-service.js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ai-imports.js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ملحق للأسئلة والتفاصيل.</a:t>
            </a:r>
          </a:p>
          <a:p xmlns:a="http://schemas.openxmlformats.org/drawingml/2006/main">
            <a:r>
              <a:t/>
            </a:r>
          </a:p>
          <a:p xmlns:a="http://schemas.openxmlformats.org/drawingml/2006/main">
            <a:r>
              <a:t>[Sources]</a:t>
            </a:r>
          </a:p>
          <a:p xmlns:a="http://schemas.openxmlformats.org/drawingml/2006/main">
            <a:r>
              <a:t/>
            </a:r>
          </a:p>
          <a:p xmlns:a="http://schemas.openxmlformats.org/drawingml/2006/main">
            <a:r>
              <a:t>resuto-impact-x-judging-pack-ar.pdf, pp. 10-11</a:t>
            </a:r>
          </a:p>
          <a:p xmlns:a="http://schemas.openxmlformats.org/drawingml/2006/main">
            <a:r>
              <a:t/>
            </a:r>
          </a:p>
          <a:p xmlns:a="http://schemas.openxmlformats.org/drawingml/2006/main">
            <a:r>
              <a:t>Pack dated 2026-09-09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ملحق للأسئلة والتفاصيل.</a:t>
            </a:r>
          </a:p>
          <a:p xmlns:a="http://schemas.openxmlformats.org/drawingml/2006/main">
            <a:r>
              <a:t/>
            </a:r>
          </a:p>
          <a:p xmlns:a="http://schemas.openxmlformats.org/drawingml/2006/main">
            <a:r>
              <a:t>[Sources]</a:t>
            </a:r>
          </a:p>
          <a:p xmlns:a="http://schemas.openxmlformats.org/drawingml/2006/main">
            <a:r>
              <a:t/>
            </a:r>
          </a:p>
          <a:p xmlns:a="http://schemas.openxmlformats.org/drawingml/2006/main">
            <a:r>
              <a:t>resuto-impact-x-judging-pack-ar.pdf, pp. 12-13</a:t>
            </a:r>
          </a:p>
          <a:p xmlns:a="http://schemas.openxmlformats.org/drawingml/2006/main">
            <a:r>
              <a:t/>
            </a:r>
          </a:p>
          <a:p xmlns:a="http://schemas.openxmlformats.org/drawingml/2006/main">
            <a:r>
              <a:t>ROI recalculated as 240.23%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ملحق للأسئلة والتفاصيل.</a:t>
            </a:r>
          </a:p>
          <a:p xmlns:a="http://schemas.openxmlformats.org/drawingml/2006/main">
            <a:r>
              <a:t/>
            </a:r>
          </a:p>
          <a:p xmlns:a="http://schemas.openxmlformats.org/drawingml/2006/main">
            <a:r>
              <a:t>[Sources]</a:t>
            </a:r>
          </a:p>
          <a:p xmlns:a="http://schemas.openxmlformats.org/drawingml/2006/main">
            <a:r>
              <a:t/>
            </a:r>
          </a:p>
          <a:p xmlns:a="http://schemas.openxmlformats.org/drawingml/2006/main">
            <a:r>
              <a:t>resuto-impact-x-judging-pack-ar.pdf, p. 18</a:t>
            </a:r>
          </a:p>
          <a:p xmlns:a="http://schemas.openxmlformats.org/drawingml/2006/main">
            <a:r>
              <a:t/>
            </a:r>
          </a:p>
          <a:p xmlns:a="http://schemas.openxmlformats.org/drawingml/2006/main">
            <a:r>
              <a:t>Repository event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ملحق للأسئلة والتفاصيل.</a:t>
            </a:r>
          </a:p>
          <a:p xmlns:a="http://schemas.openxmlformats.org/drawingml/2006/main">
            <a:r>
              <a:t/>
            </a:r>
          </a:p>
          <a:p xmlns:a="http://schemas.openxmlformats.org/drawingml/2006/main">
            <a:r>
              <a:t>[Sources]</a:t>
            </a:r>
          </a:p>
          <a:p xmlns:a="http://schemas.openxmlformats.org/drawingml/2006/main">
            <a:r>
              <a:t/>
            </a:r>
          </a:p>
          <a:p xmlns:a="http://schemas.openxmlformats.org/drawingml/2006/main">
            <a:r>
              <a:t>Repository review</a:t>
            </a:r>
          </a:p>
          <a:p xmlns:a="http://schemas.openxmlformats.org/drawingml/2006/main">
            <a:r>
              <a:t/>
            </a:r>
          </a:p>
          <a:p xmlns:a="http://schemas.openxmlformats.org/drawingml/2006/main">
            <a:r>
              <a:t>docs/FIREBASE-SAAS.md</a:t>
            </a:r>
          </a:p>
          <a:p xmlns:a="http://schemas.openxmlformats.org/drawingml/2006/main">
            <a:r>
              <a:t/>
            </a:r>
          </a:p>
          <a:p xmlns:a="http://schemas.openxmlformats.org/drawingml/2006/main">
            <a:r>
              <a:t>Judging pack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ملحق للأسئلة والتفاصيل.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Evidence_Coverage.md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Judging pack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repository boundaries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ملحق للأسئلة والتفاصيل.</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IMPACT X Judging Criteria.pdf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resuto-impact-x-judging-pack-ar.pdf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repository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Fresh browser captures, 2026-09-10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5ea7de500a45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1d88691c5042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8efdb8015d47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ff428add8249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8035224c514e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493f3734ae452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ee2d00d8f324f8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ce5ad0388264260"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ca8de50f9e46ec" /><Relationship Type="http://schemas.openxmlformats.org/officeDocument/2006/relationships/slideLayout" Target="/ppt/slideLayouts/slideLayout1.xml" Id="R66264ee40b9c45d9" /><Relationship Type="http://schemas.openxmlformats.org/officeDocument/2006/relationships/slideLayout" Target="/ppt/slideLayouts/slideLayout2.xml" Id="R7fbdd54339994da6" /><Relationship Type="http://schemas.openxmlformats.org/officeDocument/2006/relationships/slideLayout" Target="/ppt/slideLayouts/slideLayout3.xml" Id="R672ab5555bba45e9" /><Relationship Type="http://schemas.openxmlformats.org/officeDocument/2006/relationships/slideLayout" Target="/ppt/slideLayouts/slideLayout4.xml" Id="R292f97c91dd041ac" /><Relationship Type="http://schemas.openxmlformats.org/officeDocument/2006/relationships/slideLayout" Target="/ppt/slideLayouts/slideLayout5.xml" Id="R472cec8da95640f1" /><Relationship Type="http://schemas.openxmlformats.org/officeDocument/2006/relationships/slideLayout" Target="/ppt/slideLayouts/slideLayout6.xml" Id="Rc1067661de56474a" /><Relationship Type="http://schemas.openxmlformats.org/officeDocument/2006/relationships/slideLayout" Target="/ppt/slideLayouts/slideLayout7.xml" Id="R977f15b1209b431e" /><Relationship Type="http://schemas.openxmlformats.org/officeDocument/2006/relationships/slideLayout" Target="/ppt/slideLayouts/slideLayout8.xml" Id="R159c621124d64cd0"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66264ee40b9c45d9"/>
    <p:sldLayoutId xmlns:r="http://schemas.openxmlformats.org/officeDocument/2006/relationships" id="2147483650" r:id="R7fbdd54339994da6"/>
    <p:sldLayoutId xmlns:r="http://schemas.openxmlformats.org/officeDocument/2006/relationships" id="2147483651" r:id="R672ab5555bba45e9"/>
    <p:sldLayoutId xmlns:r="http://schemas.openxmlformats.org/officeDocument/2006/relationships" id="2147483652" r:id="R292f97c91dd041ac"/>
    <p:sldLayoutId xmlns:r="http://schemas.openxmlformats.org/officeDocument/2006/relationships" id="2147483653" r:id="R472cec8da95640f1"/>
    <p:sldLayoutId xmlns:r="http://schemas.openxmlformats.org/officeDocument/2006/relationships" id="2147483654" r:id="Rc1067661de56474a"/>
    <p:sldLayoutId xmlns:r="http://schemas.openxmlformats.org/officeDocument/2006/relationships" id="2147483655" r:id="R977f15b1209b431e"/>
    <p:sldLayoutId xmlns:r="http://schemas.openxmlformats.org/officeDocument/2006/relationships" id="2147483656" r:id="R159c621124d64cd0"/>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9e9f1d35884b5d" /><Relationship Type="http://schemas.openxmlformats.org/officeDocument/2006/relationships/notesSlide" Target="/ppt/notesSlides/notesSlide1.xml" Id="R67a082b64e7141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6c225edc9d40c5" /><Relationship Type="http://schemas.openxmlformats.org/officeDocument/2006/relationships/notesSlide" Target="/ppt/notesSlides/notesSlide2.xml" Id="Rc60fe0e3bafd44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6586191e2545bc" /><Relationship Type="http://schemas.openxmlformats.org/officeDocument/2006/relationships/image" Target="/ppt/media/image.jpeg" Id="Rd6273c46b9ec4c93" /><Relationship Type="http://schemas.openxmlformats.org/officeDocument/2006/relationships/notesSlide" Target="/ppt/notesSlides/notesSlide3.xml" Id="Rf6184a6e55d246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baaaec13682455e" /><Relationship Type="http://schemas.openxmlformats.org/officeDocument/2006/relationships/notesSlide" Target="/ppt/notesSlides/notesSlide4.xml" Id="Rfe419588423643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f0244c53a44397" /><Relationship Type="http://schemas.openxmlformats.org/officeDocument/2006/relationships/image" Target="/ppt/media/image2.jpeg" Id="R9cc788de64f241a7" /><Relationship Type="http://schemas.openxmlformats.org/officeDocument/2006/relationships/image" Target="/ppt/media/image3.jpeg" Id="R41f6abd379a740ad" /><Relationship Type="http://schemas.openxmlformats.org/officeDocument/2006/relationships/image" Target="/ppt/media/image4.jpeg" Id="R29505c0fe9bd408d" /><Relationship Type="http://schemas.openxmlformats.org/officeDocument/2006/relationships/image" Target="/ppt/media/image5.jpeg" Id="Rc3bca81e6c8c45c1" /><Relationship Type="http://schemas.openxmlformats.org/officeDocument/2006/relationships/notesSlide" Target="/ppt/notesSlides/notesSlide5.xml" Id="Rc43c697e17664f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534b25b9214aa0" /><Relationship Type="http://schemas.openxmlformats.org/officeDocument/2006/relationships/image" Target="/ppt/media/image6.jpeg" Id="R11b0231385884a28" /><Relationship Type="http://schemas.openxmlformats.org/officeDocument/2006/relationships/image" Target="/ppt/media/image7.jpeg" Id="R9f448c14680e45f6" /><Relationship Type="http://schemas.openxmlformats.org/officeDocument/2006/relationships/notesSlide" Target="/ppt/notesSlides/notesSlide6.xml" Id="R1f4a905bc1944f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8740cc599eb4b5f" /><Relationship Type="http://schemas.openxmlformats.org/officeDocument/2006/relationships/notesSlide" Target="/ppt/notesSlides/notesSlide7.xml" Id="Rf9860a4a67c846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421dd292bb4760" /><Relationship Type="http://schemas.openxmlformats.org/officeDocument/2006/relationships/notesSlide" Target="/ppt/notesSlides/notesSlide8.xml" Id="R670418ec34a846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9107e3464fb4888" /><Relationship Type="http://schemas.openxmlformats.org/officeDocument/2006/relationships/notesSlide" Target="/ppt/notesSlides/notesSlide9.xml" Id="R18741757228a40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866c8fad9a04d43" /><Relationship Type="http://schemas.openxmlformats.org/officeDocument/2006/relationships/notesSlide" Target="/ppt/notesSlides/notesSlide10.xml" Id="R436d8c6ddfe04e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f53a3c7c0b64585" /><Relationship Type="http://schemas.openxmlformats.org/officeDocument/2006/relationships/notesSlide" Target="/ppt/notesSlides/notesSlide11.xml" Id="R1774e9fddf9b4a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03ae763ff2a4146" /><Relationship Type="http://schemas.openxmlformats.org/officeDocument/2006/relationships/notesSlide" Target="/ppt/notesSlides/notesSlide12.xml" Id="R11a6842e22284e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90d1b73acd84a8f" /><Relationship Type="http://schemas.openxmlformats.org/officeDocument/2006/relationships/notesSlide" Target="/ppt/notesSlides/notesSlide13.xml" Id="R4b983795b1d242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b9f354704514c03" /><Relationship Type="http://schemas.openxmlformats.org/officeDocument/2006/relationships/image" Target="/ppt/media/image.jpeg" Id="Rdfabd2e1ff5749d5" /><Relationship Type="http://schemas.openxmlformats.org/officeDocument/2006/relationships/notesSlide" Target="/ppt/notesSlides/notesSlide14.xml" Id="R1f2a8ecb970b43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8fedd4195394fc1" /><Relationship Type="http://schemas.openxmlformats.org/officeDocument/2006/relationships/notesSlide" Target="/ppt/notesSlides/notesSlide15.xml" Id="R39724fdd11644a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9ca125b43334472" /><Relationship Type="http://schemas.openxmlformats.org/officeDocument/2006/relationships/image" Target="/ppt/media/image8.jpeg" Id="R6a896e6a1b6d410a" /><Relationship Type="http://schemas.openxmlformats.org/officeDocument/2006/relationships/image" Target="/ppt/media/image9.jpeg" Id="R90725065fbae4331" /><Relationship Type="http://schemas.openxmlformats.org/officeDocument/2006/relationships/notesSlide" Target="/ppt/notesSlides/notesSlide16.xml" Id="R478f90a897ed4b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4de1c5d05c3486f" /><Relationship Type="http://schemas.openxmlformats.org/officeDocument/2006/relationships/notesSlide" Target="/ppt/notesSlides/notesSlide17.xml" Id="R96a1076e25964b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4b2aebbd36d4735" /><Relationship Type="http://schemas.openxmlformats.org/officeDocument/2006/relationships/notesSlide" Target="/ppt/notesSlides/notesSlide18.xml" Id="R5ec5b1618b614a5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e4374e4346a462d" /><Relationship Type="http://schemas.openxmlformats.org/officeDocument/2006/relationships/notesSlide" Target="/ppt/notesSlides/notesSlide19.xml" Id="R7386c0d8a5ad4e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54a990fd171466b" /><Relationship Type="http://schemas.openxmlformats.org/officeDocument/2006/relationships/notesSlide" Target="/ppt/notesSlides/notesSlide20.xml" Id="R18f3cec57bb141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ac5c700f12e4070" /><Relationship Type="http://schemas.openxmlformats.org/officeDocument/2006/relationships/notesSlide" Target="/ppt/notesSlides/notesSlide21.xml" Id="R4e737c2da92b4b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ea77398acfb4944" /><Relationship Type="http://schemas.openxmlformats.org/officeDocument/2006/relationships/image" Target="/ppt/media/image.jpeg" Id="R4bfd8437e5ae4315" /><Relationship Type="http://schemas.openxmlformats.org/officeDocument/2006/relationships/notesSlide" Target="/ppt/notesSlides/notesSlide22.xml" Id="R1184c15e1b0f49c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chor="ctr">
            <a:normAutofit fontScale="100000"/>
          </a:bodyPr>
          <a:lstStyle xmlns:a="http://schemas.openxmlformats.org/drawingml/2006/main"/>
          <a:p xmlns:a="http://schemas.openxmlformats.org/drawingml/2006/main">
            <a:pPr algn="ctr">
              <a:buNone/>
              <a:defRPr sz="5250">
                <a:solidFill>
                  <a:srgbClr val="BCEF59"/>
                </a:solidFill>
                <a:latin typeface="Inter"/>
                <a:ea typeface="Inter"/>
                <a:cs typeface="Inter"/>
              </a:defRPr>
            </a:pPr>
            <a:r>
              <a:rPr sz="5250">
                <a:solidFill>
                  <a:srgbClr val="BCEF59"/>
                </a:solidFill>
                <a:latin typeface="Inter"/>
                <a:ea typeface="Inter"/>
                <a:cs typeface="Inter"/>
              </a:rPr>
              <a:t>Resuto</a:t>
            </a:r>
          </a:p>
          <a:p xmlns:a="http://schemas.openxmlformats.org/drawingml/2006/main">
            <a:pPr algn="ctr">
              <a:buNone/>
              <a:defRPr sz="5250">
                <a:solidFill>
                  <a:srgbClr val="BCEF59"/>
                </a:solidFill>
                <a:latin typeface="Inter"/>
                <a:ea typeface="Inter"/>
                <a:cs typeface="Inter"/>
              </a:defRPr>
            </a:pPr>
            <a:r>
              <a:rPr sz="5250">
                <a:solidFill>
                  <a:srgbClr val="BCEF59"/>
                </a:solidFill>
                <a:latin typeface="Inter"/>
                <a:ea typeface="Inter"/>
                <a:cs typeface="Inter"/>
              </a:rPr>
              <a:t>IMPACT X Pitch</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defRPr sz="1950">
                <a:solidFill>
                  <a:srgbClr val="FFFFFF"/>
                </a:solidFill>
                <a:latin typeface="Inter"/>
                <a:ea typeface="Inter"/>
                <a:cs typeface="Inter"/>
              </a:defRPr>
            </a:pPr>
            <a:r>
              <a:rPr sz="1950">
                <a:solidFill>
                  <a:srgbClr val="FFFFFF"/>
                </a:solidFill>
                <a:latin typeface="Inter"/>
                <a:ea typeface="Inter"/>
                <a:cs typeface="Inter"/>
              </a:rPr>
              <a:t>A connected operating system for independent restaurants</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Inter"/>
                <a:ea typeface="Inter"/>
                <a:cs typeface="Inter"/>
              </a:defRPr>
            </a:pPr>
            <a:r>
              <a:rPr sz="1125" b="1">
                <a:solidFill>
                  <a:srgbClr val="FFFFFF"/>
                </a:solidFill>
                <a:latin typeface="Inter"/>
                <a:ea typeface="Inter"/>
                <a:cs typeface="Inter"/>
              </a:rPr>
              <a:t>5:40 MAIN PITCH · EGYPT PILOT</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00000000-1234-1234-1234-123412341234}" type="slidenum">
              <a:t>2</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4229100" cy="519595"/>
          </a:xfrm>
        </p:spPr>
        <p:txBody>
          <a:bodyPr xmlns:a="http://schemas.openxmlformats.org/drawingml/2006/main" anchor="t">
            <a:normAutofit fontScale="81275"/>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Where restaurant service breaks</a:t>
            </a:r>
          </a:p>
        </p:txBody>
      </p:sp>
      <p:graphicFrame>
        <p:nvGraphicFramePr>
          <p:cNvPr id="10" name="Table 3"/>
          <p:cNvGraphicFramePr/>
          <p:nvPr/>
        </p:nvGraphicFramePr>
        <p:xfrm>
          <a:off xmlns:a="http://schemas.openxmlformats.org/drawingml/2006/main" x="393700" y="1881809"/>
          <a:ext xmlns:a="http://schemas.openxmlformats.org/drawingml/2006/main" cx="11404600" cy="4112586"/>
        </p:xfrm>
        <a:graphic xmlns:a="http://schemas.openxmlformats.org/drawingml/2006/main">
          <a:graphicData uri="http://schemas.openxmlformats.org/drawingml/2006/table">
            <a:tbl>
              <a:tblPr firstRow="1" bandRow="1">
                <a:tableStyleId>{5C22544A-7EE6-4342-B048-85BDC9FD1C3A}</a:tableStyleId>
              </a:tblPr>
              <a:tblGrid>
                <a:gridCol w="759239"/>
                <a:gridCol w="7222435"/>
                <a:gridCol w="3422926"/>
              </a:tblGrid>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Reservation</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Manual confirmation</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Table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Identity and floor status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Order</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Repeated entry</a:t>
                      </a:r>
                      <a:endParaRPr sz="2500" b="0" i="0" u="none" kern="1200" cap="none" spc="0" baseline="0">
                        <a:ln>
                          <a:noFill/>
                        </a:ln>
                        <a:solidFill>
                          <a:srgbClr val="BCEF59"/>
                        </a:solidFill>
                        <a:latin typeface="+mn-lt"/>
                        <a:ea typeface="+mn-lt"/>
                        <a:cs typeface="+mn-lt"/>
                      </a:endParaRP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Kitchen</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Status separated from guests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Payment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Settlement and closeout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Result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No single operating record</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First customer: independent restaurants in Egypt</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d6273c46b9ec4c93"/>
          <a:srcRect xmlns:a="http://schemas.openxmlformats.org/drawingml/2006/main" l="19098" t="0" r="19098" b="0"/>
          <a:stretch xmlns:a="http://schemas.openxmlformats.org/drawingml/2006/main">
            <a:fillRect l="0" t="0" r="0" b="0"/>
          </a:stretch>
        </p:blipFill>
        <p:spPr>
          <a:xfrm xmlns:a="http://schemas.openxmlformats.org/drawingml/2006/main">
            <a:off x="6269040" y="396409"/>
            <a:ext cx="5539740" cy="5602070"/>
          </a:xfrm>
          <a:prstGeom xmlns:a="http://schemas.openxmlformats.org/drawingml/2006/main" prst="roundRect">
            <a:avLst>
              <a:gd name="adj" fmla="val 1361"/>
            </a:avLst>
          </a:prstGeom>
        </p:spPr>
      </p:pic>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2000" b="1">
                <a:solidFill>
                  <a:srgbClr val="BCEF59"/>
                </a:solidFill>
                <a:latin typeface="Inter"/>
                <a:ea typeface="Inter"/>
                <a:cs typeface="Inter"/>
              </a:rPr>
              <a:t>Who we serve</a:t>
            </a:r>
          </a:p>
          <a:p xmlns:a="http://schemas.openxmlformats.org/drawingml/2006/main">
            <a:pPr>
              <a:defRPr>
                <a:latin typeface="Inter"/>
                <a:ea typeface="Inter"/>
                <a:cs typeface="Inter"/>
              </a:defRPr>
            </a:pPr>
            <a:r>
              <a:rPr sz="1300">
                <a:solidFill>
                  <a:srgbClr val="FFFFFF"/>
                </a:solidFill>
                <a:latin typeface="Inter"/>
                <a:ea typeface="Inter"/>
                <a:cs typeface="Inter"/>
              </a:rPr>
              <a:t>Independent restaurants and small groups that need Arabic support without enterprise overhead.</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2000" b="1">
                <a:solidFill>
                  <a:srgbClr val="BCEF59"/>
                </a:solidFill>
                <a:latin typeface="Inter"/>
                <a:ea typeface="Inter"/>
                <a:cs typeface="Inter"/>
              </a:rPr>
              <a:t>What they buy</a:t>
            </a:r>
          </a:p>
          <a:p xmlns:a="http://schemas.openxmlformats.org/drawingml/2006/main">
            <a:pPr>
              <a:defRPr>
                <a:latin typeface="Inter"/>
                <a:ea typeface="Inter"/>
                <a:cs typeface="Inter"/>
              </a:defRPr>
            </a:pPr>
            <a:r>
              <a:rPr sz="1300">
                <a:solidFill>
                  <a:srgbClr val="FFFFFF"/>
                </a:solidFill>
                <a:latin typeface="Inter"/>
                <a:ea typeface="Inter"/>
                <a:cs typeface="Inter"/>
              </a:rPr>
              <a:t>One operating record across reservations, tables, orders, kitchen status and settlement.</a:t>
            </a:r>
          </a:p>
        </p:txBody>
      </p:sp>
    </p:spTree>
    <p:extLst>
      <p:ext uri="{BB962C8B-B14F-4D97-AF65-F5344CB8AC3E}">
        <p14:creationId xmlns:p14="http://schemas.microsoft.com/office/powerpoint/2010/main" val="324567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One operating state follows the guest through service</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800" b="1">
                <a:solidFill>
                  <a:srgbClr val="FFFFFF"/>
                </a:solidFill>
                <a:latin typeface="Inter"/>
                <a:ea typeface="Inter"/>
                <a:cs typeface="Inter"/>
              </a:rPr>
              <a:t>Reserve and seat</a:t>
            </a:r>
          </a:p>
          <a:p xmlns:a="http://schemas.openxmlformats.org/drawingml/2006/main">
            <a:pPr>
              <a:defRPr>
                <a:latin typeface="Inter"/>
                <a:ea typeface="Inter"/>
                <a:cs typeface="Inter"/>
              </a:defRPr>
            </a:pPr>
            <a:r>
              <a:rPr sz="1300">
                <a:solidFill>
                  <a:srgbClr val="FFFFFF"/>
                </a:solidFill>
                <a:latin typeface="Inter"/>
                <a:ea typeface="Inter"/>
                <a:cs typeface="Inter"/>
              </a:rPr>
              <a:t>A table chosen in the floor plan becomes the guest’s service identity.</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800" b="1">
                <a:solidFill>
                  <a:srgbClr val="FFFFFF"/>
                </a:solidFill>
                <a:latin typeface="Inter"/>
                <a:ea typeface="Inter"/>
                <a:cs typeface="Inter"/>
              </a:rPr>
              <a:t>Settle and close</a:t>
            </a:r>
          </a:p>
          <a:p xmlns:a="http://schemas.openxmlformats.org/drawingml/2006/main">
            <a:pPr>
              <a:defRPr>
                <a:latin typeface="Inter"/>
                <a:ea typeface="Inter"/>
                <a:cs typeface="Inter"/>
              </a:defRPr>
            </a:pPr>
            <a:r>
              <a:rPr sz="1300">
                <a:solidFill>
                  <a:srgbClr val="FFFFFF"/>
                </a:solidFill>
                <a:latin typeface="Inter"/>
                <a:ea typeface="Inter"/>
                <a:cs typeface="Inter"/>
              </a:rPr>
              <a:t>Split settlement stays separate from food fulfillment. The visit closes only after both complete.</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800" b="1">
                <a:solidFill>
                  <a:srgbClr val="FFFFFF"/>
                </a:solidFill>
                <a:latin typeface="Inter"/>
                <a:ea typeface="Inter"/>
                <a:cs typeface="Inter"/>
              </a:rPr>
              <a:t>Order and prepare</a:t>
            </a:r>
          </a:p>
          <a:p xmlns:a="http://schemas.openxmlformats.org/drawingml/2006/main">
            <a:pPr>
              <a:defRPr>
                <a:latin typeface="Inter"/>
                <a:ea typeface="Inter"/>
                <a:cs typeface="Inter"/>
              </a:defRPr>
            </a:pPr>
            <a:r>
              <a:rPr sz="1300">
                <a:solidFill>
                  <a:srgbClr val="FFFFFF"/>
                </a:solidFill>
                <a:latin typeface="Inter"/>
                <a:ea typeface="Inter"/>
                <a:cs typeface="Inter"/>
              </a:rPr>
              <a:t>Server prices and guarded order states keep the guest and kitchen aligned.</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763754"/>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975" b="1">
                <a:solidFill>
                  <a:srgbClr val="BCEF59"/>
                </a:solidFill>
                <a:latin typeface="Inter"/>
                <a:ea typeface="Inter"/>
                <a:cs typeface="Inter"/>
              </a:defRPr>
            </a:pPr>
            <a:r>
              <a:rPr sz="975" b="1">
                <a:solidFill>
                  <a:srgbClr val="BCEF59"/>
                </a:solidFill>
                <a:latin typeface="Inter"/>
                <a:ea typeface="Inter"/>
                <a:cs typeface="Inter"/>
              </a:rPr>
              <a:t>01</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763754"/>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975" b="1">
                <a:solidFill>
                  <a:srgbClr val="BCEF59"/>
                </a:solidFill>
                <a:latin typeface="Inter"/>
                <a:ea typeface="Inter"/>
                <a:cs typeface="Inter"/>
              </a:defRPr>
            </a:pPr>
            <a:r>
              <a:rPr sz="975" b="1">
                <a:solidFill>
                  <a:srgbClr val="BCEF59"/>
                </a:solidFill>
                <a:latin typeface="Inter"/>
                <a:ea typeface="Inter"/>
                <a:cs typeface="Inter"/>
              </a:rPr>
              <a:t>02</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763754"/>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975" b="1">
                <a:solidFill>
                  <a:srgbClr val="BCEF59"/>
                </a:solidFill>
                <a:latin typeface="Inter"/>
                <a:ea typeface="Inter"/>
                <a:cs typeface="Inter"/>
              </a:defRPr>
            </a:pPr>
            <a:r>
              <a:rPr sz="975" b="1">
                <a:solidFill>
                  <a:srgbClr val="BCEF59"/>
                </a:solidFill>
                <a:latin typeface="Inter"/>
                <a:ea typeface="Inter"/>
                <a:cs typeface="Inter"/>
              </a:rPr>
              <a:t>03</a:t>
            </a:r>
          </a:p>
        </p:txBody>
      </p:sp>
    </p:spTree>
    <p:extLst>
      <p:ext uri="{BB962C8B-B14F-4D97-AF65-F5344CB8AC3E}">
        <p14:creationId xmlns:p14="http://schemas.microsoft.com/office/powerpoint/2010/main" val="139345699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00000000-1234-1234-1234-123412341234}" type="slidenum">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Working product proof</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2143125" y="2028825"/>
            <a:ext cx="3781425" cy="1638300"/>
          </a:xfrm>
        </p:spPr>
        <p:txBody>
          <a:bodyPr xmlns:a="http://schemas.openxmlformats.org/drawingml/2006/main"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800" b="1">
                <a:solidFill>
                  <a:srgbClr val="BCEF59"/>
                </a:solidFill>
                <a:latin typeface="Inter"/>
                <a:ea typeface="Inter"/>
                <a:cs typeface="Inter"/>
              </a:rPr>
              <a:t>Exact table</a:t>
            </a:r>
          </a:p>
          <a:p xmlns:a="http://schemas.openxmlformats.org/drawingml/2006/main">
            <a:pPr>
              <a:defRPr>
                <a:latin typeface="Inter"/>
                <a:ea typeface="Inter"/>
                <a:cs typeface="Inter"/>
              </a:defRPr>
            </a:pPr>
            <a:r>
              <a:rPr sz="1200">
                <a:solidFill>
                  <a:srgbClr val="FFFFFF"/>
                </a:solidFill>
                <a:latin typeface="Inter"/>
                <a:ea typeface="Inter"/>
                <a:cs typeface="Inter"/>
              </a:rPr>
              <a:t>Reservation choice writes the table identity used by service.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8001000" y="2028825"/>
            <a:ext cx="3790950" cy="1638300"/>
          </a:xfrm>
        </p:spPr>
        <p:txBody>
          <a:bodyPr xmlns:a="http://schemas.openxmlformats.org/drawingml/2006/main"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800" b="1">
                <a:solidFill>
                  <a:srgbClr val="BCEF59"/>
                </a:solidFill>
                <a:latin typeface="Inter"/>
                <a:ea typeface="Inter"/>
                <a:cs typeface="Inter"/>
              </a:rPr>
              <a:t>Readable menu</a:t>
            </a:r>
          </a:p>
          <a:p xmlns:a="http://schemas.openxmlformats.org/drawingml/2006/main">
            <a:pPr>
              <a:defRPr>
                <a:latin typeface="Inter"/>
                <a:ea typeface="Inter"/>
                <a:cs typeface="Inter"/>
              </a:defRPr>
            </a:pPr>
            <a:r>
              <a:rPr sz="1200">
                <a:solidFill>
                  <a:srgbClr val="FFFFFF"/>
                </a:solidFill>
                <a:latin typeface="Inter"/>
                <a:ea typeface="Inter"/>
                <a:cs typeface="Inter"/>
              </a:rPr>
              <a:t>English and Arabic share the same live catalog and prices.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2143125" y="4019550"/>
            <a:ext cx="3781425" cy="1638300"/>
          </a:xfrm>
          <a:prstGeom xmlns:a="http://schemas.openxmlformats.org/drawingml/2006/main" prst="rect">
            <a:avLst/>
          </a:prstGeom>
        </p:spPr>
        <p:txBody>
          <a:bodyPr xmlns:a="http://schemas.openxmlformats.org/drawingml/2006/main" vert="horz"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800" b="1">
                <a:solidFill>
                  <a:srgbClr val="BCEF59"/>
                </a:solidFill>
                <a:latin typeface="Inter"/>
                <a:ea typeface="Inter"/>
                <a:cs typeface="Inter"/>
              </a:rPr>
              <a:t>Confirmed order</a:t>
            </a:r>
          </a:p>
          <a:p xmlns:a="http://schemas.openxmlformats.org/drawingml/2006/main">
            <a:pPr>
              <a:defRPr>
                <a:latin typeface="Inter"/>
                <a:ea typeface="Inter"/>
                <a:cs typeface="Inter"/>
              </a:defRPr>
            </a:pPr>
            <a:r>
              <a:rPr sz="1200">
                <a:solidFill>
                  <a:srgbClr val="FFFFFF"/>
                </a:solidFill>
                <a:latin typeface="Inter"/>
                <a:ea typeface="Inter"/>
                <a:cs typeface="Inter"/>
              </a:rPr>
              <a:t>Synthetic order #001 reached the kitchen at EGP 135.</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8001000" y="4019550"/>
            <a:ext cx="3790950" cy="1638300"/>
          </a:xfrm>
          <a:prstGeom xmlns:a="http://schemas.openxmlformats.org/drawingml/2006/main" prst="rect">
            <a:avLst/>
          </a:prstGeom>
        </p:spPr>
        <p:txBody>
          <a:bodyPr xmlns:a="http://schemas.openxmlformats.org/drawingml/2006/main" vert="horz"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800" b="1">
                <a:solidFill>
                  <a:srgbClr val="BCEF59"/>
                </a:solidFill>
                <a:latin typeface="Inter"/>
                <a:ea typeface="Inter"/>
                <a:cs typeface="Inter"/>
              </a:rPr>
              <a:t>Guarded kitchen</a:t>
            </a:r>
          </a:p>
          <a:p xmlns:a="http://schemas.openxmlformats.org/drawingml/2006/main">
            <a:pPr>
              <a:defRPr>
                <a:latin typeface="Inter"/>
                <a:ea typeface="Inter"/>
                <a:cs typeface="Inter"/>
              </a:defRPr>
            </a:pPr>
            <a:r>
              <a:rPr sz="1200">
                <a:solidFill>
                  <a:srgbClr val="FFFFFF"/>
                </a:solidFill>
                <a:latin typeface="Inter"/>
                <a:ea typeface="Inter"/>
                <a:cs typeface="Inter"/>
              </a:rPr>
              <a:t>The order moved from received to preparing and ready.</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cc788de64f241a7"/>
          <a:srcRect xmlns:a="http://schemas.openxmlformats.org/drawingml/2006/main" l="0" t="28340" r="0" b="28340"/>
          <a:stretch xmlns:a="http://schemas.openxmlformats.org/drawingml/2006/main">
            <a:fillRect l="0" t="0" r="0" b="0"/>
          </a:stretch>
        </p:blipFill>
        <p:spPr>
          <a:xfrm xmlns:a="http://schemas.openxmlformats.org/drawingml/2006/main">
            <a:off x="390525" y="2028825"/>
            <a:ext cx="1524000" cy="1428750"/>
          </a:xfrm>
          <a:prstGeom xmlns:a="http://schemas.openxmlformats.org/drawingml/2006/main" prst="roundRect">
            <a:avLst>
              <a:gd name="adj" fmla="val 8000"/>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1f6abd379a740ad"/>
          <a:srcRect xmlns:a="http://schemas.openxmlformats.org/drawingml/2006/main" l="0" t="28340" r="0" b="28340"/>
          <a:stretch xmlns:a="http://schemas.openxmlformats.org/drawingml/2006/main">
            <a:fillRect l="0" t="0" r="0" b="0"/>
          </a:stretch>
        </p:blipFill>
        <p:spPr>
          <a:xfrm xmlns:a="http://schemas.openxmlformats.org/drawingml/2006/main">
            <a:off x="6248400" y="2028825"/>
            <a:ext cx="1524000" cy="1428750"/>
          </a:xfrm>
          <a:prstGeom xmlns:a="http://schemas.openxmlformats.org/drawingml/2006/main" prst="roundRect">
            <a:avLst>
              <a:gd name="adj" fmla="val 8000"/>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9505c0fe9bd408d"/>
          <a:srcRect xmlns:a="http://schemas.openxmlformats.org/drawingml/2006/main" l="0" t="28340" r="0" b="28340"/>
          <a:stretch xmlns:a="http://schemas.openxmlformats.org/drawingml/2006/main">
            <a:fillRect l="0" t="0" r="0" b="0"/>
          </a:stretch>
        </p:blipFill>
        <p:spPr>
          <a:xfrm xmlns:a="http://schemas.openxmlformats.org/drawingml/2006/main">
            <a:off x="390525" y="4019550"/>
            <a:ext cx="1524000" cy="1428750"/>
          </a:xfrm>
          <a:prstGeom xmlns:a="http://schemas.openxmlformats.org/drawingml/2006/main" prst="roundRect">
            <a:avLst>
              <a:gd name="adj" fmla="val 8000"/>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3bca81e6c8c45c1"/>
          <a:srcRect xmlns:a="http://schemas.openxmlformats.org/drawingml/2006/main" l="16667" t="0" r="16667" b="0"/>
          <a:stretch xmlns:a="http://schemas.openxmlformats.org/drawingml/2006/main">
            <a:fillRect l="0" t="0" r="0" b="0"/>
          </a:stretch>
        </p:blipFill>
        <p:spPr>
          <a:xfrm xmlns:a="http://schemas.openxmlformats.org/drawingml/2006/main">
            <a:off x="6248400" y="4019550"/>
            <a:ext cx="1524000" cy="1428750"/>
          </a:xfrm>
          <a:prstGeom xmlns:a="http://schemas.openxmlformats.org/drawingml/2006/main" prst="roundRect">
            <a:avLst>
              <a:gd name="adj" fmla="val 8000"/>
            </a:avLst>
          </a:prstGeom>
        </p:spPr>
      </p:pic>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6</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Gemini inside reviewed workflows</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0388" y="1797928"/>
            <a:ext cx="5537200" cy="865187"/>
          </a:xfrm>
          <a:prstGeom xmlns:a="http://schemas.openxmlformats.org/drawingml/2006/main" prst="rect">
            <a:avLst/>
          </a:prstGeom>
        </p:spPr>
        <p:txBody>
          <a:bodyPr xmlns:a="http://schemas.openxmlformats.org/drawingml/2006/main" spcFirstLastPara="1" vert="horz" wrap="square" lIns="0" tIns="0" rIns="0" bIns="0" anchor="t">
            <a:normAutofit fontScale="81942"/>
          </a:bodyPr>
          <a:lstStyle xmlns:a="http://schemas.openxmlformats.org/drawingml/2006/main"/>
          <a:p xmlns:a="http://schemas.openxmlformats.org/drawingml/2006/main">
            <a:pPr marL="0" indent="0">
              <a:lnSpc>
                <a:spcPct val="114000"/>
              </a:lnSpc>
              <a:spcBef>
                <a:spcPts val="0"/>
              </a:spcBef>
              <a:spcAft>
                <a:spcPts val="800"/>
              </a:spcAft>
              <a:buNone/>
              <a:defRPr sz="2325">
                <a:solidFill>
                  <a:srgbClr val="FFFFFF"/>
                </a:solidFill>
                <a:latin typeface="Inter"/>
                <a:ea typeface="Inter"/>
                <a:cs typeface="Inter"/>
              </a:defRPr>
            </a:pPr>
            <a:r>
              <a:rPr sz="2325">
                <a:solidFill>
                  <a:srgbClr val="FFFFFF"/>
                </a:solidFill>
                <a:latin typeface="Inter"/>
                <a:ea typeface="Inter"/>
                <a:cs typeface="Inter"/>
              </a:rPr>
              <a:t>Drafts decisions.</a:t>
            </a:r>
            <a:endParaRPr/>
          </a:p>
          <a:p xmlns:a="http://schemas.openxmlformats.org/drawingml/2006/main">
            <a:pPr marL="0" indent="0">
              <a:lnSpc>
                <a:spcPct val="114000"/>
              </a:lnSpc>
              <a:spcBef>
                <a:spcPts val="0"/>
              </a:spcBef>
              <a:spcAft>
                <a:spcPts val="800"/>
              </a:spcAft>
              <a:buNone/>
              <a:defRPr sz="2325">
                <a:solidFill>
                  <a:srgbClr val="FFFFFF"/>
                </a:solidFill>
                <a:latin typeface="Inter"/>
                <a:ea typeface="Inter"/>
                <a:cs typeface="Inter"/>
              </a:defRPr>
            </a:pPr>
            <a:r>
              <a:rPr sz="2325">
                <a:solidFill>
                  <a:srgbClr val="FFFFFF"/>
                </a:solidFill>
                <a:latin typeface="Inter"/>
                <a:ea typeface="Inter"/>
                <a:cs typeface="Inter"/>
              </a:rPr>
              <a:t>People approve the action.</a:t>
            </a:r>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0388" y="3065806"/>
            <a:ext cx="4774279" cy="206088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1500">
                <a:solidFill>
                  <a:srgbClr val="FFFFFF"/>
                </a:solidFill>
                <a:latin typeface="Inter"/>
                <a:ea typeface="Inter"/>
                <a:cs typeface="Inter"/>
              </a:defRPr>
            </a:pPr>
            <a:r>
              <a:rPr sz="1500" b="0" i="0" u="none" cap="none" spc="0">
                <a:ln>
                  <a:noFill/>
                </a:ln>
                <a:solidFill>
                  <a:srgbClr val="FFFFFF"/>
                </a:solidFill>
                <a:latin typeface="Inter"/>
                <a:ea typeface="Inter"/>
                <a:cs typeface="Inter"/>
              </a:rPr>
              <a:t>Guest recommendations use current menu IDs, stock, budget and exclusions. Manager extraction treats uploaded text or images as untrusted source data. Neither path publishes automatically.</a:t>
            </a:r>
            <a:endParaRPr sz="1700" b="0" i="0" u="none" kern="1200" cap="none" spc="0" baseline="0">
              <a:ln>
                <a:noFill/>
              </a:ln>
            </a:endParaRPr>
          </a:p>
        </p:txBody>
      </p:sp>
      <p:sp>
        <p:nvSpPr>
          <p:cNvPr id="5" name="Rounded Rectangle 4">
            <a:extLst xmlns:a="http://schemas.openxmlformats.org/drawingml/2006/main">
              <a:ext uri="{FF2B5EF4-FFF2-40B4-BE49-F238E27FC236}">
                <a16:creationId xmlns:a16="http://schemas.microsoft.com/office/drawing/2014/main" id="{1D611070-583D-3F58-C192-8939D876E8A5}"/>
              </a:ext>
            </a:extLst>
          </p:cNvPr>
          <p:cNvSpPr>
            <a:spLocks xmlns:a="http://schemas.openxmlformats.org/drawingml/2006/main" noGrp="1"/>
          </p:cNvSpPr>
          <p:nvPr/>
        </p:nvSpPr>
        <p:spPr>
          <a:xfrm xmlns:a="http://schemas.openxmlformats.org/drawingml/2006/main">
            <a:off x="6264413" y="172243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0">
            <a:extLst xmlns:a="http://schemas.openxmlformats.org/drawingml/2006/main">
              <a:ext uri="{FF2B5EF4-FFF2-40B4-BE49-F238E27FC236}">
                <a16:creationId xmlns:a16="http://schemas.microsoft.com/office/drawing/2014/main" id="{176A6DA9-A945-2CB8-E1DA-17DA3035FD4C}"/>
              </a:ext>
            </a:extLst>
          </p:cNvPr>
          <p:cNvSpPr>
            <a:spLocks xmlns:a="http://schemas.openxmlformats.org/drawingml/2006/main" noGrp="1"/>
          </p:cNvSpPr>
          <p:nvPr/>
        </p:nvSpPr>
        <p:spPr>
          <a:xfrm xmlns:a="http://schemas.openxmlformats.org/drawingml/2006/main">
            <a:off x="6561648" y="2017370"/>
            <a:ext cx="4986886" cy="1048436"/>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t/>
            </a:r>
          </a:p>
        </p:txBody>
      </p:sp>
      <p:sp>
        <p:nvSpPr>
          <p:cNvPr id="7" name="Rounded Rectangle 6">
            <a:extLst xmlns:a="http://schemas.openxmlformats.org/drawingml/2006/main">
              <a:ext uri="{FF2B5EF4-FFF2-40B4-BE49-F238E27FC236}">
                <a16:creationId xmlns:a16="http://schemas.microsoft.com/office/drawing/2014/main" id="{7A99370F-1C2A-C7A9-A2D7-8EC8D6F73423}"/>
              </a:ext>
            </a:extLst>
          </p:cNvPr>
          <p:cNvSpPr>
            <a:spLocks xmlns:a="http://schemas.openxmlformats.org/drawingml/2006/main" noGrp="1"/>
          </p:cNvSpPr>
          <p:nvPr/>
        </p:nvSpPr>
        <p:spPr>
          <a:xfrm xmlns:a="http://schemas.openxmlformats.org/drawingml/2006/main">
            <a:off x="6264413" y="373411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5BB779E3-29A4-71DB-4059-EE4248BE7003}"/>
              </a:ext>
            </a:extLst>
          </p:cNvPr>
          <p:cNvSpPr>
            <a:spLocks xmlns:a="http://schemas.openxmlformats.org/drawingml/2006/main" noGrp="1"/>
          </p:cNvSpPr>
          <p:nvPr/>
        </p:nvSpPr>
        <p:spPr>
          <a:xfrm xmlns:a="http://schemas.openxmlformats.org/drawingml/2006/main">
            <a:off x="6561648" y="4029050"/>
            <a:ext cx="4986886" cy="1048436"/>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t/>
            </a:r>
          </a:p>
        </p:txBody>
      </p:sp>
      <p:pic>
        <p:nvPicPr>
          <p:cNvPr id="546" name=""/>
          <p:cNvPicPr>
            <a:picLocks xmlns:a="http://schemas.openxmlformats.org/drawingml/2006/main" noChangeAspect="1"/>
          </p:cNvPicPr>
          <p:nvPr/>
        </p:nvPicPr>
        <p:blipFill>
          <a:blip xmlns:r="http://schemas.openxmlformats.org/officeDocument/2006/relationships" xmlns:a="http://schemas.openxmlformats.org/drawingml/2006/main" r:embed="R11b0231385884a28"/>
          <a:srcRect xmlns:a="http://schemas.openxmlformats.org/drawingml/2006/main" l="0" t="43756" r="0" b="43756"/>
          <a:stretch xmlns:a="http://schemas.openxmlformats.org/drawingml/2006/main">
            <a:fillRect l="0" t="0" r="0" b="0"/>
          </a:stretch>
        </p:blipFill>
        <p:spPr>
          <a:xfrm xmlns:a="http://schemas.openxmlformats.org/drawingml/2006/main">
            <a:off x="6381750" y="1809750"/>
            <a:ext cx="5286375" cy="1428750"/>
          </a:xfrm>
          <a:prstGeom xmlns:a="http://schemas.openxmlformats.org/drawingml/2006/main" prst="roundRect">
            <a:avLst>
              <a:gd name="adj" fmla="val 8000"/>
            </a:avLst>
          </a:prstGeom>
        </p:spPr>
      </p:pic>
      <p:pic>
        <p:nvPicPr>
          <p:cNvPr id="547" name=""/>
          <p:cNvPicPr>
            <a:picLocks xmlns:a="http://schemas.openxmlformats.org/drawingml/2006/main" noChangeAspect="1"/>
          </p:cNvPicPr>
          <p:nvPr/>
        </p:nvPicPr>
        <p:blipFill>
          <a:blip xmlns:r="http://schemas.openxmlformats.org/officeDocument/2006/relationships" xmlns:a="http://schemas.openxmlformats.org/drawingml/2006/main" r:embed="R9f448c14680e45f6"/>
          <a:srcRect xmlns:a="http://schemas.openxmlformats.org/drawingml/2006/main" l="0" t="28378" r="0" b="28378"/>
          <a:stretch xmlns:a="http://schemas.openxmlformats.org/drawingml/2006/main">
            <a:fillRect l="0" t="0" r="0" b="0"/>
          </a:stretch>
        </p:blipFill>
        <p:spPr>
          <a:xfrm xmlns:a="http://schemas.openxmlformats.org/drawingml/2006/main">
            <a:off x="6381750" y="3829050"/>
            <a:ext cx="5286375" cy="1428750"/>
          </a:xfrm>
          <a:prstGeom xmlns:a="http://schemas.openxmlformats.org/drawingml/2006/main" prst="roundRect">
            <a:avLst>
              <a:gd name="adj" fmla="val 8000"/>
            </a:avLst>
          </a:prstGeom>
        </p:spPr>
      </p:pic>
    </p:spTree>
    <p:extLst>
      <p:ext uri="{BB962C8B-B14F-4D97-AF65-F5344CB8AC3E}">
        <p14:creationId xmlns:p14="http://schemas.microsoft.com/office/powerpoint/2010/main" val="333187913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Technical architecture and launch boundaries</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125">
                <a:solidFill>
                  <a:srgbClr val="FFFFFF"/>
                </a:solidFill>
                <a:latin typeface="Inter"/>
                <a:ea typeface="Inter"/>
                <a:cs typeface="Inter"/>
              </a:defRPr>
            </a:pPr>
            <a:r>
              <a:rPr sz="1125">
                <a:solidFill>
                  <a:srgbClr val="FFFFFF"/>
                </a:solidFill>
                <a:latin typeface="Inter"/>
                <a:ea typeface="Inter"/>
                <a:cs typeface="Inter"/>
              </a:rPr>
              <a:t>Node.js and SQLite support the current single-installation demo.</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1">
                <a:solidFill>
                  <a:srgbClr val="BCEF59"/>
                </a:solidFill>
                <a:latin typeface="Inter"/>
                <a:ea typeface="Inter"/>
                <a:cs typeface="Inter"/>
              </a:defRPr>
            </a:pPr>
            <a:r>
              <a:rPr sz="1275" b="1">
                <a:solidFill>
                  <a:srgbClr val="BCEF59"/>
                </a:solidFill>
                <a:latin typeface="Inter"/>
                <a:ea typeface="Inter"/>
                <a:cs typeface="Inter"/>
              </a:rPr>
              <a:t>Local runtime</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125">
                <a:solidFill>
                  <a:srgbClr val="FFFFFF"/>
                </a:solidFill>
                <a:latin typeface="Inter"/>
                <a:ea typeface="Inter"/>
                <a:cs typeface="Inter"/>
              </a:defRPr>
            </a:pPr>
            <a:r>
              <a:rPr sz="1125">
                <a:solidFill>
                  <a:srgbClr val="FFFFFF"/>
                </a:solidFill>
                <a:latin typeface="Inter"/>
                <a:ea typeface="Inter"/>
                <a:cs typeface="Inter"/>
              </a:rPr>
              <a:t>Firebase Authentication selects a membership. Firestore stores one private state document per restaurant.</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1">
                <a:solidFill>
                  <a:srgbClr val="BCEF59"/>
                </a:solidFill>
                <a:latin typeface="Inter"/>
                <a:ea typeface="Inter"/>
                <a:cs typeface="Inter"/>
              </a:defRPr>
            </a:pPr>
            <a:r>
              <a:rPr sz="1275" b="1">
                <a:solidFill>
                  <a:srgbClr val="BCEF59"/>
                </a:solidFill>
                <a:latin typeface="Inter"/>
                <a:ea typeface="Inter"/>
                <a:cs typeface="Inter"/>
              </a:rPr>
              <a:t>Hosted tenant mode</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125">
                <a:solidFill>
                  <a:srgbClr val="FFFFFF"/>
                </a:solidFill>
                <a:latin typeface="Inter"/>
                <a:ea typeface="Inter"/>
                <a:cs typeface="Inter"/>
              </a:defRPr>
            </a:pPr>
            <a:r>
              <a:rPr sz="1125">
                <a:solidFill>
                  <a:srgbClr val="FFFFFF"/>
                </a:solidFill>
                <a:latin typeface="Inter"/>
                <a:ea typeface="Inter"/>
                <a:cs typeface="Inter"/>
              </a:rPr>
              <a:t>Gemini output must match a structured schema and known restaurant records.</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1">
                <a:solidFill>
                  <a:srgbClr val="BCEF59"/>
                </a:solidFill>
                <a:latin typeface="Inter"/>
                <a:ea typeface="Inter"/>
                <a:cs typeface="Inter"/>
              </a:defRPr>
            </a:pPr>
            <a:r>
              <a:rPr sz="1275" b="1">
                <a:solidFill>
                  <a:srgbClr val="BCEF59"/>
                </a:solidFill>
                <a:latin typeface="Inter"/>
                <a:ea typeface="Inter"/>
                <a:cs typeface="Inter"/>
              </a:rPr>
              <a:t>AI boundary</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125">
                <a:solidFill>
                  <a:srgbClr val="FFFFFF"/>
                </a:solidFill>
                <a:latin typeface="Inter"/>
                <a:ea typeface="Inter"/>
                <a:cs typeface="Inter"/>
              </a:defRPr>
            </a:pPr>
            <a:r>
              <a:rPr sz="1125">
                <a:solidFill>
                  <a:srgbClr val="FFFFFF"/>
                </a:solidFill>
                <a:latin typeface="Inter"/>
                <a:ea typeface="Inter"/>
                <a:cs typeface="Inter"/>
              </a:rPr>
              <a:t>Stripe and Paymob adapters exist. Live merchant acceptance remains gated.</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1">
                <a:solidFill>
                  <a:srgbClr val="BCEF59"/>
                </a:solidFill>
                <a:latin typeface="Inter"/>
                <a:ea typeface="Inter"/>
                <a:cs typeface="Inter"/>
              </a:defRPr>
            </a:pPr>
            <a:r>
              <a:rPr sz="1275" b="1">
                <a:solidFill>
                  <a:srgbClr val="BCEF59"/>
                </a:solidFill>
                <a:latin typeface="Inter"/>
                <a:ea typeface="Inter"/>
                <a:cs typeface="Inter"/>
              </a:rPr>
              <a:t>Payment boundary</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75">
                <a:solidFill>
                  <a:srgbClr val="FFFFFF"/>
                </a:solidFill>
                <a:latin typeface="Inter"/>
                <a:ea typeface="Inter"/>
                <a:cs typeface="Inter"/>
              </a:defRPr>
            </a:pPr>
            <a:r>
              <a:rPr sz="2175">
                <a:solidFill>
                  <a:srgbClr val="FFFFFF"/>
                </a:solidFill>
                <a:latin typeface="Inter"/>
                <a:ea typeface="Inter"/>
                <a:cs typeface="Inter"/>
              </a:rPr>
              <a:t>One domain model</a:t>
            </a:r>
          </a:p>
          <a:p xmlns:a="http://schemas.openxmlformats.org/drawingml/2006/main">
            <a:pPr marL="0" indent="0">
              <a:lnSpc>
                <a:spcPct val="114000"/>
              </a:lnSpc>
              <a:spcBef>
                <a:spcPts val="0"/>
              </a:spcBef>
              <a:spcAft>
                <a:spcPts val="800"/>
              </a:spcAft>
              <a:buFont typeface="Arial"/>
              <a:buNone/>
              <a:defRPr sz="2175">
                <a:solidFill>
                  <a:srgbClr val="FFFFFF"/>
                </a:solidFill>
                <a:latin typeface="Inter"/>
                <a:ea typeface="Inter"/>
                <a:cs typeface="Inter"/>
              </a:defRPr>
            </a:pPr>
            <a:r>
              <a:rPr sz="2175">
                <a:solidFill>
                  <a:srgbClr val="FFFFFF"/>
                </a:solidFill>
                <a:latin typeface="Inter"/>
                <a:ea typeface="Inter"/>
                <a:cs typeface="Inter"/>
              </a:rPr>
              <a:t>Two storage paths</a:t>
            </a:r>
          </a:p>
        </p:txBody>
      </p:sp>
    </p:spTree>
    <p:extLst>
      <p:ext uri="{BB962C8B-B14F-4D97-AF65-F5344CB8AC3E}">
        <p14:creationId xmlns:p14="http://schemas.microsoft.com/office/powerpoint/2010/main" val="67611695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Rounded Rectangle 11">
            <a:extLst xmlns:a="http://schemas.openxmlformats.org/drawingml/2006/main">
              <a:ext uri="{FF2B5EF4-FFF2-40B4-BE49-F238E27FC236}">
                <a16:creationId xmlns:a16="http://schemas.microsoft.com/office/drawing/2014/main" id="{86FC0B29-995A-397B-C2F3-07F01F976246}"/>
              </a:ext>
            </a:extLst>
          </p:cNvPr>
          <p:cNvSpPr>
            <a:spLocks xmlns:a="http://schemas.openxmlformats.org/drawingml/2006/main" noGrp="1"/>
          </p:cNvSpPr>
          <p:nvPr/>
        </p:nvSpPr>
        <p:spPr>
          <a:xfrm xmlns:a="http://schemas.openxmlformats.org/drawingml/2006/main">
            <a:off x="7833152" y="2134181"/>
            <a:ext cx="3568700" cy="3709944"/>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8</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Pilot design converts claims into evidence</a:t>
            </a:r>
          </a:p>
        </p:txBody>
      </p:sp>
      <p:cxnSp>
        <p:nvCxnSpPr>
          <p:cNvPr id="24"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12700" cap="flat">
            <a:solidFill>
              <a:srgbClr val="BCEF59"/>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050" b="1">
                <a:solidFill>
                  <a:srgbClr val="BCEF59"/>
                </a:solidFill>
                <a:latin typeface="Inter"/>
                <a:ea typeface="Inter"/>
                <a:cs typeface="Inter"/>
              </a:defRPr>
            </a:pPr>
            <a:r>
              <a:rPr sz="1050" b="1">
                <a:solidFill>
                  <a:srgbClr val="BCEF59"/>
                </a:solidFill>
                <a:latin typeface="Inter"/>
                <a:ea typeface="Inter"/>
                <a:cs typeface="Inter"/>
              </a:rPr>
              <a:t>DAYS 1–7</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050" b="1">
                <a:solidFill>
                  <a:srgbClr val="BCEF59"/>
                </a:solidFill>
                <a:latin typeface="Inter"/>
                <a:ea typeface="Inter"/>
                <a:cs typeface="Inter"/>
              </a:defRPr>
            </a:pPr>
            <a:r>
              <a:rPr sz="1050" b="1">
                <a:solidFill>
                  <a:srgbClr val="BCEF59"/>
                </a:solidFill>
                <a:latin typeface="Inter"/>
                <a:ea typeface="Inter"/>
                <a:cs typeface="Inter"/>
              </a:rPr>
              <a:t>DAYS 8–23</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050" b="1">
                <a:solidFill>
                  <a:srgbClr val="BCEF59"/>
                </a:solidFill>
                <a:latin typeface="Inter"/>
                <a:ea typeface="Inter"/>
                <a:cs typeface="Inter"/>
              </a:defRPr>
            </a:pPr>
            <a:r>
              <a:rPr sz="1050" b="1">
                <a:solidFill>
                  <a:srgbClr val="BCEF59"/>
                </a:solidFill>
                <a:latin typeface="Inter"/>
                <a:ea typeface="Inter"/>
                <a:cs typeface="Inter"/>
              </a:rPr>
              <a:t>DAY 30</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900" b="1">
                <a:solidFill>
                  <a:srgbClr val="FFFFFF"/>
                </a:solidFill>
                <a:latin typeface="Inter"/>
                <a:ea typeface="Inter"/>
                <a:cs typeface="Inter"/>
              </a:rPr>
              <a:t>Operate</a:t>
            </a:r>
          </a:p>
          <a:p xmlns:a="http://schemas.openxmlformats.org/drawingml/2006/main">
            <a:pPr>
              <a:defRPr>
                <a:latin typeface="Inter"/>
                <a:ea typeface="Inter"/>
                <a:cs typeface="Inter"/>
              </a:defRPr>
            </a:pPr>
            <a:r>
              <a:rPr sz="1300">
                <a:solidFill>
                  <a:srgbClr val="FFFFFF"/>
                </a:solidFill>
                <a:latin typeface="Inter"/>
                <a:ea typeface="Inter"/>
                <a:cs typeface="Inter"/>
              </a:rPr>
              <a:t>Route at least 80% of orders through Resuto and compare events with baseline.</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900" b="1">
                <a:solidFill>
                  <a:srgbClr val="FFFFFF"/>
                </a:solidFill>
                <a:latin typeface="Inter"/>
                <a:ea typeface="Inter"/>
                <a:cs typeface="Inter"/>
              </a:rPr>
              <a:t>Baseline</a:t>
            </a:r>
          </a:p>
          <a:p xmlns:a="http://schemas.openxmlformats.org/drawingml/2006/main">
            <a:pPr>
              <a:defRPr>
                <a:latin typeface="Inter"/>
                <a:ea typeface="Inter"/>
                <a:cs typeface="Inter"/>
              </a:defRPr>
            </a:pPr>
            <a:r>
              <a:rPr sz="1300">
                <a:solidFill>
                  <a:srgbClr val="FFFFFF"/>
                </a:solidFill>
                <a:latin typeface="Inter"/>
                <a:ea typeface="Inter"/>
                <a:cs typeface="Inter"/>
              </a:rPr>
              <a:t>Record time, corrections, kitchen cycle, settlement and team adoption.</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900" b="1">
                <a:solidFill>
                  <a:srgbClr val="FFFFFF"/>
                </a:solidFill>
                <a:latin typeface="Inter"/>
                <a:ea typeface="Inter"/>
                <a:cs typeface="Inter"/>
              </a:rPr>
              <a:t>Decide</a:t>
            </a:r>
          </a:p>
          <a:p xmlns:a="http://schemas.openxmlformats.org/drawingml/2006/main">
            <a:pPr>
              <a:defRPr>
                <a:latin typeface="Inter"/>
                <a:ea typeface="Inter"/>
                <a:cs typeface="Inter"/>
              </a:defRPr>
            </a:pPr>
            <a:r>
              <a:rPr sz="1300">
                <a:solidFill>
                  <a:srgbClr val="FFFFFF"/>
                </a:solidFill>
                <a:latin typeface="Inter"/>
                <a:ea typeface="Inter"/>
                <a:cs typeface="Inter"/>
              </a:rPr>
              <a:t>Seek 10% improvement in two KPIs, team CSAT 4/5 and a purchase decision.</a:t>
            </a:r>
          </a:p>
        </p:txBody>
      </p:sp>
    </p:spTree>
    <p:extLst>
      <p:ext uri="{BB962C8B-B14F-4D97-AF65-F5344CB8AC3E}">
        <p14:creationId xmlns:p14="http://schemas.microsoft.com/office/powerpoint/2010/main" val="34463389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9</a:t>
            </a:fld>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Egypt-first business model</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defRPr sz="1350">
                <a:solidFill>
                  <a:srgbClr val="FFFFFF"/>
                </a:solidFill>
                <a:latin typeface="Inter"/>
                <a:ea typeface="Inter"/>
                <a:cs typeface="Inter"/>
              </a:defRPr>
            </a:pPr>
            <a:r>
              <a:rPr sz="1350" b="0" i="0" u="none" cap="none" spc="0">
                <a:ln>
                  <a:noFill/>
                </a:ln>
                <a:solidFill>
                  <a:srgbClr val="FFFFFF"/>
                </a:solidFill>
                <a:latin typeface="Inter"/>
                <a:ea typeface="Inter"/>
                <a:cs typeface="Inter"/>
              </a:rPr>
              <a:t>Growth package before tax</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defRPr sz="1350">
                <a:solidFill>
                  <a:srgbClr val="FFFFFF"/>
                </a:solidFill>
                <a:latin typeface="Inter"/>
                <a:ea typeface="Inter"/>
                <a:cs typeface="Inter"/>
              </a:defRPr>
            </a:pPr>
            <a:r>
              <a:rPr sz="1350" b="0" i="0" u="none" cap="none" spc="0">
                <a:ln>
                  <a:noFill/>
                </a:ln>
                <a:solidFill>
                  <a:srgbClr val="FFFFFF"/>
                </a:solidFill>
                <a:latin typeface="Inter"/>
                <a:ea typeface="Inter"/>
                <a:cs typeface="Inter"/>
              </a:rPr>
              <a:t>Pilot with no setup fee</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defRPr sz="1350">
                <a:solidFill>
                  <a:srgbClr val="FFFFFF"/>
                </a:solidFill>
                <a:latin typeface="Inter"/>
                <a:ea typeface="Inter"/>
                <a:cs typeface="Inter"/>
              </a:defRPr>
            </a:pPr>
            <a:r>
              <a:rPr sz="1350" b="0" i="0" u="none" cap="none" spc="0">
                <a:ln>
                  <a:noFill/>
                </a:ln>
                <a:solidFill>
                  <a:srgbClr val="FFFFFF"/>
                </a:solidFill>
                <a:latin typeface="Inter"/>
                <a:ea typeface="Inter"/>
                <a:cs typeface="Inter"/>
              </a:rPr>
              <a:t>Subscription unit of sale</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4050">
                <a:solidFill>
                  <a:srgbClr val="BCEF59"/>
                </a:solidFill>
                <a:latin typeface="Inter"/>
                <a:ea typeface="Inter"/>
                <a:cs typeface="Inter"/>
              </a:defRPr>
            </a:pPr>
            <a:r>
              <a:rPr sz="4050" b="0" i="0" u="none" cap="none" spc="0">
                <a:ln>
                  <a:noFill/>
                </a:ln>
                <a:solidFill>
                  <a:srgbClr val="BCEF59"/>
                </a:solidFill>
                <a:latin typeface="Inter"/>
                <a:ea typeface="Inter"/>
                <a:cs typeface="Inter"/>
              </a:rPr>
              <a:t>EGP 1,499</a:t>
            </a:r>
            <a:endParaRPr sz="7000">
              <a:solidFill>
                <a:srgbClr val="BCEF59"/>
              </a:solidFill>
            </a:endParaRPr>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4050">
                <a:solidFill>
                  <a:srgbClr val="BCEF59"/>
                </a:solidFill>
                <a:latin typeface="Inter"/>
                <a:ea typeface="Inter"/>
                <a:cs typeface="Inter"/>
              </a:defRPr>
            </a:pPr>
            <a:r>
              <a:rPr sz="4050" b="0" i="0" u="none" cap="none" spc="0">
                <a:ln>
                  <a:noFill/>
                </a:ln>
                <a:solidFill>
                  <a:srgbClr val="BCEF59"/>
                </a:solidFill>
                <a:latin typeface="Inter"/>
                <a:ea typeface="Inter"/>
                <a:cs typeface="Inter"/>
              </a:rPr>
              <a:t>30 days</a:t>
            </a:r>
            <a:endParaRPr sz="7000">
              <a:solidFill>
                <a:srgbClr val="BCEF59"/>
              </a:solidFill>
            </a:endParaRPr>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4050">
                <a:solidFill>
                  <a:srgbClr val="BCEF59"/>
                </a:solidFill>
                <a:latin typeface="Inter"/>
                <a:ea typeface="Inter"/>
                <a:cs typeface="Inter"/>
              </a:defRPr>
            </a:pPr>
            <a:r>
              <a:rPr sz="4050" b="0" i="0" u="none" cap="none" spc="0">
                <a:ln>
                  <a:noFill/>
                </a:ln>
                <a:solidFill>
                  <a:srgbClr val="BCEF59"/>
                </a:solidFill>
                <a:latin typeface="Inter"/>
                <a:ea typeface="Inter"/>
                <a:cs typeface="Inter"/>
              </a:rPr>
              <a:t>1 branch</a:t>
            </a:r>
            <a:endParaRPr sz="7000">
              <a:solidFill>
                <a:srgbClr val="BCEF59"/>
              </a:solidFill>
            </a:endParaRPr>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19050" rIns="28575" bIns="19050" anchor="t">
            <a:normAutofit fontScale="100000"/>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800" b="1">
                <a:solidFill>
                  <a:srgbClr val="FFFFFF"/>
                </a:solidFill>
                <a:latin typeface="Inter"/>
                <a:ea typeface="Inter"/>
                <a:cs typeface="Inter"/>
              </a:rPr>
              <a:t>Commercial entry</a:t>
            </a:r>
          </a:p>
          <a:p xmlns:a="http://schemas.openxmlformats.org/drawingml/2006/main">
            <a:pPr>
              <a:defRPr>
                <a:latin typeface="Inter"/>
                <a:ea typeface="Inter"/>
                <a:cs typeface="Inter"/>
              </a:defRPr>
            </a:pPr>
            <a:r>
              <a:rPr sz="1400">
                <a:solidFill>
                  <a:srgbClr val="FFFFFF"/>
                </a:solidFill>
                <a:latin typeface="Inter"/>
                <a:ea typeface="Inter"/>
                <a:cs typeface="Inter"/>
              </a:rPr>
              <a:t>The restaurant owner pays per branch. A 30-day pilot tests operational value and willingness to pay before expansion.</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6961682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F06ADB7A-E0CB-A418-3590-620B0C5F17E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9EE8A1CA-4617-FF10-E8D0-B582B7F48A8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10</a:t>
            </a:fld>
            <a:endParaRPr/>
          </a:p>
        </p:txBody>
      </p:sp>
      <p:sp>
        <p:nvSpPr>
          <p:cNvPr id="533" name="Google Shape;533;p58">
            <a:extLst xmlns:a="http://schemas.openxmlformats.org/drawingml/2006/main">
              <a:ext uri="{FF2B5EF4-FFF2-40B4-BE49-F238E27FC236}">
                <a16:creationId xmlns:a16="http://schemas.microsoft.com/office/drawing/2014/main" id="{68499D35-F61B-DF1C-10A6-EA04E8D00662}"/>
              </a:ext>
            </a:extLst>
          </p:cNvPr>
          <p:cNvSpPr>
            <a:spLocks xmlns:a="http://schemas.openxmlformats.org/drawingml/2006/main" noGrp="1"/>
          </p:cNvSpPr>
          <p:nvPr>
            <p:ph type="title" idx="0"/>
          </p:nvPr>
        </p:nvSpPr>
        <p:spPr>
          <a:xfrm xmlns:a="http://schemas.openxmlformats.org/drawingml/2006/main">
            <a:off x="393700" y="344008"/>
            <a:ext cx="11404600" cy="792557"/>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What drives the modeled 240% ROI</a:t>
            </a:r>
          </a:p>
        </p:txBody>
      </p:sp>
      <p:graphicFrame>
        <p:nvGraphicFramePr>
          <p:cNvPr id="538" name="Google Shape;953;p80"/>
          <p:cNvGraphicFramePr/>
          <p:nvPr/>
        </p:nvGraphicFramePr>
        <p:xfrm>
          <a:off xmlns:a="http://schemas.openxmlformats.org/drawingml/2006/main" x="393699" y="1245705"/>
          <a:ext xmlns:a="http://schemas.openxmlformats.org/drawingml/2006/main" cx="11404600" cy="4722192"/>
        </p:xfrm>
        <a:graphic xmlns:a="http://schemas.openxmlformats.org/drawingml/2006/main">
          <a:graphicData uri="http://schemas.openxmlformats.org/drawingml/2006/table">
            <a:tbl>
              <a:tblPr/>
              <a:tblGrid>
                <a:gridCol w="2280920"/>
                <a:gridCol w="2280920"/>
                <a:gridCol w="2280920"/>
                <a:gridCol w="2280920"/>
                <a:gridCol w="2280920"/>
              </a:tblGrid>
              <a:tr h="4722192">
                <a:tc>
                  <a:txBody>
                    <a:bodyPr/>
                    <a:lstStyle/>
                    <a:p>
                      <a:pPr marL="0" lvl="0" indent="0" algn="l">
                        <a:spcBef>
                          <a:spcPts val="0"/>
                        </a:spcBef>
                        <a:spcAft>
                          <a:spcPts val="0"/>
                        </a:spcAft>
                        <a:buNone/>
                      </a:pPr>
                      <a:r>
                        <a:rPr sz="1600">
                          <a:solidFill>
                            <a:schemeClr val="tx1"/>
                          </a:solidFill>
                        </a:rPr>
                        <a:t>EGP 0</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1,500</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3,000</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4,500</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6,000</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r>
            </a:tbl>
          </a:graphicData>
        </a:graphic>
      </p:graphicFrame>
      <p:sp>
        <p:nvSpPr>
          <p:cNvPr id="5" name="Google Shape;955;p80">
            <a:extLst xmlns:a="http://schemas.openxmlformats.org/drawingml/2006/main">
              <a:ext uri="{FF2B5EF4-FFF2-40B4-BE49-F238E27FC236}">
                <a16:creationId xmlns:a16="http://schemas.microsoft.com/office/drawing/2014/main" id="{EA32D89C-6778-2FE2-6D40-ABA6EAAD7EC1}"/>
              </a:ext>
            </a:extLst>
          </p:cNvPr>
          <p:cNvSpPr>
            <a:spLocks xmlns:a="http://schemas.openxmlformats.org/drawingml/2006/main" noGrp="1"/>
          </p:cNvSpPr>
          <p:nvPr/>
        </p:nvSpPr>
        <p:spPr>
          <a:xfrm xmlns:a="http://schemas.openxmlformats.org/drawingml/2006/main">
            <a:off x="581025" y="4105275"/>
            <a:ext cx="8905875" cy="514350"/>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rmAutofit fontScale="65591"/>
          </a:bodyPr>
          <a:lstStyle xmlns:a="http://schemas.openxmlformats.org/drawingml/2006/main"/>
          <a:p xmlns:a="http://schemas.openxmlformats.org/drawingml/2006/main">
            <a:pPr>
              <a:defRPr sz="1200" b="1">
                <a:latin typeface="Inter"/>
                <a:ea typeface="Inter"/>
                <a:cs typeface="Inter"/>
              </a:defRPr>
            </a:pPr>
            <a:r>
              <a:rPr sz="1200" b="1">
                <a:solidFill>
                  <a:schemeClr val="bg1"/>
                </a:solidFill>
                <a:latin typeface="Inter"/>
                <a:ea typeface="Inter"/>
                <a:cs typeface="Inter"/>
              </a:rPr>
              <a:t>Total benefit  EGP 5,100</a:t>
            </a:r>
          </a:p>
        </p:txBody>
      </p:sp>
      <p:sp>
        <p:nvSpPr>
          <p:cNvPr id="6" name="Google Shape;957;p80">
            <a:extLst xmlns:a="http://schemas.openxmlformats.org/drawingml/2006/main">
              <a:ext uri="{FF2B5EF4-FFF2-40B4-BE49-F238E27FC236}">
                <a16:creationId xmlns:a16="http://schemas.microsoft.com/office/drawing/2014/main" id="{D5359B3A-662D-9283-F7D8-9D5DCD655B5B}"/>
              </a:ext>
            </a:extLst>
          </p:cNvPr>
          <p:cNvSpPr>
            <a:spLocks xmlns:a="http://schemas.openxmlformats.org/drawingml/2006/main" noGrp="1"/>
          </p:cNvSpPr>
          <p:nvPr/>
        </p:nvSpPr>
        <p:spPr>
          <a:xfrm xmlns:a="http://schemas.openxmlformats.org/drawingml/2006/main">
            <a:off x="581025" y="5476875"/>
            <a:ext cx="6286500" cy="514350"/>
          </a:xfrm>
          <a:prstGeom xmlns:a="http://schemas.openxmlformats.org/drawingml/2006/main" prst="roundRect">
            <a:avLst>
              <a:gd name="adj" fmla="val 50000"/>
            </a:avLst>
          </a:prstGeom>
          <a:solidFill xmlns:a="http://schemas.openxmlformats.org/drawingml/2006/main">
            <a:srgbClr val="284638"/>
          </a:solidFill>
          <a:ln xmlns:a="http://schemas.openxmlformats.org/drawingml/2006/main">
            <a:noFill/>
          </a:ln>
        </p:spPr>
        <p:txBody>
          <a:bodyPr xmlns:a="http://schemas.openxmlformats.org/drawingml/2006/main" spcFirstLastPara="1" wrap="square" lIns="210300" tIns="121875" rIns="121875" bIns="121875" anchor="ctr">
            <a:normAutofit fontScale="65591"/>
          </a:bodyPr>
          <a:lstStyle xmlns:a="http://schemas.openxmlformats.org/drawingml/2006/main"/>
          <a:p xmlns:a="http://schemas.openxmlformats.org/drawingml/2006/main">
            <a:pPr>
              <a:defRPr sz="1200" b="1">
                <a:latin typeface="Inter"/>
                <a:ea typeface="Inter"/>
                <a:cs typeface="Inter"/>
              </a:defRPr>
            </a:pPr>
            <a:r>
              <a:rPr sz="1200" b="1">
                <a:latin typeface="Inter"/>
                <a:ea typeface="Inter"/>
                <a:cs typeface="Inter"/>
              </a:rPr>
              <a:t>Net benefit  EGP 3,601</a:t>
            </a:r>
            <a:endParaRPr sz="1500" b="1">
              <a:latin typeface="Inter SemiBold"/>
              <a:ea typeface="Inter SemiBold"/>
              <a:cs typeface="Inter SemiBold"/>
            </a:endParaRPr>
          </a:p>
        </p:txBody>
      </p:sp>
      <p:sp>
        <p:nvSpPr>
          <p:cNvPr id="7" name="Google Shape;960;p80">
            <a:extLst xmlns:a="http://schemas.openxmlformats.org/drawingml/2006/main">
              <a:ext uri="{FF2B5EF4-FFF2-40B4-BE49-F238E27FC236}">
                <a16:creationId xmlns:a16="http://schemas.microsoft.com/office/drawing/2014/main" id="{2293B6C0-CD6E-C9F0-68F7-73F7B726A1EF}"/>
              </a:ext>
            </a:extLst>
          </p:cNvPr>
          <p:cNvSpPr>
            <a:spLocks xmlns:a="http://schemas.openxmlformats.org/drawingml/2006/main" noGrp="1"/>
          </p:cNvSpPr>
          <p:nvPr/>
        </p:nvSpPr>
        <p:spPr>
          <a:xfrm xmlns:a="http://schemas.openxmlformats.org/drawingml/2006/main">
            <a:off x="581025" y="4752975"/>
            <a:ext cx="2619375" cy="51435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210300" tIns="121875" rIns="121875" bIns="121875" anchor="ctr">
            <a:normAutofit fontScale="65591"/>
          </a:bodyPr>
          <a:lstStyle xmlns:a="http://schemas.openxmlformats.org/drawingml/2006/main"/>
          <a:p xmlns:a="http://schemas.openxmlformats.org/drawingml/2006/main">
            <a:pPr>
              <a:defRPr sz="1200" b="1">
                <a:latin typeface="Inter"/>
                <a:ea typeface="Inter"/>
                <a:cs typeface="Inter"/>
              </a:defRPr>
            </a:pPr>
            <a:r>
              <a:rPr sz="1200" b="1">
                <a:solidFill>
                  <a:schemeClr val="bg1"/>
                </a:solidFill>
                <a:latin typeface="Inter"/>
                <a:ea typeface="Inter"/>
                <a:cs typeface="Inter"/>
              </a:rPr>
              <a:t>Subscription  EGP 1,499</a:t>
            </a:r>
          </a:p>
        </p:txBody>
      </p:sp>
      <p:sp>
        <p:nvSpPr>
          <p:cNvPr id="8" name="Google Shape;963;p80">
            <a:extLst xmlns:a="http://schemas.openxmlformats.org/drawingml/2006/main">
              <a:ext uri="{FF2B5EF4-FFF2-40B4-BE49-F238E27FC236}">
                <a16:creationId xmlns:a16="http://schemas.microsoft.com/office/drawing/2014/main" id="{0F4F3439-EC29-4518-4A3E-7436F8578035}"/>
              </a:ext>
            </a:extLst>
          </p:cNvPr>
          <p:cNvSpPr>
            <a:spLocks xmlns:a="http://schemas.openxmlformats.org/drawingml/2006/main" noGrp="1"/>
          </p:cNvSpPr>
          <p:nvPr/>
        </p:nvSpPr>
        <p:spPr>
          <a:xfrm xmlns:a="http://schemas.openxmlformats.org/drawingml/2006/main">
            <a:off x="581025" y="3400425"/>
            <a:ext cx="2095500" cy="514350"/>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rmAutofit fontScale="61716"/>
          </a:bodyPr>
          <a:lstStyle xmlns:a="http://schemas.openxmlformats.org/drawingml/2006/main"/>
          <a:p xmlns:a="http://schemas.openxmlformats.org/drawingml/2006/main">
            <a:pPr>
              <a:defRPr sz="1200" b="1">
                <a:latin typeface="Inter"/>
                <a:ea typeface="Inter"/>
                <a:cs typeface="Inter"/>
              </a:defRPr>
            </a:pPr>
            <a:r>
              <a:rPr sz="1200" b="1">
                <a:solidFill>
                  <a:schemeClr val="bg1"/>
                </a:solidFill>
                <a:latin typeface="Inter"/>
                <a:ea typeface="Inter"/>
                <a:cs typeface="Inter"/>
              </a:rPr>
              <a:t>Incremental contribution  EGP 1,200</a:t>
            </a:r>
          </a:p>
        </p:txBody>
      </p:sp>
      <p:sp>
        <p:nvSpPr>
          <p:cNvPr id="9" name="Google Shape;966;p80">
            <a:extLst xmlns:a="http://schemas.openxmlformats.org/drawingml/2006/main">
              <a:ext uri="{FF2B5EF4-FFF2-40B4-BE49-F238E27FC236}">
                <a16:creationId xmlns:a16="http://schemas.microsoft.com/office/drawing/2014/main" id="{1D07E5FD-0BEC-93D6-2CF5-BC908A51553C}"/>
              </a:ext>
            </a:extLst>
          </p:cNvPr>
          <p:cNvSpPr>
            <a:spLocks xmlns:a="http://schemas.openxmlformats.org/drawingml/2006/main" noGrp="1"/>
          </p:cNvSpPr>
          <p:nvPr/>
        </p:nvSpPr>
        <p:spPr>
          <a:xfrm xmlns:a="http://schemas.openxmlformats.org/drawingml/2006/main">
            <a:off x="581025" y="2695575"/>
            <a:ext cx="4191000" cy="514350"/>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rmAutofit fontScale="65591"/>
          </a:bodyPr>
          <a:lstStyle xmlns:a="http://schemas.openxmlformats.org/drawingml/2006/main"/>
          <a:p xmlns:a="http://schemas.openxmlformats.org/drawingml/2006/main">
            <a:pPr>
              <a:defRPr sz="1200" b="1">
                <a:latin typeface="Inter"/>
                <a:ea typeface="Inter"/>
                <a:cs typeface="Inter"/>
              </a:defRPr>
            </a:pPr>
            <a:r>
              <a:rPr sz="1200" b="1">
                <a:solidFill>
                  <a:schemeClr val="bg1"/>
                </a:solidFill>
                <a:latin typeface="Inter"/>
                <a:ea typeface="Inter"/>
                <a:cs typeface="Inter"/>
              </a:rPr>
              <a:t>Avoided error or waste  EGP 2,400</a:t>
            </a:r>
          </a:p>
        </p:txBody>
      </p:sp>
      <p:sp>
        <p:nvSpPr>
          <p:cNvPr id="10" name="Google Shape;969;p80">
            <a:extLst xmlns:a="http://schemas.openxmlformats.org/drawingml/2006/main">
              <a:ext uri="{FF2B5EF4-FFF2-40B4-BE49-F238E27FC236}">
                <a16:creationId xmlns:a16="http://schemas.microsoft.com/office/drawing/2014/main" id="{0AB147C5-D3F9-0847-C2A5-2A90154B1A3C}"/>
              </a:ext>
            </a:extLst>
          </p:cNvPr>
          <p:cNvSpPr>
            <a:spLocks xmlns:a="http://schemas.openxmlformats.org/drawingml/2006/main" noGrp="1"/>
          </p:cNvSpPr>
          <p:nvPr/>
        </p:nvSpPr>
        <p:spPr>
          <a:xfrm xmlns:a="http://schemas.openxmlformats.org/drawingml/2006/main">
            <a:off x="581025" y="1971675"/>
            <a:ext cx="2619375" cy="51435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210300" tIns="121875" rIns="121875" bIns="121875" anchor="ctr">
            <a:normAutofit fontScale="65591"/>
          </a:bodyPr>
          <a:lstStyle xmlns:a="http://schemas.openxmlformats.org/drawingml/2006/main"/>
          <a:p xmlns:a="http://schemas.openxmlformats.org/drawingml/2006/main">
            <a:pPr>
              <a:defRPr sz="1200" b="1">
                <a:latin typeface="Inter"/>
                <a:ea typeface="Inter"/>
                <a:cs typeface="Inter"/>
              </a:defRPr>
            </a:pPr>
            <a:r>
              <a:rPr sz="1200" b="1">
                <a:solidFill>
                  <a:schemeClr val="bg1"/>
                </a:solidFill>
                <a:latin typeface="Inter"/>
                <a:ea typeface="Inter"/>
                <a:cs typeface="Inter"/>
              </a:rPr>
              <a:t>Admin time  EGP 1,500</a:t>
            </a:r>
            <a:endParaRPr sz="1500" b="1">
              <a:solidFill>
                <a:schemeClr val="bg1"/>
              </a:solidFill>
              <a:latin typeface="Inter SemiBold"/>
              <a:ea typeface="Inter SemiBold"/>
              <a:cs typeface="Inter SemiBold"/>
            </a:endParaRPr>
          </a:p>
        </p:txBody>
      </p:sp>
    </p:spTree>
    <p:extLst>
      <p:ext uri="{BB962C8B-B14F-4D97-AF65-F5344CB8AC3E}">
        <p14:creationId xmlns:p14="http://schemas.microsoft.com/office/powerpoint/2010/main" val="243517153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3" name="Footer Placeholder 22">
            <a:extLst xmlns:a="http://schemas.openxmlformats.org/drawingml/2006/main">
              <a:ext uri="{FF2B5EF4-FFF2-40B4-BE49-F238E27FC236}">
                <a16:creationId xmlns:a16="http://schemas.microsoft.com/office/drawing/2014/main" id="{AD97F9EA-012C-21EB-B59E-E7F4EA1900F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0AF45DF-4338-2F83-4089-BDD958131658}"/>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11</a:t>
            </a:fld>
            <a:endParaRPr/>
          </a:p>
        </p:txBody>
      </p:sp>
      <p:sp>
        <p:nvSpPr>
          <p:cNvPr id="533" name="Google Shape;533;p58">
            <a:extLst xmlns:a="http://schemas.openxmlformats.org/drawingml/2006/main">
              <a:ext uri="{FF2B5EF4-FFF2-40B4-BE49-F238E27FC236}">
                <a16:creationId xmlns:a16="http://schemas.microsoft.com/office/drawing/2014/main" id="{E4D2BBD2-B9DC-C05C-151C-46086B5BA514}"/>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90-day path to a sellable service</a:t>
            </a:r>
          </a:p>
        </p:txBody>
      </p:sp>
      <p:graphicFrame>
        <p:nvGraphicFramePr>
          <p:cNvPr id="538" name="Google Shape;953;p80"/>
          <p:cNvGraphicFramePr/>
          <p:nvPr/>
        </p:nvGraphicFramePr>
        <p:xfrm>
          <a:off xmlns:a="http://schemas.openxmlformats.org/drawingml/2006/main" x="393700" y="822085"/>
          <a:ext xmlns:a="http://schemas.openxmlformats.org/drawingml/2006/main" cx="11404600" cy="5350115"/>
        </p:xfrm>
        <a:graphic xmlns:a="http://schemas.openxmlformats.org/drawingml/2006/main">
          <a:graphicData uri="http://schemas.openxmlformats.org/drawingml/2006/table">
            <a:tbl>
              <a:tblPr/>
              <a:tblGrid>
                <a:gridCol w="2280920"/>
                <a:gridCol w="2280920"/>
                <a:gridCol w="2280920"/>
                <a:gridCol w="2280920"/>
                <a:gridCol w="2280920"/>
              </a:tblGrid>
              <a:tr h="449963">
                <a:tc>
                  <a:txBody>
                    <a:bodyPr/>
                    <a:lstStyle/>
                    <a:p>
                      <a:pPr marL="0" lvl="0" indent="0" algn="ctr">
                        <a:spcBef>
                          <a:spcPts val="0"/>
                        </a:spcBef>
                        <a:spcAft>
                          <a:spcPts val="0"/>
                        </a:spcAft>
                        <a:buNone/>
                      </a:pPr>
                      <a:r>
                        <a:rPr sz="1200">
                          <a:solidFill>
                            <a:schemeClr val="tx1"/>
                          </a:solidFill>
                        </a:rPr>
                        <a:t>NOW</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0–30 DAYS</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31–60 DAYS</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61–90 DAYS</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c>
                  <a:txBody>
                    <a:bodyPr/>
                    <a:lstStyle/>
                    <a:p>
                      <a:pPr marL="0" lvl="0" indent="0" algn="ctr">
                        <a:spcBef>
                          <a:spcPts val="0"/>
                        </a:spcBef>
                        <a:spcAft>
                          <a:spcPts val="0"/>
                        </a:spcAft>
                        <a:buNone/>
                      </a:pPr>
                      <a:r>
                        <a:rPr sz="1200">
                          <a:solidFill>
                            <a:schemeClr val="tx1"/>
                          </a:solidFill>
                        </a:rPr>
                        <a:t>GATE</a:t>
                      </a:r>
                      <a:endParaRPr sz="1200">
                        <a:solidFill>
                          <a:schemeClr val="tx1"/>
                        </a:solidFill>
                      </a:endParaRPr>
                    </a:p>
                  </a:txBody>
                  <a:tcPr marL="0" marR="0" marT="91440" marB="91425">
                    <a:lnL w="12700" cmpd="sng">
                      <a:noFill/>
                      <a:prstDash val="solid"/>
                    </a:lnL>
                    <a:lnR w="12700" cmpd="sng">
                      <a:noFill/>
                      <a:prstDash val="solid"/>
                    </a:lnR>
                    <a:lnT w="12700" cmpd="sng">
                      <a:no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Working MVP</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Egypt pilot</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Firebase</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Hardening</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Saudi</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225038">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endParaRPr sz="1200" b="0" i="0" u="none" kern="1200" cap="none" spc="0" baseline="0">
                        <a:ln>
                          <a:noFill/>
                        </a:ln>
                        <a:solidFill>
                          <a:schemeClr val="tx1"/>
                        </a:solidFill>
                        <a:latin typeface="Helvetica Neue"/>
                        <a:ea typeface="Helvetica Neue"/>
                        <a:cs typeface="Helvetica Neue"/>
                      </a:endParaRP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l" defTabSz="914400">
                        <a:lnSpc>
                          <a:spcPct val="100000"/>
                        </a:lnSpc>
                        <a:spcBef>
                          <a:spcPts val="0"/>
                        </a:spcBef>
                        <a:spcAft>
                          <a:spcPts val="0"/>
                        </a:spcAft>
                        <a:buClrTx/>
                        <a:buSzTx/>
                        <a:buFontTx/>
                        <a:buNone/>
                      </a:pPr>
                      <a:r>
                        <a:rPr sz="1200" b="0" i="0" u="none" cap="none" spc="0">
                          <a:ln>
                            <a:noFill/>
                          </a:ln>
                          <a:solidFill>
                            <a:schemeClr val="tx1"/>
                          </a:solidFill>
                          <a:latin typeface="Helvetica Neue"/>
                          <a:ea typeface="Helvetica Neue"/>
                          <a:cs typeface="Helvetica Neue"/>
                        </a:rPr>
                        <a:t/>
                      </a:r>
                    </a:p>
                  </a:txBody>
                  <a:tcPr marL="137160" marR="0" marT="91440" marB="91425">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2" name="Google Shape;969;p80">
            <a:extLst xmlns:a="http://schemas.openxmlformats.org/drawingml/2006/main">
              <a:ext uri="{FF2B5EF4-FFF2-40B4-BE49-F238E27FC236}">
                <a16:creationId xmlns:a16="http://schemas.microsoft.com/office/drawing/2014/main" id="{A122CFB3-561F-F57A-0D76-5F64F78E6566}"/>
              </a:ext>
            </a:extLst>
          </p:cNvPr>
          <p:cNvSpPr>
            <a:spLocks xmlns:a="http://schemas.openxmlformats.org/drawingml/2006/main" noGrp="1"/>
          </p:cNvSpPr>
          <p:nvPr/>
        </p:nvSpPr>
        <p:spPr>
          <a:xfrm xmlns:a="http://schemas.openxmlformats.org/drawingml/2006/main">
            <a:off x="533400" y="1628775"/>
            <a:ext cx="2000250" cy="3429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rmAutofit fontScale="10000"/>
          </a:bodyPr>
          <a:lstStyle xmlns:a="http://schemas.openxmlformats.org/drawingml/2006/main"/>
          <a:p xmlns:a="http://schemas.openxmlformats.org/drawingml/2006/main">
            <a:pPr algn="ctr">
              <a:buNone/>
              <a:defRPr sz="975" b="1">
                <a:latin typeface="Inter"/>
                <a:ea typeface="Inter"/>
                <a:cs typeface="Inter"/>
              </a:defRPr>
            </a:pPr>
            <a:r>
              <a:rPr sz="975" b="1">
                <a:solidFill>
                  <a:schemeClr val="bg1"/>
                </a:solidFill>
                <a:latin typeface="Inter"/>
                <a:ea typeface="Inter"/>
                <a:cs typeface="Inter"/>
              </a:rPr>
              <a:t>Build passes</a:t>
            </a:r>
          </a:p>
        </p:txBody>
      </p:sp>
      <p:sp>
        <p:nvSpPr>
          <p:cNvPr id="5" name="Google Shape;969;p80">
            <a:extLst xmlns:a="http://schemas.openxmlformats.org/drawingml/2006/main">
              <a:ext uri="{FF2B5EF4-FFF2-40B4-BE49-F238E27FC236}">
                <a16:creationId xmlns:a16="http://schemas.microsoft.com/office/drawing/2014/main" id="{C931B0DD-E0CC-3A4D-1652-DEF41244CC5E}"/>
              </a:ext>
            </a:extLst>
          </p:cNvPr>
          <p:cNvSpPr>
            <a:spLocks xmlns:a="http://schemas.openxmlformats.org/drawingml/2006/main" noGrp="1"/>
          </p:cNvSpPr>
          <p:nvPr/>
        </p:nvSpPr>
        <p:spPr>
          <a:xfrm xmlns:a="http://schemas.openxmlformats.org/drawingml/2006/main">
            <a:off x="533400" y="2038350"/>
            <a:ext cx="2000250" cy="3429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rmAutofit fontScale="10000"/>
          </a:bodyPr>
          <a:lstStyle xmlns:a="http://schemas.openxmlformats.org/drawingml/2006/main"/>
          <a:p xmlns:a="http://schemas.openxmlformats.org/drawingml/2006/main">
            <a:pPr algn="ctr">
              <a:buNone/>
              <a:defRPr sz="975" b="1">
                <a:latin typeface="Inter"/>
                <a:ea typeface="Inter"/>
                <a:cs typeface="Inter"/>
              </a:defRPr>
            </a:pPr>
            <a:r>
              <a:rPr sz="975" b="1">
                <a:solidFill>
                  <a:schemeClr val="bg1"/>
                </a:solidFill>
                <a:latin typeface="Inter"/>
                <a:ea typeface="Inter"/>
                <a:cs typeface="Inter"/>
              </a:rPr>
              <a:t>76 tests pass</a:t>
            </a:r>
          </a:p>
        </p:txBody>
      </p:sp>
      <p:sp>
        <p:nvSpPr>
          <p:cNvPr id="6" name="Google Shape;969;p80">
            <a:extLst xmlns:a="http://schemas.openxmlformats.org/drawingml/2006/main">
              <a:ext uri="{FF2B5EF4-FFF2-40B4-BE49-F238E27FC236}">
                <a16:creationId xmlns:a16="http://schemas.microsoft.com/office/drawing/2014/main" id="{55193150-005D-DDAC-ACAE-A50653E1B6CE}"/>
              </a:ext>
            </a:extLst>
          </p:cNvPr>
          <p:cNvSpPr>
            <a:spLocks xmlns:a="http://schemas.openxmlformats.org/drawingml/2006/main" noGrp="1"/>
          </p:cNvSpPr>
          <p:nvPr/>
        </p:nvSpPr>
        <p:spPr>
          <a:xfrm xmlns:a="http://schemas.openxmlformats.org/drawingml/2006/main">
            <a:off x="2819400" y="2857500"/>
            <a:ext cx="2000250" cy="3429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rmAutofit fontScale="10000"/>
          </a:bodyPr>
          <a:lstStyle xmlns:a="http://schemas.openxmlformats.org/drawingml/2006/main"/>
          <a:p xmlns:a="http://schemas.openxmlformats.org/drawingml/2006/main">
            <a:pPr algn="ctr">
              <a:buNone/>
              <a:defRPr sz="975" b="1">
                <a:latin typeface="Inter"/>
                <a:ea typeface="Inter"/>
                <a:cs typeface="Inter"/>
              </a:defRPr>
            </a:pPr>
            <a:r>
              <a:rPr sz="975" b="1">
                <a:solidFill>
                  <a:schemeClr val="bg1"/>
                </a:solidFill>
                <a:latin typeface="Inter"/>
                <a:ea typeface="Inter"/>
                <a:cs typeface="Inter"/>
              </a:rPr>
              <a:t>3 restaurants</a:t>
            </a:r>
            <a:endParaRPr sz="1100" b="1">
              <a:solidFill>
                <a:schemeClr val="bg1"/>
              </a:solidFill>
              <a:latin typeface="Inter SemiBold"/>
              <a:ea typeface="Inter SemiBold"/>
              <a:cs typeface="Inter SemiBold"/>
            </a:endParaRPr>
          </a:p>
        </p:txBody>
      </p:sp>
      <p:sp>
        <p:nvSpPr>
          <p:cNvPr id="9" name="Google Shape;969;p80">
            <a:extLst xmlns:a="http://schemas.openxmlformats.org/drawingml/2006/main">
              <a:ext uri="{FF2B5EF4-FFF2-40B4-BE49-F238E27FC236}">
                <a16:creationId xmlns:a16="http://schemas.microsoft.com/office/drawing/2014/main" id="{E6450C44-6EBB-C6EE-22ED-5AD1B7978C9A}"/>
              </a:ext>
            </a:extLst>
          </p:cNvPr>
          <p:cNvSpPr>
            <a:spLocks xmlns:a="http://schemas.openxmlformats.org/drawingml/2006/main" noGrp="1"/>
          </p:cNvSpPr>
          <p:nvPr/>
        </p:nvSpPr>
        <p:spPr>
          <a:xfrm xmlns:a="http://schemas.openxmlformats.org/drawingml/2006/main">
            <a:off x="2819400" y="3295650"/>
            <a:ext cx="2000250" cy="3429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rmAutofit fontScale="10000"/>
          </a:bodyPr>
          <a:lstStyle xmlns:a="http://schemas.openxmlformats.org/drawingml/2006/main"/>
          <a:p xmlns:a="http://schemas.openxmlformats.org/drawingml/2006/main">
            <a:pPr algn="ctr">
              <a:buNone/>
              <a:defRPr sz="975" b="1">
                <a:latin typeface="Inter"/>
                <a:ea typeface="Inter"/>
                <a:cs typeface="Inter"/>
              </a:defRPr>
            </a:pPr>
            <a:r>
              <a:rPr sz="975" b="1">
                <a:solidFill>
                  <a:schemeClr val="bg1"/>
                </a:solidFill>
                <a:latin typeface="Inter"/>
                <a:ea typeface="Inter"/>
                <a:cs typeface="Inter"/>
              </a:rPr>
              <a:t>Measured ROI</a:t>
            </a:r>
          </a:p>
        </p:txBody>
      </p:sp>
      <p:sp>
        <p:nvSpPr>
          <p:cNvPr id="10" name="Google Shape;969;p80">
            <a:extLst xmlns:a="http://schemas.openxmlformats.org/drawingml/2006/main">
              <a:ext uri="{FF2B5EF4-FFF2-40B4-BE49-F238E27FC236}">
                <a16:creationId xmlns:a16="http://schemas.microsoft.com/office/drawing/2014/main" id="{514ABA49-AA4D-75E4-06B4-7B2D65B6A93C}"/>
              </a:ext>
            </a:extLst>
          </p:cNvPr>
          <p:cNvSpPr>
            <a:spLocks xmlns:a="http://schemas.openxmlformats.org/drawingml/2006/main" noGrp="1"/>
          </p:cNvSpPr>
          <p:nvPr/>
        </p:nvSpPr>
        <p:spPr>
          <a:xfrm xmlns:a="http://schemas.openxmlformats.org/drawingml/2006/main">
            <a:off x="5095875" y="4238625"/>
            <a:ext cx="2000250" cy="3429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rmAutofit fontScale="10000"/>
          </a:bodyPr>
          <a:lstStyle xmlns:a="http://schemas.openxmlformats.org/drawingml/2006/main"/>
          <a:p xmlns:a="http://schemas.openxmlformats.org/drawingml/2006/main">
            <a:pPr algn="ctr">
              <a:buNone/>
              <a:defRPr sz="975" b="1">
                <a:latin typeface="Inter"/>
                <a:ea typeface="Inter"/>
                <a:cs typeface="Inter"/>
              </a:defRPr>
            </a:pPr>
            <a:r>
              <a:rPr sz="975" b="1">
                <a:solidFill>
                  <a:schemeClr val="bg1"/>
                </a:solidFill>
                <a:latin typeface="Inter"/>
                <a:ea typeface="Inter"/>
                <a:cs typeface="Inter"/>
              </a:rPr>
              <a:t>Tenant isolation</a:t>
            </a:r>
          </a:p>
        </p:txBody>
      </p:sp>
      <p:sp>
        <p:nvSpPr>
          <p:cNvPr id="14" name="Google Shape;969;p80">
            <a:extLst xmlns:a="http://schemas.openxmlformats.org/drawingml/2006/main">
              <a:ext uri="{FF2B5EF4-FFF2-40B4-BE49-F238E27FC236}">
                <a16:creationId xmlns:a16="http://schemas.microsoft.com/office/drawing/2014/main" id="{0A803CC6-DD7B-E7CD-2227-ACC292A5C399}"/>
              </a:ext>
            </a:extLst>
          </p:cNvPr>
          <p:cNvSpPr>
            <a:spLocks xmlns:a="http://schemas.openxmlformats.org/drawingml/2006/main" noGrp="1"/>
          </p:cNvSpPr>
          <p:nvPr/>
        </p:nvSpPr>
        <p:spPr>
          <a:xfrm xmlns:a="http://schemas.openxmlformats.org/drawingml/2006/main">
            <a:off x="7381875" y="5000625"/>
            <a:ext cx="2000250" cy="3429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118872" tIns="121875" rIns="121875" bIns="121875" anchor="ctr">
            <a:normAutofit fontScale="10000"/>
          </a:bodyPr>
          <a:lstStyle xmlns:a="http://schemas.openxmlformats.org/drawingml/2006/main"/>
          <a:p xmlns:a="http://schemas.openxmlformats.org/drawingml/2006/main">
            <a:pPr algn="ctr">
              <a:buNone/>
              <a:defRPr sz="975" b="1">
                <a:latin typeface="Inter"/>
                <a:ea typeface="Inter"/>
                <a:cs typeface="Inter"/>
              </a:defRPr>
            </a:pPr>
            <a:r>
              <a:rPr sz="975" b="1">
                <a:solidFill>
                  <a:schemeClr val="bg1"/>
                </a:solidFill>
                <a:latin typeface="Inter"/>
                <a:ea typeface="Inter"/>
                <a:cs typeface="Inter"/>
              </a:rPr>
              <a:t>Billing + monitoring</a:t>
            </a:r>
          </a:p>
        </p:txBody>
      </p:sp>
    </p:spTree>
    <p:extLst>
      <p:ext uri="{BB962C8B-B14F-4D97-AF65-F5344CB8AC3E}">
        <p14:creationId xmlns:p14="http://schemas.microsoft.com/office/powerpoint/2010/main" val="42912090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1F94652D-58EE-6496-27FC-88868633C24A}"/>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chor="ctr">
            <a:normAutofit fontScale="100000"/>
          </a:bodyPr>
          <a:lstStyle xmlns:a="http://schemas.openxmlformats.org/drawingml/2006/main"/>
          <a:p xmlns:a="http://schemas.openxmlformats.org/drawingml/2006/main">
            <a:pPr algn="ctr">
              <a:buNone/>
              <a:defRPr sz="5250">
                <a:solidFill>
                  <a:srgbClr val="BCEF59"/>
                </a:solidFill>
                <a:latin typeface="Inter"/>
                <a:ea typeface="Inter"/>
                <a:cs typeface="Inter"/>
              </a:defRPr>
            </a:pPr>
            <a:r>
              <a:rPr sz="5250">
                <a:solidFill>
                  <a:srgbClr val="BCEF59"/>
                </a:solidFill>
                <a:latin typeface="Inter"/>
                <a:ea typeface="Inter"/>
                <a:cs typeface="Inter"/>
              </a:rPr>
              <a:t>Three restaurants</a:t>
            </a:r>
          </a:p>
          <a:p xmlns:a="http://schemas.openxmlformats.org/drawingml/2006/main">
            <a:pPr algn="ctr">
              <a:buNone/>
              <a:defRPr sz="5250">
                <a:solidFill>
                  <a:srgbClr val="BCEF59"/>
                </a:solidFill>
                <a:latin typeface="Inter"/>
                <a:ea typeface="Inter"/>
                <a:cs typeface="Inter"/>
              </a:defRPr>
            </a:pPr>
            <a:r>
              <a:rPr sz="5250">
                <a:solidFill>
                  <a:srgbClr val="BCEF59"/>
                </a:solidFill>
                <a:latin typeface="Inter"/>
                <a:ea typeface="Inter"/>
                <a:cs typeface="Inter"/>
              </a:rPr>
              <a:t>Thirty days</a:t>
            </a:r>
          </a:p>
        </p:txBody>
      </p:sp>
      <p:sp>
        <p:nvSpPr>
          <p:cNvPr id="6" name="Subtitle 4">
            <a:extLst xmlns:a="http://schemas.openxmlformats.org/drawingml/2006/main">
              <a:ext uri="{FF2B5EF4-FFF2-40B4-BE49-F238E27FC236}">
                <a16:creationId xmlns:a16="http://schemas.microsoft.com/office/drawing/2014/main" id="{7A15B0DD-3ED8-37CA-9675-F348EABF4C6C}"/>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defRPr sz="2025">
                <a:solidFill>
                  <a:srgbClr val="FFFFFF"/>
                </a:solidFill>
                <a:latin typeface="Inter"/>
                <a:ea typeface="Inter"/>
                <a:cs typeface="Inter"/>
              </a:defRPr>
            </a:pPr>
            <a:r>
              <a:rPr sz="2025">
                <a:solidFill>
                  <a:srgbClr val="FFFFFF"/>
                </a:solidFill>
                <a:latin typeface="Inter"/>
                <a:ea typeface="Inter"/>
                <a:cs typeface="Inter"/>
              </a:rPr>
              <a:t>Baseline, adoption, ROI, purchase decision</a:t>
            </a:r>
          </a:p>
        </p:txBody>
      </p:sp>
      <p:sp>
        <p:nvSpPr>
          <p:cNvPr id="3" name="Rounded Rectangle 2">
            <a:extLst xmlns:a="http://schemas.openxmlformats.org/drawingml/2006/main">
              <a:ext uri="{FF2B5EF4-FFF2-40B4-BE49-F238E27FC236}">
                <a16:creationId xmlns:a16="http://schemas.microsoft.com/office/drawing/2014/main" id="{64FF5F30-1F7D-7291-7074-4D9972C874C3}"/>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Inter"/>
                <a:ea typeface="Inter"/>
                <a:cs typeface="Inter"/>
              </a:defRPr>
            </a:pPr>
            <a:r>
              <a:rPr sz="1125" b="1">
                <a:solidFill>
                  <a:srgbClr val="FFFFFF"/>
                </a:solidFill>
                <a:latin typeface="Inter"/>
                <a:ea typeface="Inter"/>
                <a:cs typeface="Inter"/>
              </a:rPr>
              <a:t>THE ASK</a:t>
            </a:r>
          </a:p>
        </p:txBody>
      </p:sp>
    </p:spTree>
    <p:extLst>
      <p:ext uri="{BB962C8B-B14F-4D97-AF65-F5344CB8AC3E}">
        <p14:creationId xmlns:p14="http://schemas.microsoft.com/office/powerpoint/2010/main" val="238537360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00000000-1234-1234-1234-123412341234}" type="slidenum">
              <a:t>2</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4229100" cy="519595"/>
          </a:xfrm>
        </p:spPr>
        <p:txBody>
          <a:bodyPr xmlns:a="http://schemas.openxmlformats.org/drawingml/2006/main" anchor="t">
            <a:normAutofit fontScale="83738"/>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Feature truth table</a:t>
            </a:r>
          </a:p>
        </p:txBody>
      </p:sp>
      <p:graphicFrame>
        <p:nvGraphicFramePr>
          <p:cNvPr id="10" name="Table 3"/>
          <p:cNvGraphicFramePr/>
          <p:nvPr/>
        </p:nvGraphicFramePr>
        <p:xfrm>
          <a:off xmlns:a="http://schemas.openxmlformats.org/drawingml/2006/main" x="393700" y="1881809"/>
          <a:ext xmlns:a="http://schemas.openxmlformats.org/drawingml/2006/main" cx="11404600" cy="4112586"/>
        </p:xfrm>
        <a:graphic xmlns:a="http://schemas.openxmlformats.org/drawingml/2006/main">
          <a:graphicData uri="http://schemas.openxmlformats.org/drawingml/2006/table">
            <a:tbl>
              <a:tblPr firstRow="1" bandRow="1">
                <a:tableStyleId>{5C22544A-7EE6-4342-B048-85BDC9FD1C3A}</a:tableStyleId>
              </a:tblPr>
              <a:tblGrid>
                <a:gridCol w="759239"/>
                <a:gridCol w="7222435"/>
                <a:gridCol w="3422926"/>
              </a:tblGrid>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AREA</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WORKING NOW</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PRODUCTION GATE</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Guest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Reserve, seat, QR menu, Arabic</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Device and accessibility audit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Kitchen</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Guarded transitions, live polling</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Offline queue and printing</a:t>
                      </a:r>
                      <a:endParaRPr sz="2500" b="0" i="0" u="none" kern="1200" cap="none" spc="0" baseline="0">
                        <a:ln>
                          <a:noFill/>
                        </a:ln>
                        <a:solidFill>
                          <a:srgbClr val="BCEF59"/>
                        </a:solidFill>
                        <a:latin typeface="+mn-lt"/>
                        <a:ea typeface="+mn-lt"/>
                        <a:cs typeface="+mn-lt"/>
                      </a:endParaRP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Manager</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Floor, menu, stock, exports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Monitoring and recovery</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Payments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Test ledger and adapters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Merchant acceptance and refunds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Tenant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Firebase membership and state code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Emulator isolation pass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Arabic and restaurant themes</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dfabd2e1ff5749d5"/>
          <a:stretch xmlns:a="http://schemas.openxmlformats.org/drawingml/2006/main"/>
        </p:blipFill>
        <p:spPr>
          <a:xfrm xmlns:a="http://schemas.openxmlformats.org/drawingml/2006/main">
            <a:off x="6269040" y="1466275"/>
            <a:ext cx="5539740" cy="3462338"/>
          </a:xfrm>
          <a:prstGeom xmlns:a="http://schemas.openxmlformats.org/drawingml/2006/main" prst="roundRect">
            <a:avLst>
              <a:gd name="adj" fmla="val 1361"/>
            </a:avLst>
          </a:prstGeom>
        </p:spPr>
      </p:pic>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2000" b="1">
                <a:solidFill>
                  <a:srgbClr val="BCEF59"/>
                </a:solidFill>
                <a:latin typeface="Inter"/>
                <a:ea typeface="Inter"/>
                <a:cs typeface="Inter"/>
              </a:rPr>
              <a:t>Platform</a:t>
            </a:r>
          </a:p>
          <a:p xmlns:a="http://schemas.openxmlformats.org/drawingml/2006/main">
            <a:pPr>
              <a:defRPr>
                <a:latin typeface="Inter"/>
                <a:ea typeface="Inter"/>
                <a:cs typeface="Inter"/>
              </a:defRPr>
            </a:pPr>
            <a:r>
              <a:rPr sz="1300">
                <a:solidFill>
                  <a:srgbClr val="FFFFFF"/>
                </a:solidFill>
                <a:latin typeface="Inter"/>
                <a:ea typeface="Inter"/>
                <a:cs typeface="Inter"/>
              </a:rPr>
              <a:t>Resuto stays the product brand across every restaurant workspace.</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2000" b="1">
                <a:solidFill>
                  <a:srgbClr val="BCEF59"/>
                </a:solidFill>
                <a:latin typeface="Inter"/>
                <a:ea typeface="Inter"/>
                <a:cs typeface="Inter"/>
              </a:rPr>
              <a:t>Presentation</a:t>
            </a:r>
          </a:p>
          <a:p xmlns:a="http://schemas.openxmlformats.org/drawingml/2006/main">
            <a:pPr>
              <a:defRPr>
                <a:latin typeface="Inter"/>
                <a:ea typeface="Inter"/>
                <a:cs typeface="Inter"/>
              </a:defRPr>
            </a:pPr>
            <a:r>
              <a:rPr sz="1300">
                <a:solidFill>
                  <a:srgbClr val="FFFFFF"/>
                </a:solidFill>
                <a:latin typeface="Inter"/>
                <a:ea typeface="Inter"/>
                <a:cs typeface="Inter"/>
              </a:rPr>
              <a:t>Each restaurant can express its own service model while the operating core stays shared.</a:t>
            </a:r>
          </a:p>
        </p:txBody>
      </p:sp>
    </p:spTree>
    <p:extLst>
      <p:ext uri="{BB962C8B-B14F-4D97-AF65-F5344CB8AC3E}">
        <p14:creationId xmlns:p14="http://schemas.microsoft.com/office/powerpoint/2010/main" val="324567077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Authentication and tenant isolation</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125">
                <a:solidFill>
                  <a:srgbClr val="FFFFFF"/>
                </a:solidFill>
                <a:latin typeface="Inter"/>
                <a:ea typeface="Inter"/>
                <a:cs typeface="Inter"/>
              </a:defRPr>
            </a:pPr>
            <a:r>
              <a:rPr sz="1125">
                <a:solidFill>
                  <a:srgbClr val="FFFFFF"/>
                </a:solidFill>
                <a:latin typeface="Inter"/>
                <a:ea typeface="Inter"/>
                <a:cs typeface="Inter"/>
              </a:rPr>
              <a:t>Opaque staff cookie locally. Firebase ID token in hosted mode.</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1">
                <a:solidFill>
                  <a:srgbClr val="BCEF59"/>
                </a:solidFill>
                <a:latin typeface="Inter"/>
                <a:ea typeface="Inter"/>
                <a:cs typeface="Inter"/>
              </a:defRPr>
            </a:pPr>
            <a:r>
              <a:rPr sz="1275" b="1">
                <a:solidFill>
                  <a:srgbClr val="BCEF59"/>
                </a:solidFill>
                <a:latin typeface="Inter"/>
                <a:ea typeface="Inter"/>
                <a:cs typeface="Inter"/>
              </a:rPr>
              <a:t>Authentication</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125">
                <a:solidFill>
                  <a:srgbClr val="FFFFFF"/>
                </a:solidFill>
                <a:latin typeface="Inter"/>
                <a:ea typeface="Inter"/>
                <a:cs typeface="Inter"/>
              </a:defRPr>
            </a:pPr>
            <a:r>
              <a:rPr sz="1125">
                <a:solidFill>
                  <a:srgbClr val="FFFFFF"/>
                </a:solidFill>
                <a:latin typeface="Inter"/>
                <a:ea typeface="Inter"/>
                <a:cs typeface="Inter"/>
              </a:rPr>
              <a:t>Membership selects exactly one restaurant before state access.</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1">
                <a:solidFill>
                  <a:srgbClr val="BCEF59"/>
                </a:solidFill>
                <a:latin typeface="Inter"/>
                <a:ea typeface="Inter"/>
                <a:cs typeface="Inter"/>
              </a:defRPr>
            </a:pPr>
            <a:r>
              <a:rPr sz="1275" b="1">
                <a:solidFill>
                  <a:srgbClr val="BCEF59"/>
                </a:solidFill>
                <a:latin typeface="Inter"/>
                <a:ea typeface="Inter"/>
                <a:cs typeface="Inter"/>
              </a:rPr>
              <a:t>Restaurant selection</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125">
                <a:solidFill>
                  <a:srgbClr val="FFFFFF"/>
                </a:solidFill>
                <a:latin typeface="Inter"/>
                <a:ea typeface="Inter"/>
                <a:cs typeface="Inter"/>
              </a:defRPr>
            </a:pPr>
            <a:r>
              <a:rPr sz="1125">
                <a:solidFill>
                  <a:srgbClr val="FFFFFF"/>
                </a:solidFill>
                <a:latin typeface="Inter"/>
                <a:ea typeface="Inter"/>
                <a:cs typeface="Inter"/>
              </a:rPr>
              <a:t>Firestore rules deny direct client access to private state.</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1">
                <a:solidFill>
                  <a:srgbClr val="BCEF59"/>
                </a:solidFill>
                <a:latin typeface="Inter"/>
                <a:ea typeface="Inter"/>
                <a:cs typeface="Inter"/>
              </a:defRPr>
            </a:pPr>
            <a:r>
              <a:rPr sz="1275" b="1">
                <a:solidFill>
                  <a:srgbClr val="BCEF59"/>
                </a:solidFill>
                <a:latin typeface="Inter"/>
                <a:ea typeface="Inter"/>
                <a:cs typeface="Inter"/>
              </a:rPr>
              <a:t>Operational state</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125">
                <a:solidFill>
                  <a:srgbClr val="FFFFFF"/>
                </a:solidFill>
                <a:latin typeface="Inter"/>
                <a:ea typeface="Inter"/>
                <a:cs typeface="Inter"/>
              </a:defRPr>
            </a:pPr>
            <a:r>
              <a:rPr sz="1125">
                <a:solidFill>
                  <a:srgbClr val="FFFFFF"/>
                </a:solidFill>
                <a:latin typeface="Inter"/>
                <a:ea typeface="Inter"/>
                <a:cs typeface="Inter"/>
              </a:rPr>
              <a:t>Run emulator isolation, backup and incident-response rehearsals.</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defRPr sz="1275" b="1">
                <a:solidFill>
                  <a:srgbClr val="BCEF59"/>
                </a:solidFill>
                <a:latin typeface="Inter"/>
                <a:ea typeface="Inter"/>
                <a:cs typeface="Inter"/>
              </a:defRPr>
            </a:pPr>
            <a:r>
              <a:rPr sz="1275" b="1">
                <a:solidFill>
                  <a:srgbClr val="BCEF59"/>
                </a:solidFill>
                <a:latin typeface="Inter"/>
                <a:ea typeface="Inter"/>
                <a:cs typeface="Inter"/>
              </a:rPr>
              <a:t>Release gate</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75">
                <a:solidFill>
                  <a:srgbClr val="FFFFFF"/>
                </a:solidFill>
                <a:latin typeface="Inter"/>
                <a:ea typeface="Inter"/>
                <a:cs typeface="Inter"/>
              </a:defRPr>
            </a:pPr>
            <a:r>
              <a:rPr sz="2175">
                <a:solidFill>
                  <a:srgbClr val="FFFFFF"/>
                </a:solidFill>
                <a:latin typeface="Inter"/>
                <a:ea typeface="Inter"/>
                <a:cs typeface="Inter"/>
              </a:rPr>
              <a:t>Hosted path</a:t>
            </a:r>
          </a:p>
          <a:p xmlns:a="http://schemas.openxmlformats.org/drawingml/2006/main">
            <a:pPr marL="0" indent="0">
              <a:lnSpc>
                <a:spcPct val="114000"/>
              </a:lnSpc>
              <a:spcBef>
                <a:spcPts val="0"/>
              </a:spcBef>
              <a:spcAft>
                <a:spcPts val="800"/>
              </a:spcAft>
              <a:buFont typeface="Arial"/>
              <a:buNone/>
              <a:defRPr sz="2175">
                <a:solidFill>
                  <a:srgbClr val="FFFFFF"/>
                </a:solidFill>
                <a:latin typeface="Inter"/>
                <a:ea typeface="Inter"/>
                <a:cs typeface="Inter"/>
              </a:defRPr>
            </a:pPr>
            <a:r>
              <a:rPr sz="2175">
                <a:solidFill>
                  <a:srgbClr val="FFFFFF"/>
                </a:solidFill>
                <a:latin typeface="Inter"/>
                <a:ea typeface="Inter"/>
                <a:cs typeface="Inter"/>
              </a:rPr>
              <a:t>Implemented in code</a:t>
            </a:r>
          </a:p>
        </p:txBody>
      </p:sp>
    </p:spTree>
    <p:extLst>
      <p:ext uri="{BB962C8B-B14F-4D97-AF65-F5344CB8AC3E}">
        <p14:creationId xmlns:p14="http://schemas.microsoft.com/office/powerpoint/2010/main" val="67611695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6</a:t>
            </a:fld>
            <a:endParaRP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Gemini controls and fallback</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0388" y="1797928"/>
            <a:ext cx="5537200" cy="865187"/>
          </a:xfrm>
          <a:prstGeom xmlns:a="http://schemas.openxmlformats.org/drawingml/2006/main" prst="rect">
            <a:avLst/>
          </a:prstGeom>
        </p:spPr>
        <p:txBody>
          <a:bodyPr xmlns:a="http://schemas.openxmlformats.org/drawingml/2006/main" spcFirstLastPara="1" vert="horz" wrap="square" lIns="0" tIns="0" rIns="0" bIns="0" anchor="t">
            <a:normAutofit fontScale="81942"/>
          </a:bodyPr>
          <a:lstStyle xmlns:a="http://schemas.openxmlformats.org/drawingml/2006/main"/>
          <a:p xmlns:a="http://schemas.openxmlformats.org/drawingml/2006/main">
            <a:pPr marL="0" indent="0">
              <a:lnSpc>
                <a:spcPct val="114000"/>
              </a:lnSpc>
              <a:spcBef>
                <a:spcPts val="0"/>
              </a:spcBef>
              <a:spcAft>
                <a:spcPts val="800"/>
              </a:spcAft>
              <a:buNone/>
              <a:defRPr sz="2325">
                <a:solidFill>
                  <a:srgbClr val="FFFFFF"/>
                </a:solidFill>
                <a:latin typeface="Inter"/>
                <a:ea typeface="Inter"/>
                <a:cs typeface="Inter"/>
              </a:defRPr>
            </a:pPr>
            <a:r>
              <a:rPr sz="2325">
                <a:solidFill>
                  <a:srgbClr val="FFFFFF"/>
                </a:solidFill>
                <a:latin typeface="Inter"/>
                <a:ea typeface="Inter"/>
                <a:cs typeface="Inter"/>
              </a:rPr>
              <a:t>Bounded output.</a:t>
            </a:r>
            <a:endParaRPr/>
          </a:p>
          <a:p xmlns:a="http://schemas.openxmlformats.org/drawingml/2006/main">
            <a:pPr marL="0" indent="0">
              <a:lnSpc>
                <a:spcPct val="114000"/>
              </a:lnSpc>
              <a:spcBef>
                <a:spcPts val="0"/>
              </a:spcBef>
              <a:spcAft>
                <a:spcPts val="800"/>
              </a:spcAft>
              <a:buNone/>
              <a:defRPr sz="2325">
                <a:solidFill>
                  <a:srgbClr val="FFFFFF"/>
                </a:solidFill>
                <a:latin typeface="Inter"/>
                <a:ea typeface="Inter"/>
                <a:cs typeface="Inter"/>
              </a:defRPr>
            </a:pPr>
            <a:r>
              <a:rPr sz="2325">
                <a:solidFill>
                  <a:srgbClr val="FFFFFF"/>
                </a:solidFill>
                <a:latin typeface="Inter"/>
                <a:ea typeface="Inter"/>
                <a:cs typeface="Inter"/>
              </a:rPr>
              <a:t>Human action.</a:t>
            </a:r>
            <a:endParaRP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0388" y="3065806"/>
            <a:ext cx="4774279" cy="2060885"/>
          </a:xfrm>
          <a:prstGeom xmlns:a="http://schemas.openxmlformats.org/drawingml/2006/main" prst="rect">
            <a:avLst/>
          </a:prstGeom>
          <a:noFill xmlns:a="http://schemas.openxmlformats.org/drawingml/2006/main"/>
        </p:spPr>
        <p:txBody>
          <a:bodyPr xmlns:a="http://schemas.openxmlformats.org/drawingml/2006/main" wrap="square" lIns="0" tIns="0" rIns="0" bIns="0">
            <a:normAutofit fontScale="100000"/>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1425">
                <a:solidFill>
                  <a:srgbClr val="FFFFFF"/>
                </a:solidFill>
                <a:latin typeface="Inter"/>
                <a:ea typeface="Inter"/>
                <a:cs typeface="Inter"/>
              </a:defRPr>
            </a:pPr>
            <a:r>
              <a:rPr sz="1425" b="0" i="0" u="none" cap="none" spc="0">
                <a:ln>
                  <a:noFill/>
                </a:ln>
                <a:solidFill>
                  <a:srgbClr val="FFFFFF"/>
                </a:solidFill>
                <a:latin typeface="Inter"/>
                <a:ea typeface="Inter"/>
                <a:cs typeface="Inter"/>
              </a:rPr>
              <a:t>The guest path validates known menu IDs, stock, quantity and total. The manager path validates schema, confidence and missing fields. Provider failure returns labeled demo rules or a clear error.</a:t>
            </a:r>
            <a:endParaRPr sz="1700" b="0" i="0" u="none" kern="1200" cap="none" spc="0" baseline="0">
              <a:ln>
                <a:noFill/>
              </a:ln>
            </a:endParaRPr>
          </a:p>
        </p:txBody>
      </p:sp>
      <p:sp>
        <p:nvSpPr>
          <p:cNvPr id="5" name="Rounded Rectangle 4">
            <a:extLst xmlns:a="http://schemas.openxmlformats.org/drawingml/2006/main">
              <a:ext uri="{FF2B5EF4-FFF2-40B4-BE49-F238E27FC236}">
                <a16:creationId xmlns:a16="http://schemas.microsoft.com/office/drawing/2014/main" id="{1D611070-583D-3F58-C192-8939D876E8A5}"/>
              </a:ext>
            </a:extLst>
          </p:cNvPr>
          <p:cNvSpPr>
            <a:spLocks xmlns:a="http://schemas.openxmlformats.org/drawingml/2006/main" noGrp="1"/>
          </p:cNvSpPr>
          <p:nvPr/>
        </p:nvSpPr>
        <p:spPr>
          <a:xfrm xmlns:a="http://schemas.openxmlformats.org/drawingml/2006/main">
            <a:off x="6264413" y="172243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0">
            <a:extLst xmlns:a="http://schemas.openxmlformats.org/drawingml/2006/main">
              <a:ext uri="{FF2B5EF4-FFF2-40B4-BE49-F238E27FC236}">
                <a16:creationId xmlns:a16="http://schemas.microsoft.com/office/drawing/2014/main" id="{176A6DA9-A945-2CB8-E1DA-17DA3035FD4C}"/>
              </a:ext>
            </a:extLst>
          </p:cNvPr>
          <p:cNvSpPr>
            <a:spLocks xmlns:a="http://schemas.openxmlformats.org/drawingml/2006/main" noGrp="1"/>
          </p:cNvSpPr>
          <p:nvPr/>
        </p:nvSpPr>
        <p:spPr>
          <a:xfrm xmlns:a="http://schemas.openxmlformats.org/drawingml/2006/main">
            <a:off x="6561648" y="2017370"/>
            <a:ext cx="4986886" cy="1048436"/>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t/>
            </a:r>
          </a:p>
        </p:txBody>
      </p:sp>
      <p:sp>
        <p:nvSpPr>
          <p:cNvPr id="7" name="Rounded Rectangle 6">
            <a:extLst xmlns:a="http://schemas.openxmlformats.org/drawingml/2006/main">
              <a:ext uri="{FF2B5EF4-FFF2-40B4-BE49-F238E27FC236}">
                <a16:creationId xmlns:a16="http://schemas.microsoft.com/office/drawing/2014/main" id="{7A99370F-1C2A-C7A9-A2D7-8EC8D6F73423}"/>
              </a:ext>
            </a:extLst>
          </p:cNvPr>
          <p:cNvSpPr>
            <a:spLocks xmlns:a="http://schemas.openxmlformats.org/drawingml/2006/main" noGrp="1"/>
          </p:cNvSpPr>
          <p:nvPr/>
        </p:nvSpPr>
        <p:spPr>
          <a:xfrm xmlns:a="http://schemas.openxmlformats.org/drawingml/2006/main">
            <a:off x="6264413" y="373411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5BB779E3-29A4-71DB-4059-EE4248BE7003}"/>
              </a:ext>
            </a:extLst>
          </p:cNvPr>
          <p:cNvSpPr>
            <a:spLocks xmlns:a="http://schemas.openxmlformats.org/drawingml/2006/main" noGrp="1"/>
          </p:cNvSpPr>
          <p:nvPr/>
        </p:nvSpPr>
        <p:spPr>
          <a:xfrm xmlns:a="http://schemas.openxmlformats.org/drawingml/2006/main">
            <a:off x="6561648" y="4029050"/>
            <a:ext cx="4986886" cy="1048436"/>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t/>
            </a:r>
          </a:p>
        </p:txBody>
      </p:sp>
      <p:pic>
        <p:nvPicPr>
          <p:cNvPr id="546" name=""/>
          <p:cNvPicPr>
            <a:picLocks xmlns:a="http://schemas.openxmlformats.org/drawingml/2006/main" noChangeAspect="1"/>
          </p:cNvPicPr>
          <p:nvPr/>
        </p:nvPicPr>
        <p:blipFill>
          <a:blip xmlns:r="http://schemas.openxmlformats.org/officeDocument/2006/relationships" xmlns:a="http://schemas.openxmlformats.org/drawingml/2006/main" r:embed="R6a896e6a1b6d410a"/>
          <a:srcRect xmlns:a="http://schemas.openxmlformats.org/drawingml/2006/main" l="0" t="43756" r="0" b="43756"/>
          <a:stretch xmlns:a="http://schemas.openxmlformats.org/drawingml/2006/main">
            <a:fillRect l="0" t="0" r="0" b="0"/>
          </a:stretch>
        </p:blipFill>
        <p:spPr>
          <a:xfrm xmlns:a="http://schemas.openxmlformats.org/drawingml/2006/main">
            <a:off x="6381750" y="1809750"/>
            <a:ext cx="5286375" cy="1428750"/>
          </a:xfrm>
          <a:prstGeom xmlns:a="http://schemas.openxmlformats.org/drawingml/2006/main" prst="roundRect">
            <a:avLst>
              <a:gd name="adj" fmla="val 8000"/>
            </a:avLst>
          </a:prstGeom>
        </p:spPr>
      </p:pic>
      <p:pic>
        <p:nvPicPr>
          <p:cNvPr id="547" name=""/>
          <p:cNvPicPr>
            <a:picLocks xmlns:a="http://schemas.openxmlformats.org/drawingml/2006/main" noChangeAspect="1"/>
          </p:cNvPicPr>
          <p:nvPr/>
        </p:nvPicPr>
        <p:blipFill>
          <a:blip xmlns:r="http://schemas.openxmlformats.org/officeDocument/2006/relationships" xmlns:a="http://schemas.openxmlformats.org/drawingml/2006/main" r:embed="R90725065fbae4331"/>
          <a:srcRect xmlns:a="http://schemas.openxmlformats.org/drawingml/2006/main" l="0" t="28378" r="0" b="28378"/>
          <a:stretch xmlns:a="http://schemas.openxmlformats.org/drawingml/2006/main">
            <a:fillRect l="0" t="0" r="0" b="0"/>
          </a:stretch>
        </p:blipFill>
        <p:spPr>
          <a:xfrm xmlns:a="http://schemas.openxmlformats.org/drawingml/2006/main">
            <a:off x="6381750" y="3829050"/>
            <a:ext cx="5286375" cy="1428750"/>
          </a:xfrm>
          <a:prstGeom xmlns:a="http://schemas.openxmlformats.org/drawingml/2006/main" prst="roundRect">
            <a:avLst>
              <a:gd name="adj" fmla="val 8000"/>
            </a:avLst>
          </a:prstGeom>
        </p:spPr>
      </p:pic>
    </p:spTree>
    <p:extLst>
      <p:ext uri="{BB962C8B-B14F-4D97-AF65-F5344CB8AC3E}">
        <p14:creationId xmlns:p14="http://schemas.microsoft.com/office/powerpoint/2010/main" val="33318791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00000000-1234-1234-1234-123412341234}" type="slidenum">
              <a:t>2</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4229100" cy="519595"/>
          </a:xfrm>
        </p:spPr>
        <p:txBody>
          <a:bodyPr xmlns:a="http://schemas.openxmlformats.org/drawingml/2006/main" anchor="t">
            <a:normAutofit fontScale="6646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Proposed pricing by market</a:t>
            </a:r>
          </a:p>
        </p:txBody>
      </p:sp>
      <p:graphicFrame>
        <p:nvGraphicFramePr>
          <p:cNvPr id="10" name="Table 3"/>
          <p:cNvGraphicFramePr/>
          <p:nvPr/>
        </p:nvGraphicFramePr>
        <p:xfrm>
          <a:off xmlns:a="http://schemas.openxmlformats.org/drawingml/2006/main" x="393700" y="1881809"/>
          <a:ext xmlns:a="http://schemas.openxmlformats.org/drawingml/2006/main" cx="11404600" cy="4112586"/>
        </p:xfrm>
        <a:graphic xmlns:a="http://schemas.openxmlformats.org/drawingml/2006/main">
          <a:graphicData uri="http://schemas.openxmlformats.org/drawingml/2006/table">
            <a:tbl>
              <a:tblPr firstRow="1" bandRow="1">
                <a:tableStyleId>{5C22544A-7EE6-4342-B048-85BDC9FD1C3A}</a:tableStyleId>
              </a:tblPr>
              <a:tblGrid>
                <a:gridCol w="759239"/>
                <a:gridCol w="7222435"/>
                <a:gridCol w="3422926"/>
              </a:tblGrid>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PACKAGE</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EGYPT BEFORE TAX</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SAUDI TARGET</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Starter</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EGP 799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SAR 199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Growth</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EGP 1,499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SAR 399</a:t>
                      </a:r>
                      <a:endParaRPr sz="2500" b="0" i="0" u="none" kern="1200" cap="none" spc="0" baseline="0">
                        <a:ln>
                          <a:noFill/>
                        </a:ln>
                        <a:solidFill>
                          <a:srgbClr val="BCEF59"/>
                        </a:solidFill>
                        <a:latin typeface="+mn-lt"/>
                        <a:ea typeface="+mn-lt"/>
                        <a:cs typeface="+mn-lt"/>
                      </a:endParaRP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Pro</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EGP 2,999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SAR 699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Founder offer</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30-day pilot, no setup fee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SAR 149 / 299 / 499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Gate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Validate willingness to pay</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Tax, ZATCA, local payments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00000000-1234-1234-1234-123412341234}" type="slidenum">
              <a:t>2</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4229100" cy="519595"/>
          </a:xfrm>
        </p:spPr>
        <p:txBody>
          <a:bodyPr xmlns:a="http://schemas.openxmlformats.org/drawingml/2006/main" anchor="t">
            <a:normAutofit fontScale="6646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Egypt Growth ROI assumptions</a:t>
            </a:r>
          </a:p>
        </p:txBody>
      </p:sp>
      <p:graphicFrame>
        <p:nvGraphicFramePr>
          <p:cNvPr id="10" name="Table 3"/>
          <p:cNvGraphicFramePr/>
          <p:nvPr/>
        </p:nvGraphicFramePr>
        <p:xfrm>
          <a:off xmlns:a="http://schemas.openxmlformats.org/drawingml/2006/main" x="393700" y="1881809"/>
          <a:ext xmlns:a="http://schemas.openxmlformats.org/drawingml/2006/main" cx="11404600" cy="4112586"/>
        </p:xfrm>
        <a:graphic xmlns:a="http://schemas.openxmlformats.org/drawingml/2006/main">
          <a:graphicData uri="http://schemas.openxmlformats.org/drawingml/2006/table">
            <a:tbl>
              <a:tblPr firstRow="1" bandRow="1">
                <a:tableStyleId>{5C22544A-7EE6-4342-B048-85BDC9FD1C3A}</a:tableStyleId>
              </a:tblPr>
              <a:tblGrid>
                <a:gridCol w="759239"/>
                <a:gridCol w="7222435"/>
                <a:gridCol w="3422926"/>
              </a:tblGrid>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COMPONENT</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ILLUSTRATIVE CALCULATION</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MONTHLY VALUE</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Admin time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20 hours × EGP 75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EGP 1,500</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Avoided error or waste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0.4% × EGP 600k sales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EGP 2,400</a:t>
                      </a:r>
                      <a:endParaRPr sz="2500" b="0" i="0" u="none" kern="1200" cap="none" spc="0" baseline="0">
                        <a:ln>
                          <a:noFill/>
                        </a:ln>
                        <a:solidFill>
                          <a:srgbClr val="BCEF59"/>
                        </a:solidFill>
                        <a:latin typeface="+mn-lt"/>
                        <a:ea typeface="+mn-lt"/>
                        <a:cs typeface="+mn-lt"/>
                      </a:endParaRP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Contribution</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8 checks × EGP 500 × 30%</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EGP 1,200</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Total benefit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Sum of components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EGP 5,100</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85431">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Net benefit and ROI</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500" b="0" i="0" u="none" cap="none" spc="0">
                          <a:ln>
                            <a:noFill/>
                          </a:ln>
                          <a:solidFill>
                            <a:schemeClr val="tx1"/>
                          </a:solidFill>
                          <a:latin typeface="+mn-lt"/>
                          <a:ea typeface="+mn-lt"/>
                          <a:cs typeface="+mn-lt"/>
                        </a:rPr>
                        <a:t>5,100 − 1,499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r" defTabSz="914400">
                        <a:lnSpc>
                          <a:spcPct val="100000"/>
                        </a:lnSpc>
                        <a:spcBef>
                          <a:spcPts val="0"/>
                        </a:spcBef>
                        <a:spcAft>
                          <a:spcPts val="0"/>
                        </a:spcAft>
                        <a:buClrTx/>
                        <a:buSzTx/>
                        <a:buFontTx/>
                        <a:buNone/>
                      </a:pPr>
                      <a:r>
                        <a:rPr sz="2500" b="0" i="0" u="none" cap="none" spc="0">
                          <a:ln>
                            <a:noFill/>
                          </a:ln>
                          <a:solidFill>
                            <a:srgbClr val="BCEF59"/>
                          </a:solidFill>
                          <a:latin typeface="+mn-lt"/>
                          <a:ea typeface="+mn-lt"/>
                          <a:cs typeface="+mn-lt"/>
                        </a:rPr>
                        <a:t>EGP 3,601 / 240.2%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2" name="Rounded Rectangle 11">
            <a:extLst xmlns:a="http://schemas.openxmlformats.org/drawingml/2006/main">
              <a:ext uri="{FF2B5EF4-FFF2-40B4-BE49-F238E27FC236}">
                <a16:creationId xmlns:a16="http://schemas.microsoft.com/office/drawing/2014/main" id="{86FC0B29-995A-397B-C2F3-07F01F976246}"/>
              </a:ext>
            </a:extLst>
          </p:cNvPr>
          <p:cNvSpPr>
            <a:spLocks xmlns:a="http://schemas.openxmlformats.org/drawingml/2006/main" noGrp="1"/>
          </p:cNvSpPr>
          <p:nvPr/>
        </p:nvSpPr>
        <p:spPr>
          <a:xfrm xmlns:a="http://schemas.openxmlformats.org/drawingml/2006/main">
            <a:off x="7833152" y="2134181"/>
            <a:ext cx="3568700" cy="3709944"/>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574A810-7A8E-054F-9F6B-09E9C694ECF9}" type="slidenum">
              <a:t>8</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Pilot measurement</a:t>
            </a:r>
          </a:p>
        </p:txBody>
      </p:sp>
      <p:cxnSp>
        <p:nvCxnSpPr>
          <p:cNvPr id="24"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12700" cap="flat">
            <a:solidFill>
              <a:srgbClr val="BCEF59"/>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050" b="1">
                <a:solidFill>
                  <a:srgbClr val="BCEF59"/>
                </a:solidFill>
                <a:latin typeface="Inter"/>
                <a:ea typeface="Inter"/>
                <a:cs typeface="Inter"/>
              </a:defRPr>
            </a:pPr>
            <a:r>
              <a:rPr sz="1050" b="1">
                <a:solidFill>
                  <a:srgbClr val="BCEF59"/>
                </a:solidFill>
                <a:latin typeface="Inter"/>
                <a:ea typeface="Inter"/>
                <a:cs typeface="Inter"/>
              </a:rPr>
              <a:t>BASELINE</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050" b="1">
                <a:solidFill>
                  <a:srgbClr val="BCEF59"/>
                </a:solidFill>
                <a:latin typeface="Inter"/>
                <a:ea typeface="Inter"/>
                <a:cs typeface="Inter"/>
              </a:defRPr>
            </a:pPr>
            <a:r>
              <a:rPr sz="1050" b="1">
                <a:solidFill>
                  <a:srgbClr val="BCEF59"/>
                </a:solidFill>
                <a:latin typeface="Inter"/>
                <a:ea typeface="Inter"/>
                <a:cs typeface="Inter"/>
              </a:rPr>
              <a:t>OPERATE</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1050" b="1">
                <a:solidFill>
                  <a:srgbClr val="BCEF59"/>
                </a:solidFill>
                <a:latin typeface="Inter"/>
                <a:ea typeface="Inter"/>
                <a:cs typeface="Inter"/>
              </a:defRPr>
            </a:pPr>
            <a:r>
              <a:rPr sz="1050" b="1">
                <a:solidFill>
                  <a:srgbClr val="BCEF59"/>
                </a:solidFill>
                <a:latin typeface="Inter"/>
                <a:ea typeface="Inter"/>
                <a:cs typeface="Inter"/>
              </a:rPr>
              <a:t>DECIDE</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800" b="1">
                <a:solidFill>
                  <a:srgbClr val="FFFFFF"/>
                </a:solidFill>
                <a:latin typeface="Inter"/>
                <a:ea typeface="Inter"/>
                <a:cs typeface="Inter"/>
              </a:rPr>
              <a:t>Thresholds</a:t>
            </a:r>
          </a:p>
          <a:p xmlns:a="http://schemas.openxmlformats.org/drawingml/2006/main">
            <a:pPr>
              <a:defRPr>
                <a:latin typeface="Inter"/>
                <a:ea typeface="Inter"/>
                <a:cs typeface="Inter"/>
              </a:defRPr>
            </a:pPr>
            <a:r>
              <a:rPr sz="1300">
                <a:solidFill>
                  <a:srgbClr val="FFFFFF"/>
                </a:solidFill>
                <a:latin typeface="Inter"/>
                <a:ea typeface="Inter"/>
                <a:cs typeface="Inter"/>
              </a:rPr>
              <a:t>80% adoption, 10% improvement in two KPIs and team CSAT 4/5.</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800" b="1">
                <a:solidFill>
                  <a:srgbClr val="FFFFFF"/>
                </a:solidFill>
                <a:latin typeface="Inter"/>
                <a:ea typeface="Inter"/>
                <a:cs typeface="Inter"/>
              </a:rPr>
              <a:t>Five KPIs</a:t>
            </a:r>
          </a:p>
          <a:p xmlns:a="http://schemas.openxmlformats.org/drawingml/2006/main">
            <a:pPr>
              <a:defRPr>
                <a:latin typeface="Inter"/>
                <a:ea typeface="Inter"/>
                <a:cs typeface="Inter"/>
              </a:defRPr>
            </a:pPr>
            <a:r>
              <a:rPr sz="1300">
                <a:solidFill>
                  <a:srgbClr val="FFFFFF"/>
                </a:solidFill>
                <a:latin typeface="Inter"/>
                <a:ea typeface="Inter"/>
                <a:cs typeface="Inter"/>
              </a:rPr>
              <a:t>Activation, order accuracy, kitchen cycle, settlement and team adoption.</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800" b="1">
                <a:solidFill>
                  <a:srgbClr val="FFFFFF"/>
                </a:solidFill>
                <a:latin typeface="Inter"/>
                <a:ea typeface="Inter"/>
                <a:cs typeface="Inter"/>
              </a:rPr>
              <a:t>Commercial outcome</a:t>
            </a:r>
          </a:p>
          <a:p xmlns:a="http://schemas.openxmlformats.org/drawingml/2006/main">
            <a:pPr>
              <a:defRPr>
                <a:latin typeface="Inter"/>
                <a:ea typeface="Inter"/>
                <a:cs typeface="Inter"/>
              </a:defRPr>
            </a:pPr>
            <a:r>
              <a:rPr sz="1300">
                <a:solidFill>
                  <a:srgbClr val="FFFFFF"/>
                </a:solidFill>
                <a:latin typeface="Inter"/>
                <a:ea typeface="Inter"/>
                <a:cs typeface="Inter"/>
              </a:rPr>
              <a:t>One paid conversion, two extensions or letters of intent, and documented pricing objections.</a:t>
            </a:r>
          </a:p>
        </p:txBody>
      </p:sp>
    </p:spTree>
    <p:extLst>
      <p:ext uri="{BB962C8B-B14F-4D97-AF65-F5344CB8AC3E}">
        <p14:creationId xmlns:p14="http://schemas.microsoft.com/office/powerpoint/2010/main" val="344633891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00000000-1234-1234-1234-123412341234}" type="slidenum">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Production readiness register</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800" b="1">
                <a:solidFill>
                  <a:srgbClr val="FF8C7A"/>
                </a:solidFill>
                <a:latin typeface="Inter"/>
                <a:ea typeface="Inter"/>
                <a:cs typeface="Inter"/>
              </a:rPr>
              <a:t>CRITICAL / Tenant isolation</a:t>
            </a:r>
          </a:p>
          <a:p xmlns:a="http://schemas.openxmlformats.org/drawingml/2006/main">
            <a:pPr>
              <a:defRPr>
                <a:latin typeface="Inter"/>
                <a:ea typeface="Inter"/>
                <a:cs typeface="Inter"/>
              </a:defRPr>
            </a:pPr>
            <a:r>
              <a:rPr sz="1300">
                <a:solidFill>
                  <a:srgbClr val="FFFFFF"/>
                </a:solidFill>
                <a:latin typeface="Inter"/>
                <a:ea typeface="Inter"/>
                <a:cs typeface="Inter"/>
              </a:rPr>
              <a:t>Run Firebase emulator suite and authorization matrix before pilot accounts.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800" b="1">
                <a:solidFill>
                  <a:srgbClr val="FF8C7A"/>
                </a:solidFill>
                <a:latin typeface="Inter"/>
                <a:ea typeface="Inter"/>
                <a:cs typeface="Inter"/>
              </a:rPr>
              <a:t>HIGH / Live payments</a:t>
            </a:r>
          </a:p>
          <a:p xmlns:a="http://schemas.openxmlformats.org/drawingml/2006/main">
            <a:pPr>
              <a:defRPr>
                <a:latin typeface="Inter"/>
                <a:ea typeface="Inter"/>
                <a:cs typeface="Inter"/>
              </a:defRPr>
            </a:pPr>
            <a:r>
              <a:rPr sz="1300">
                <a:solidFill>
                  <a:srgbClr val="FFFFFF"/>
                </a:solidFill>
                <a:latin typeface="Inter"/>
                <a:ea typeface="Inter"/>
                <a:cs typeface="Inter"/>
              </a:rPr>
              <a:t>Complete merchant sandbox, settlement and refund acceptance before live money.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800" b="1">
                <a:solidFill>
                  <a:srgbClr val="FF8C7A"/>
                </a:solidFill>
                <a:latin typeface="Inter"/>
                <a:ea typeface="Inter"/>
                <a:cs typeface="Inter"/>
              </a:rPr>
              <a:t>HIGH / Recovery</a:t>
            </a:r>
          </a:p>
          <a:p xmlns:a="http://schemas.openxmlformats.org/drawingml/2006/main">
            <a:pPr>
              <a:defRPr>
                <a:latin typeface="Inter"/>
                <a:ea typeface="Inter"/>
                <a:cs typeface="Inter"/>
              </a:defRPr>
            </a:pPr>
            <a:r>
              <a:rPr sz="1300">
                <a:solidFill>
                  <a:srgbClr val="FFFFFF"/>
                </a:solidFill>
                <a:latin typeface="Inter"/>
                <a:ea typeface="Inter"/>
                <a:cs typeface="Inter"/>
              </a:rPr>
              <a:t>Add logs, alerts, backup and incident runbook before production.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1800" b="1">
                <a:solidFill>
                  <a:srgbClr val="FF8C7A"/>
                </a:solidFill>
                <a:latin typeface="Inter"/>
                <a:ea typeface="Inter"/>
                <a:cs typeface="Inter"/>
              </a:rPr>
              <a:t>HIGH / Saudi launch</a:t>
            </a:r>
          </a:p>
          <a:p xmlns:a="http://schemas.openxmlformats.org/drawingml/2006/main">
            <a:pPr>
              <a:defRPr>
                <a:latin typeface="Inter"/>
                <a:ea typeface="Inter"/>
                <a:cs typeface="Inter"/>
              </a:defRPr>
            </a:pPr>
            <a:r>
              <a:rPr sz="1300">
                <a:solidFill>
                  <a:srgbClr val="FFFFFF"/>
                </a:solidFill>
                <a:latin typeface="Inter"/>
                <a:ea typeface="Inter"/>
                <a:cs typeface="Inter"/>
              </a:rPr>
              <a:t>Complete tax review, ZATCA integration and local payment acceptance.</a:t>
            </a:r>
          </a:p>
        </p:txBody>
      </p:sp>
    </p:spTree>
    <p:extLst>
      <p:ext uri="{BB962C8B-B14F-4D97-AF65-F5344CB8AC3E}">
        <p14:creationId xmlns:p14="http://schemas.microsoft.com/office/powerpoint/2010/main" val="36014548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Likely judging questions</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700" b="1">
                <a:solidFill>
                  <a:srgbClr val="FFFFFF"/>
                </a:solidFill>
                <a:latin typeface="Inter"/>
                <a:ea typeface="Inter"/>
                <a:cs typeface="Inter"/>
              </a:rPr>
              <a:t>What is different?</a:t>
            </a:r>
          </a:p>
          <a:p xmlns:a="http://schemas.openxmlformats.org/drawingml/2006/main">
            <a:pPr>
              <a:defRPr>
                <a:latin typeface="Inter"/>
                <a:ea typeface="Inter"/>
                <a:cs typeface="Inter"/>
              </a:defRPr>
            </a:pPr>
            <a:r>
              <a:rPr sz="1200">
                <a:solidFill>
                  <a:srgbClr val="FFFFFF"/>
                </a:solidFill>
                <a:latin typeface="Inter"/>
                <a:ea typeface="Inter"/>
                <a:cs typeface="Inter"/>
              </a:rPr>
              <a:t>Resuto connects the guest journey and operating state. It does not claim to replace every production POS today.</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700" b="1">
                <a:solidFill>
                  <a:srgbClr val="FFFFFF"/>
                </a:solidFill>
                <a:latin typeface="Inter"/>
                <a:ea typeface="Inter"/>
                <a:cs typeface="Inter"/>
              </a:rPr>
              <a:t>Can you operate in Saudi Arabia?</a:t>
            </a:r>
          </a:p>
          <a:p xmlns:a="http://schemas.openxmlformats.org/drawingml/2006/main">
            <a:pPr>
              <a:defRPr>
                <a:latin typeface="Inter"/>
                <a:ea typeface="Inter"/>
                <a:cs typeface="Inter"/>
              </a:defRPr>
            </a:pPr>
            <a:r>
              <a:rPr sz="1200">
                <a:solidFill>
                  <a:srgbClr val="FFFFFF"/>
                </a:solidFill>
                <a:latin typeface="Inter"/>
                <a:ea typeface="Inter"/>
                <a:cs typeface="Inter"/>
              </a:rPr>
              <a:t>Only after local tax review, ZATCA integration and payment acceptance.</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lIns="0" tIns="19050" rIns="28575" bIns="19050" anchor="t">
            <a:normAutofit fontScale="100000"/>
          </a:bodyPr>
          <a:lstStyle xmlns:a="http://schemas.openxmlformats.org/drawingml/2006/main"/>
          <a:p xmlns:a="http://schemas.openxmlformats.org/drawingml/2006/main">
            <a:pPr>
              <a:defRPr>
                <a:latin typeface="Inter"/>
                <a:ea typeface="Inter"/>
                <a:cs typeface="Inter"/>
              </a:defRPr>
            </a:pPr>
            <a:r>
              <a:rPr sz="1700" b="1">
                <a:solidFill>
                  <a:srgbClr val="FFFFFF"/>
                </a:solidFill>
                <a:latin typeface="Inter"/>
                <a:ea typeface="Inter"/>
                <a:cs typeface="Inter"/>
              </a:rPr>
              <a:t>Is ROI proven?</a:t>
            </a:r>
          </a:p>
          <a:p xmlns:a="http://schemas.openxmlformats.org/drawingml/2006/main">
            <a:pPr>
              <a:defRPr>
                <a:latin typeface="Inter"/>
                <a:ea typeface="Inter"/>
                <a:cs typeface="Inter"/>
              </a:defRPr>
            </a:pPr>
            <a:r>
              <a:rPr sz="1200">
                <a:solidFill>
                  <a:srgbClr val="FFFFFF"/>
                </a:solidFill>
                <a:latin typeface="Inter"/>
                <a:ea typeface="Inter"/>
                <a:cs typeface="Inter"/>
              </a:rPr>
              <a:t>No. The model provides measurable assumptions. The pilot replaces them with observed data.</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763754"/>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975" b="1">
                <a:solidFill>
                  <a:srgbClr val="BCEF59"/>
                </a:solidFill>
                <a:latin typeface="Inter"/>
                <a:ea typeface="Inter"/>
                <a:cs typeface="Inter"/>
              </a:defRPr>
            </a:pPr>
            <a:r>
              <a:rPr sz="975" b="1">
                <a:solidFill>
                  <a:srgbClr val="BCEF59"/>
                </a:solidFill>
                <a:latin typeface="Inter"/>
                <a:ea typeface="Inter"/>
                <a:cs typeface="Inter"/>
              </a:rPr>
              <a:t>POS</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763754"/>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975" b="1">
                <a:solidFill>
                  <a:srgbClr val="BCEF59"/>
                </a:solidFill>
                <a:latin typeface="Inter"/>
                <a:ea typeface="Inter"/>
                <a:cs typeface="Inter"/>
              </a:defRPr>
            </a:pPr>
            <a:r>
              <a:rPr sz="975" b="1">
                <a:solidFill>
                  <a:srgbClr val="BCEF59"/>
                </a:solidFill>
                <a:latin typeface="Inter"/>
                <a:ea typeface="Inter"/>
                <a:cs typeface="Inter"/>
              </a:rPr>
              <a:t>ROI</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763754"/>
            <a:ext cx="1612900" cy="2624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defRPr sz="975" b="1">
                <a:solidFill>
                  <a:srgbClr val="BCEF59"/>
                </a:solidFill>
                <a:latin typeface="Inter"/>
                <a:ea typeface="Inter"/>
                <a:cs typeface="Inter"/>
              </a:defRPr>
            </a:pPr>
            <a:r>
              <a:rPr sz="975" b="1">
                <a:solidFill>
                  <a:srgbClr val="BCEF59"/>
                </a:solidFill>
                <a:latin typeface="Inter"/>
                <a:ea typeface="Inter"/>
                <a:cs typeface="Inter"/>
              </a:rPr>
              <a:t>SAUDI</a:t>
            </a:r>
          </a:p>
        </p:txBody>
      </p:sp>
    </p:spTree>
    <p:extLst>
      <p:ext uri="{BB962C8B-B14F-4D97-AF65-F5344CB8AC3E}">
        <p14:creationId xmlns:p14="http://schemas.microsoft.com/office/powerpoint/2010/main" val="139345699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defRPr sz="2850" b="0">
                <a:solidFill>
                  <a:srgbClr val="FFFFFF"/>
                </a:solidFill>
                <a:latin typeface="Inter"/>
                <a:ea typeface="Inter"/>
                <a:cs typeface="Inter"/>
              </a:defRPr>
            </a:pPr>
            <a:r>
              <a:rPr sz="2850" b="0">
                <a:solidFill>
                  <a:srgbClr val="FFFFFF"/>
                </a:solidFill>
                <a:latin typeface="Inter"/>
                <a:ea typeface="Inter"/>
                <a:cs typeface="Inter"/>
              </a:rPr>
              <a:t>APPENDIX / Evidence trail</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4bfd8437e5ae4315"/>
          <a:srcRect xmlns:a="http://schemas.openxmlformats.org/drawingml/2006/main" l="19098" t="0" r="19098" b="0"/>
          <a:stretch xmlns:a="http://schemas.openxmlformats.org/drawingml/2006/main">
            <a:fillRect l="0" t="0" r="0" b="0"/>
          </a:stretch>
        </p:blipFill>
        <p:spPr>
          <a:xfrm xmlns:a="http://schemas.openxmlformats.org/drawingml/2006/main">
            <a:off x="6269040" y="396409"/>
            <a:ext cx="5539740" cy="5602070"/>
          </a:xfrm>
          <a:prstGeom xmlns:a="http://schemas.openxmlformats.org/drawingml/2006/main" prst="roundRect">
            <a:avLst>
              <a:gd name="adj" fmla="val 1361"/>
            </a:avLst>
          </a:prstGeom>
        </p:spPr>
      </p:pic>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2000" b="1">
                <a:solidFill>
                  <a:srgbClr val="BCEF59"/>
                </a:solidFill>
                <a:latin typeface="Inter"/>
                <a:ea typeface="Inter"/>
                <a:cs typeface="Inter"/>
              </a:rPr>
              <a:t>Primary sources</a:t>
            </a:r>
          </a:p>
          <a:p xmlns:a="http://schemas.openxmlformats.org/drawingml/2006/main">
            <a:pPr>
              <a:defRPr>
                <a:latin typeface="Inter"/>
                <a:ea typeface="Inter"/>
                <a:cs typeface="Inter"/>
              </a:defRPr>
            </a:pPr>
            <a:r>
              <a:rPr sz="1300">
                <a:solidFill>
                  <a:srgbClr val="FFFFFF"/>
                </a:solidFill>
                <a:latin typeface="Inter"/>
                <a:ea typeface="Inter"/>
                <a:cs typeface="Inter"/>
              </a:rPr>
              <a:t>Two supplied judging PDFs define scoring, pricing, ROI assumptions and pilot thresholds.</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19050" rIns="28575" bIns="1905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defRPr>
                <a:latin typeface="Inter"/>
                <a:ea typeface="Inter"/>
                <a:cs typeface="Inter"/>
              </a:defRPr>
            </a:pPr>
            <a:r>
              <a:rPr sz="2000" b="1">
                <a:solidFill>
                  <a:srgbClr val="BCEF59"/>
                </a:solidFill>
                <a:latin typeface="Inter"/>
                <a:ea typeface="Inter"/>
                <a:cs typeface="Inter"/>
              </a:rPr>
              <a:t>Current verification</a:t>
            </a:r>
          </a:p>
          <a:p xmlns:a="http://schemas.openxmlformats.org/drawingml/2006/main">
            <a:pPr>
              <a:defRPr>
                <a:latin typeface="Inter"/>
                <a:ea typeface="Inter"/>
                <a:cs typeface="Inter"/>
              </a:defRPr>
            </a:pPr>
            <a:r>
              <a:rPr sz="1300">
                <a:solidFill>
                  <a:srgbClr val="FFFFFF"/>
                </a:solidFill>
                <a:latin typeface="Inter"/>
                <a:ea typeface="Inter"/>
                <a:cs typeface="Inter"/>
              </a:rPr>
              <a:t>Repository files, 76 passing tests and fresh browser captures define what works and what remains gated.</a:t>
            </a:r>
          </a:p>
        </p:txBody>
      </p:sp>
    </p:spTree>
    <p:extLst>
      <p:ext uri="{BB962C8B-B14F-4D97-AF65-F5344CB8AC3E}">
        <p14:creationId xmlns:p14="http://schemas.microsoft.com/office/powerpoint/2010/main" val="3245670770"/>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2026-09-09T23:17:26.3460000Z</dcterms:created>
  <dcterms:modified xsi:type="dcterms:W3CDTF">2026-09-09T23:17:26.3460000Z</dcterms:modified>
</coreProperties>
</file>